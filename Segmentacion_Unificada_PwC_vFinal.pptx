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60" r:id="rId3"/>
    <p:sldId id="261" r:id="rId4"/>
    <p:sldId id="262" r:id="rId5"/>
    <p:sldId id="282" r:id="rId6"/>
    <p:sldId id="263" r:id="rId7"/>
    <p:sldId id="283" r:id="rId8"/>
    <p:sldId id="271" r:id="rId9"/>
    <p:sldId id="259" r:id="rId10"/>
    <p:sldId id="264" r:id="rId11"/>
    <p:sldId id="265" r:id="rId12"/>
    <p:sldId id="266" r:id="rId13"/>
    <p:sldId id="339" r:id="rId14"/>
    <p:sldId id="331" r:id="rId15"/>
    <p:sldId id="267" r:id="rId16"/>
    <p:sldId id="268" r:id="rId17"/>
    <p:sldId id="340" r:id="rId18"/>
    <p:sldId id="341" r:id="rId19"/>
    <p:sldId id="274" r:id="rId20"/>
    <p:sldId id="257" r:id="rId21"/>
    <p:sldId id="258" r:id="rId22"/>
    <p:sldId id="284" r:id="rId23"/>
    <p:sldId id="286" r:id="rId24"/>
    <p:sldId id="285" r:id="rId25"/>
    <p:sldId id="279" r:id="rId26"/>
    <p:sldId id="278" r:id="rId27"/>
    <p:sldId id="280" r:id="rId28"/>
    <p:sldId id="281" r:id="rId29"/>
    <p:sldId id="275" r:id="rId30"/>
    <p:sldId id="276" r:id="rId31"/>
    <p:sldId id="277" r:id="rId32"/>
    <p:sldId id="272" r:id="rId33"/>
    <p:sldId id="290"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59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8623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D04A02"/>
          </a:solidFill>
          <a:ln/>
        </p:spPr>
        <p:txBody>
          <a:bodyPr/>
          <a:lstStyle/>
          <a:p>
            <a:endParaRPr lang="es-PE"/>
          </a:p>
        </p:txBody>
      </p:sp>
      <p:sp>
        <p:nvSpPr>
          <p:cNvPr id="3" name="Text 1"/>
          <p:cNvSpPr/>
          <p:nvPr/>
        </p:nvSpPr>
        <p:spPr>
          <a:xfrm>
            <a:off x="457200" y="365760"/>
            <a:ext cx="1828800" cy="548640"/>
          </a:xfrm>
          <a:prstGeom prst="rect">
            <a:avLst/>
          </a:prstGeom>
          <a:noFill/>
          <a:ln/>
        </p:spPr>
        <p:txBody>
          <a:bodyPr wrap="square" lIns="0" tIns="0" rIns="0" bIns="0" rtlCol="0" anchor="ctr"/>
          <a:lstStyle/>
          <a:p>
            <a:pPr marL="0" indent="0">
              <a:buNone/>
            </a:pPr>
            <a:r>
              <a:rPr lang="en-US" sz="2800" b="1" dirty="0">
                <a:solidFill>
                  <a:srgbClr val="D04A02"/>
                </a:solidFill>
                <a:latin typeface="Georgia" pitchFamily="34" charset="0"/>
                <a:ea typeface="Georgia" pitchFamily="34" charset="-122"/>
                <a:cs typeface="Georgia" pitchFamily="34" charset="-120"/>
              </a:rPr>
              <a:t>pwc</a:t>
            </a:r>
            <a:endParaRPr lang="en-US" sz="2800" dirty="0"/>
          </a:p>
        </p:txBody>
      </p:sp>
      <p:sp>
        <p:nvSpPr>
          <p:cNvPr id="4" name="Text 2"/>
          <p:cNvSpPr/>
          <p:nvPr/>
        </p:nvSpPr>
        <p:spPr>
          <a:xfrm>
            <a:off x="457200" y="1828800"/>
            <a:ext cx="10972800" cy="91440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Data Mart de Empresas</a:t>
            </a:r>
            <a:endParaRPr lang="en-US" sz="4600" dirty="0"/>
          </a:p>
        </p:txBody>
      </p:sp>
      <p:sp>
        <p:nvSpPr>
          <p:cNvPr id="5" name="Text 3"/>
          <p:cNvSpPr/>
          <p:nvPr/>
        </p:nvSpPr>
        <p:spPr>
          <a:xfrm>
            <a:off x="457200" y="2834640"/>
            <a:ext cx="10972800" cy="548640"/>
          </a:xfrm>
          <a:prstGeom prst="rect">
            <a:avLst/>
          </a:prstGeom>
          <a:noFill/>
          <a:ln/>
        </p:spPr>
        <p:txBody>
          <a:bodyPr wrap="square" lIns="0" tIns="0" rIns="0" bIns="0" rtlCol="0" anchor="ctr"/>
          <a:lstStyle/>
          <a:p>
            <a:pPr marL="0" indent="0">
              <a:buNone/>
            </a:pPr>
            <a:r>
              <a:rPr lang="en-US" sz="2400" dirty="0">
                <a:solidFill>
                  <a:srgbClr val="D4A843"/>
                </a:solidFill>
                <a:latin typeface="Calibri" pitchFamily="34" charset="0"/>
                <a:ea typeface="Calibri" pitchFamily="34" charset="-122"/>
                <a:cs typeface="Calibri" pitchFamily="34" charset="-120"/>
              </a:rPr>
              <a:t>Segmentación B2B Multidimensional — v8</a:t>
            </a:r>
            <a:endParaRPr lang="en-US" sz="2400" dirty="0"/>
          </a:p>
        </p:txBody>
      </p:sp>
      <p:sp>
        <p:nvSpPr>
          <p:cNvPr id="6" name="Text 4"/>
          <p:cNvSpPr/>
          <p:nvPr/>
        </p:nvSpPr>
        <p:spPr>
          <a:xfrm>
            <a:off x="457200" y="3474720"/>
            <a:ext cx="10972800" cy="365760"/>
          </a:xfrm>
          <a:prstGeom prst="rect">
            <a:avLst/>
          </a:prstGeom>
          <a:noFill/>
          <a:ln/>
        </p:spPr>
        <p:txBody>
          <a:bodyPr wrap="square" lIns="0" tIns="0" rIns="0" bIns="0" rtlCol="0" anchor="ctr"/>
          <a:lstStyle/>
          <a:p>
            <a:pPr marL="0" indent="0">
              <a:buNone/>
            </a:pPr>
            <a:r>
              <a:rPr lang="en-US" sz="1400" dirty="0">
                <a:solidFill>
                  <a:srgbClr val="4E8B9F"/>
                </a:solidFill>
                <a:latin typeface="Calibri" pitchFamily="34" charset="0"/>
                <a:ea typeface="Calibri" pitchFamily="34" charset="-122"/>
                <a:cs typeface="Calibri" pitchFamily="34" charset="-120"/>
              </a:rPr>
              <a:t>1,000 empresas · Target Score · Churn Risk · Upsell Potential · Análisis Ejecutivo</a:t>
            </a:r>
            <a:endParaRPr lang="en-US" sz="1400" dirty="0"/>
          </a:p>
        </p:txBody>
      </p:sp>
      <p:sp>
        <p:nvSpPr>
          <p:cNvPr id="7" name="Text 5"/>
          <p:cNvSpPr/>
          <p:nvPr/>
        </p:nvSpPr>
        <p:spPr>
          <a:xfrm>
            <a:off x="457200" y="5212080"/>
            <a:ext cx="7315200" cy="365760"/>
          </a:xfrm>
          <a:prstGeom prst="rect">
            <a:avLst/>
          </a:prstGeom>
          <a:noFill/>
          <a:ln/>
        </p:spPr>
        <p:txBody>
          <a:bodyPr wrap="square" lIns="0" tIns="0" rIns="0" bIns="0" rtlCol="0" anchor="ctr"/>
          <a:lstStyle/>
          <a:p>
            <a:pPr marL="0" indent="0">
              <a:buNone/>
            </a:pPr>
            <a:r>
              <a:rPr lang="en-US" sz="1400" dirty="0">
                <a:solidFill>
                  <a:srgbClr val="666666"/>
                </a:solidFill>
                <a:latin typeface="Calibri" pitchFamily="34" charset="0"/>
                <a:ea typeface="Calibri" pitchFamily="34" charset="-122"/>
                <a:cs typeface="Calibri" pitchFamily="34" charset="-120"/>
              </a:rPr>
              <a:t>Clients &amp; Markets — Data &amp; Analytics · PwC Perú · Abril 2026</a:t>
            </a:r>
            <a:endParaRPr lang="en-US" sz="1400" dirty="0"/>
          </a:p>
        </p:txBody>
      </p:sp>
      <p:sp>
        <p:nvSpPr>
          <p:cNvPr id="8" name="Text 6"/>
          <p:cNvSpPr/>
          <p:nvPr/>
        </p:nvSpPr>
        <p:spPr>
          <a:xfrm>
            <a:off x="457200" y="5577840"/>
            <a:ext cx="7315200" cy="27432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Corte de datos: 17.04.2026</a:t>
            </a:r>
            <a:endParaRPr lang="en-US" sz="1100" dirty="0"/>
          </a:p>
        </p:txBody>
      </p:sp>
      <p:sp>
        <p:nvSpPr>
          <p:cNvPr id="9" name="Shape 7"/>
          <p:cNvSpPr/>
          <p:nvPr/>
        </p:nvSpPr>
        <p:spPr>
          <a:xfrm>
            <a:off x="0" y="6720840"/>
            <a:ext cx="12188952" cy="137160"/>
          </a:xfrm>
          <a:prstGeom prst="rect">
            <a:avLst/>
          </a:prstGeom>
          <a:solidFill>
            <a:srgbClr val="D04A02"/>
          </a:solidFill>
          <a:ln/>
        </p:spPr>
        <p:txBody>
          <a:bodyPr/>
          <a:lstStyle/>
          <a:p>
            <a:endParaRPr lang="es-P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Los 5 Segmentos Comerciales — Taxonomía PwC</a:t>
            </a:r>
            <a:endParaRPr lang="en-US" sz="2600" dirty="0"/>
          </a:p>
        </p:txBody>
      </p:sp>
      <p:sp>
        <p:nvSpPr>
          <p:cNvPr id="5" name="Shape 3"/>
          <p:cNvSpPr/>
          <p:nvPr/>
        </p:nvSpPr>
        <p:spPr>
          <a:xfrm>
            <a:off x="457200" y="4892040"/>
            <a:ext cx="11247120" cy="1417320"/>
          </a:xfrm>
          <a:prstGeom prst="rect">
            <a:avLst/>
          </a:prstGeom>
          <a:solidFill>
            <a:srgbClr val="FFF3ED"/>
          </a:solidFill>
          <a:ln/>
        </p:spPr>
        <p:txBody>
          <a:bodyPr/>
          <a:lstStyle/>
          <a:p>
            <a:endParaRPr lang="es-PE"/>
          </a:p>
        </p:txBody>
      </p:sp>
      <p:sp>
        <p:nvSpPr>
          <p:cNvPr id="7" name="Shape 4"/>
          <p:cNvSpPr/>
          <p:nvPr/>
        </p:nvSpPr>
        <p:spPr>
          <a:xfrm>
            <a:off x="457200" y="4892040"/>
            <a:ext cx="73152" cy="1417320"/>
          </a:xfrm>
          <a:prstGeom prst="rect">
            <a:avLst/>
          </a:prstGeom>
          <a:solidFill>
            <a:srgbClr val="D04A02"/>
          </a:solidFill>
          <a:ln/>
        </p:spPr>
        <p:txBody>
          <a:bodyPr/>
          <a:lstStyle/>
          <a:p>
            <a:endParaRPr lang="es-PE"/>
          </a:p>
        </p:txBody>
      </p:sp>
      <p:sp>
        <p:nvSpPr>
          <p:cNvPr id="8" name="Text 5"/>
          <p:cNvSpPr/>
          <p:nvPr/>
        </p:nvSpPr>
        <p:spPr>
          <a:xfrm>
            <a:off x="685800" y="4983480"/>
            <a:ext cx="7315200" cy="36576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Lectura ejecutiva</a:t>
            </a:r>
            <a:endParaRPr lang="en-US" sz="1400" dirty="0"/>
          </a:p>
        </p:txBody>
      </p:sp>
      <p:sp>
        <p:nvSpPr>
          <p:cNvPr id="9" name="Text 6"/>
          <p:cNvSpPr/>
          <p:nvPr/>
        </p:nvSpPr>
        <p:spPr>
          <a:xfrm>
            <a:off x="685800" y="5349240"/>
            <a:ext cx="10972800" cy="914400"/>
          </a:xfrm>
          <a:prstGeom prst="rect">
            <a:avLst/>
          </a:prstGeom>
          <a:noFill/>
          <a:ln/>
        </p:spPr>
        <p:txBody>
          <a:bodyPr wrap="square" lIns="0" tIns="0" rIns="0" bIns="0" rtlCol="0" anchor="ctr"/>
          <a:lstStyle/>
          <a:p>
            <a:r>
              <a:rPr lang="es-ES" sz="1100" b="1" dirty="0"/>
              <a:t>P&amp;G + </a:t>
            </a:r>
            <a:r>
              <a:rPr lang="es-ES" sz="1100" b="1" dirty="0" err="1"/>
              <a:t>Accelerate</a:t>
            </a:r>
            <a:r>
              <a:rPr lang="es-ES" sz="1100" b="1" dirty="0"/>
              <a:t> </a:t>
            </a:r>
            <a:r>
              <a:rPr lang="es-ES" sz="1100" dirty="0"/>
              <a:t>(146 cuentas) blindan el </a:t>
            </a:r>
            <a:r>
              <a:rPr lang="es-ES" sz="1100" b="1" dirty="0"/>
              <a:t>73% del </a:t>
            </a:r>
            <a:r>
              <a:rPr lang="es-ES" sz="1100" b="1" dirty="0" err="1"/>
              <a:t>revenue</a:t>
            </a:r>
            <a:r>
              <a:rPr lang="es-ES" sz="1100" b="1" dirty="0"/>
              <a:t> total</a:t>
            </a:r>
            <a:r>
              <a:rPr lang="es-ES" sz="1100" dirty="0"/>
              <a:t> (S/. 119.2M) con un margen sólido de ~44.2%, mientras </a:t>
            </a:r>
            <a:r>
              <a:rPr lang="es-ES" sz="1100" b="1" dirty="0" err="1"/>
              <a:t>Expand</a:t>
            </a:r>
            <a:r>
              <a:rPr lang="es-ES" sz="1100" dirty="0"/>
              <a:t> lidera el potencial de </a:t>
            </a:r>
            <a:r>
              <a:rPr lang="es-ES" sz="1100" dirty="0" err="1"/>
              <a:t>cross-sell</a:t>
            </a:r>
            <a:r>
              <a:rPr lang="es-ES" sz="1100" dirty="0"/>
              <a:t> sistemático y </a:t>
            </a:r>
            <a:r>
              <a:rPr lang="es-ES" sz="1100" b="1" dirty="0" err="1"/>
              <a:t>Qualify</a:t>
            </a:r>
            <a:r>
              <a:rPr lang="es-ES" sz="1100" dirty="0"/>
              <a:t> concentra el 66.7% de las alertas de </a:t>
            </a:r>
            <a:r>
              <a:rPr lang="es-ES" sz="1100" dirty="0" err="1"/>
              <a:t>churn</a:t>
            </a:r>
            <a:r>
              <a:rPr lang="es-ES" sz="1100" dirty="0"/>
              <a:t>, evidenciando el deterioro crítico (Requiere Atención).</a:t>
            </a:r>
            <a:endParaRPr lang="en-US" sz="1100" dirty="0"/>
          </a:p>
        </p:txBody>
      </p:sp>
      <p:sp>
        <p:nvSpPr>
          <p:cNvPr id="10" name="Text 7"/>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11" name="Text 8"/>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5/32</a:t>
            </a:r>
            <a:endParaRPr lang="en-US" sz="800" dirty="0"/>
          </a:p>
        </p:txBody>
      </p:sp>
      <p:pic>
        <p:nvPicPr>
          <p:cNvPr id="13" name="Imagen 12">
            <a:extLst>
              <a:ext uri="{FF2B5EF4-FFF2-40B4-BE49-F238E27FC236}">
                <a16:creationId xmlns:a16="http://schemas.microsoft.com/office/drawing/2014/main" id="{2D3E7AE5-E213-E23E-235A-EBCA76EFA6BF}"/>
              </a:ext>
            </a:extLst>
          </p:cNvPr>
          <p:cNvPicPr>
            <a:picLocks noChangeAspect="1"/>
          </p:cNvPicPr>
          <p:nvPr/>
        </p:nvPicPr>
        <p:blipFill>
          <a:blip r:embed="rId3"/>
          <a:stretch>
            <a:fillRect/>
          </a:stretch>
        </p:blipFill>
        <p:spPr>
          <a:xfrm>
            <a:off x="1074181" y="1462802"/>
            <a:ext cx="9738837" cy="32462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Distribución de Clusters — Espacio PCA 2D</a:t>
            </a:r>
            <a:endParaRPr lang="en-US" sz="2600" dirty="0"/>
          </a:p>
        </p:txBody>
      </p:sp>
      <p:sp>
        <p:nvSpPr>
          <p:cNvPr id="6" name="Text 3"/>
          <p:cNvSpPr/>
          <p:nvPr/>
        </p:nvSpPr>
        <p:spPr>
          <a:xfrm>
            <a:off x="457200" y="6172200"/>
            <a:ext cx="11247120" cy="320040"/>
          </a:xfrm>
          <a:prstGeom prst="rect">
            <a:avLst/>
          </a:prstGeom>
          <a:noFill/>
          <a:ln/>
        </p:spPr>
        <p:txBody>
          <a:bodyPr wrap="square" lIns="0" tIns="0" rIns="0" bIns="0" rtlCol="0" anchor="ctr"/>
          <a:lstStyle/>
          <a:p>
            <a:pPr marL="0" indent="0" algn="ctr">
              <a:buNone/>
            </a:pPr>
            <a:r>
              <a:rPr lang="en-US" sz="1100" i="1" dirty="0">
                <a:solidFill>
                  <a:srgbClr val="666666"/>
                </a:solidFill>
                <a:latin typeface="Calibri" pitchFamily="34" charset="0"/>
                <a:ea typeface="Calibri" pitchFamily="34" charset="-122"/>
                <a:cs typeface="Calibri" pitchFamily="34" charset="-120"/>
              </a:rPr>
              <a:t>Silhouette Score = 0.43 · Separación robusta entre los 5 clusters. PC1+PC2 explican ~60 % de la varianza.</a:t>
            </a:r>
            <a:endParaRPr lang="en-US" sz="1100" dirty="0"/>
          </a:p>
        </p:txBody>
      </p:sp>
      <p:sp>
        <p:nvSpPr>
          <p:cNvPr id="7" name="Text 4"/>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6/32</a:t>
            </a:r>
            <a:endParaRPr lang="en-US" sz="800" dirty="0"/>
          </a:p>
        </p:txBody>
      </p:sp>
      <p:pic>
        <p:nvPicPr>
          <p:cNvPr id="1026" name="Picture 2">
            <a:extLst>
              <a:ext uri="{FF2B5EF4-FFF2-40B4-BE49-F238E27FC236}">
                <a16:creationId xmlns:a16="http://schemas.microsoft.com/office/drawing/2014/main" id="{E819F498-2D14-9265-E17E-149E7E92E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435" y="1325880"/>
            <a:ext cx="8216330" cy="48214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Target Score — Distribución por Cluster</a:t>
            </a:r>
            <a:endParaRPr lang="en-US" sz="2600" dirty="0"/>
          </a:p>
        </p:txBody>
      </p:sp>
      <p:sp>
        <p:nvSpPr>
          <p:cNvPr id="6" name="Text 3"/>
          <p:cNvSpPr/>
          <p:nvPr/>
        </p:nvSpPr>
        <p:spPr>
          <a:xfrm>
            <a:off x="457200" y="6172200"/>
            <a:ext cx="11247120" cy="320040"/>
          </a:xfrm>
          <a:prstGeom prst="rect">
            <a:avLst/>
          </a:prstGeom>
          <a:noFill/>
          <a:ln/>
        </p:spPr>
        <p:txBody>
          <a:bodyPr wrap="square" lIns="0" tIns="0" rIns="0" bIns="0" rtlCol="0" anchor="ctr"/>
          <a:lstStyle/>
          <a:p>
            <a:pPr marL="0" indent="0" algn="ctr">
              <a:buNone/>
            </a:pPr>
            <a:r>
              <a:rPr lang="en-US" sz="1100" i="1" dirty="0">
                <a:solidFill>
                  <a:srgbClr val="666666"/>
                </a:solidFill>
                <a:latin typeface="Calibri" pitchFamily="34" charset="0"/>
                <a:ea typeface="Calibri" pitchFamily="34" charset="-122"/>
                <a:cs typeface="Calibri" pitchFamily="34" charset="-120"/>
              </a:rPr>
              <a:t>Score promedio por cluster: PROTECT &amp; GROW 55.3 · ACCELERATE 37.9 · EXPAND 27.3 · ACTIVATE 23.9 · QUALIFY 11.5</a:t>
            </a:r>
            <a:endParaRPr lang="en-US" sz="1100" dirty="0"/>
          </a:p>
        </p:txBody>
      </p:sp>
      <p:sp>
        <p:nvSpPr>
          <p:cNvPr id="7" name="Text 4"/>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7/32</a:t>
            </a:r>
            <a:endParaRPr lang="en-US" sz="800" dirty="0"/>
          </a:p>
        </p:txBody>
      </p:sp>
      <p:pic>
        <p:nvPicPr>
          <p:cNvPr id="2050" name="Picture 2">
            <a:extLst>
              <a:ext uri="{FF2B5EF4-FFF2-40B4-BE49-F238E27FC236}">
                <a16:creationId xmlns:a16="http://schemas.microsoft.com/office/drawing/2014/main" id="{A9E55035-71DB-9829-1F96-DBAF366D8A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879" y="1462775"/>
            <a:ext cx="9521893" cy="45725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Pipeline de Procesamiento — Arquitectura Técnica</a:t>
            </a:r>
            <a:endParaRPr lang="en-US" sz="2600" dirty="0"/>
          </a:p>
        </p:txBody>
      </p:sp>
      <p:sp>
        <p:nvSpPr>
          <p:cNvPr id="5" name="Text 3"/>
          <p:cNvSpPr/>
          <p:nvPr/>
        </p:nvSpPr>
        <p:spPr>
          <a:xfrm>
            <a:off x="457200" y="1371600"/>
            <a:ext cx="11247120" cy="32004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De los 1,000 clientes del book a propuestas accionables: 6 fases automatizadas que convierten score → información → oportunidad.</a:t>
            </a:r>
            <a:endParaRPr lang="en-US" sz="1100" dirty="0"/>
          </a:p>
        </p:txBody>
      </p:sp>
      <p:sp>
        <p:nvSpPr>
          <p:cNvPr id="6" name="Shape 4"/>
          <p:cNvSpPr/>
          <p:nvPr/>
        </p:nvSpPr>
        <p:spPr>
          <a:xfrm>
            <a:off x="641411" y="1828800"/>
            <a:ext cx="11247120" cy="658368"/>
          </a:xfrm>
          <a:prstGeom prst="rect">
            <a:avLst/>
          </a:prstGeom>
          <a:solidFill>
            <a:srgbClr val="F2F2F2"/>
          </a:solidFill>
          <a:ln w="6350">
            <a:solidFill>
              <a:srgbClr val="E0E0E0"/>
            </a:solidFill>
            <a:prstDash val="solid"/>
          </a:ln>
        </p:spPr>
        <p:txBody>
          <a:bodyPr/>
          <a:lstStyle/>
          <a:p>
            <a:endParaRPr lang="es-PE"/>
          </a:p>
        </p:txBody>
      </p:sp>
      <p:sp>
        <p:nvSpPr>
          <p:cNvPr id="7" name="Shape 5"/>
          <p:cNvSpPr/>
          <p:nvPr/>
        </p:nvSpPr>
        <p:spPr>
          <a:xfrm>
            <a:off x="272988" y="1828800"/>
            <a:ext cx="1145663" cy="658368"/>
          </a:xfrm>
          <a:prstGeom prst="rect">
            <a:avLst/>
          </a:prstGeom>
          <a:solidFill>
            <a:srgbClr val="D04A02"/>
          </a:solidFill>
          <a:ln/>
        </p:spPr>
        <p:txBody>
          <a:bodyPr/>
          <a:lstStyle/>
          <a:p>
            <a:endParaRPr lang="es-PE"/>
          </a:p>
        </p:txBody>
      </p:sp>
      <p:sp>
        <p:nvSpPr>
          <p:cNvPr id="8" name="Text 6"/>
          <p:cNvSpPr/>
          <p:nvPr/>
        </p:nvSpPr>
        <p:spPr>
          <a:xfrm>
            <a:off x="457199" y="1876384"/>
            <a:ext cx="77724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FASE 1</a:t>
            </a:r>
            <a:endParaRPr lang="en-US" sz="900" dirty="0"/>
          </a:p>
        </p:txBody>
      </p:sp>
      <p:sp>
        <p:nvSpPr>
          <p:cNvPr id="9" name="Text 7"/>
          <p:cNvSpPr/>
          <p:nvPr/>
        </p:nvSpPr>
        <p:spPr>
          <a:xfrm>
            <a:off x="272988" y="2084832"/>
            <a:ext cx="1145663"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Georgia" pitchFamily="34" charset="0"/>
                <a:ea typeface="Georgia" pitchFamily="34" charset="-122"/>
                <a:cs typeface="Georgia" pitchFamily="34" charset="-120"/>
              </a:rPr>
              <a:t>ANÁLISIS TARGET SCORING</a:t>
            </a:r>
            <a:endParaRPr lang="en-US" sz="800" dirty="0"/>
          </a:p>
        </p:txBody>
      </p:sp>
      <p:sp>
        <p:nvSpPr>
          <p:cNvPr id="10" name="Text 8"/>
          <p:cNvSpPr/>
          <p:nvPr/>
        </p:nvSpPr>
        <p:spPr>
          <a:xfrm>
            <a:off x="1555811" y="1883664"/>
            <a:ext cx="10241280" cy="210312"/>
          </a:xfrm>
          <a:prstGeom prst="rect">
            <a:avLst/>
          </a:prstGeom>
          <a:noFill/>
          <a:ln/>
        </p:spPr>
        <p:txBody>
          <a:bodyPr wrap="square" lIns="0" tIns="0" rIns="0" bIns="0" rtlCol="0" anchor="ctr"/>
          <a:lstStyle/>
          <a:p>
            <a:pPr marL="0" indent="0">
              <a:buNone/>
            </a:pPr>
            <a:r>
              <a:rPr lang="en-US" sz="900" b="1" i="1" dirty="0">
                <a:solidFill>
                  <a:srgbClr val="D04A02"/>
                </a:solidFill>
                <a:latin typeface="Calibri" pitchFamily="34" charset="0"/>
                <a:ea typeface="Calibri" pitchFamily="34" charset="-122"/>
                <a:cs typeface="Calibri" pitchFamily="34" charset="-120"/>
              </a:rPr>
              <a:t>Input · SEGMENTACIÓN EMRESAS.xlsx</a:t>
            </a:r>
            <a:endParaRPr lang="en-US" sz="900" dirty="0"/>
          </a:p>
        </p:txBody>
      </p:sp>
      <p:sp>
        <p:nvSpPr>
          <p:cNvPr id="11" name="Text 9"/>
          <p:cNvSpPr/>
          <p:nvPr/>
        </p:nvSpPr>
        <p:spPr>
          <a:xfrm>
            <a:off x="1555811" y="2075688"/>
            <a:ext cx="10241280" cy="40233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Cada empresa recibe un Target Score 0-100 basado en 9 variables (%Margin, #Sublos, Revenue) · StandardScaler + PCA + ajuste de negocio · Se </a:t>
            </a:r>
            <a:r>
              <a:rPr lang="en-US" sz="900" dirty="0" err="1">
                <a:solidFill>
                  <a:srgbClr val="333333"/>
                </a:solidFill>
                <a:latin typeface="Calibri" pitchFamily="34" charset="0"/>
                <a:ea typeface="Calibri" pitchFamily="34" charset="-122"/>
                <a:cs typeface="Calibri" pitchFamily="34" charset="-120"/>
              </a:rPr>
              <a:t>hace</a:t>
            </a:r>
            <a:r>
              <a:rPr lang="en-US" sz="900" dirty="0">
                <a:solidFill>
                  <a:srgbClr val="333333"/>
                </a:solidFill>
                <a:latin typeface="Calibri" pitchFamily="34" charset="0"/>
                <a:ea typeface="Calibri" pitchFamily="34" charset="-122"/>
                <a:cs typeface="Calibri" pitchFamily="34" charset="-120"/>
              </a:rPr>
              <a:t> un Target Score y Cluster </a:t>
            </a:r>
            <a:r>
              <a:rPr lang="en-US" sz="900" dirty="0" err="1">
                <a:solidFill>
                  <a:srgbClr val="333333"/>
                </a:solidFill>
                <a:latin typeface="Calibri" pitchFamily="34" charset="0"/>
                <a:ea typeface="Calibri" pitchFamily="34" charset="-122"/>
                <a:cs typeface="Calibri" pitchFamily="34" charset="-120"/>
              </a:rPr>
              <a:t>en</a:t>
            </a:r>
            <a:r>
              <a:rPr lang="en-US" sz="900" dirty="0">
                <a:solidFill>
                  <a:srgbClr val="333333"/>
                </a:solidFill>
                <a:latin typeface="Calibri" pitchFamily="34" charset="0"/>
                <a:ea typeface="Calibri" pitchFamily="34" charset="-122"/>
                <a:cs typeface="Calibri" pitchFamily="34" charset="-120"/>
              </a:rPr>
              <a:t> base a las variables, </a:t>
            </a:r>
            <a:r>
              <a:rPr lang="en-US" sz="900" dirty="0" err="1">
                <a:solidFill>
                  <a:srgbClr val="333333"/>
                </a:solidFill>
                <a:latin typeface="Calibri" pitchFamily="34" charset="0"/>
                <a:ea typeface="Calibri" pitchFamily="34" charset="-122"/>
                <a:cs typeface="Calibri" pitchFamily="34" charset="-120"/>
              </a:rPr>
              <a:t>explica</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el</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comportamiento</a:t>
            </a:r>
            <a:r>
              <a:rPr lang="en-US" sz="900" dirty="0">
                <a:solidFill>
                  <a:srgbClr val="333333"/>
                </a:solidFill>
                <a:latin typeface="Calibri" pitchFamily="34" charset="0"/>
                <a:ea typeface="Calibri" pitchFamily="34" charset="-122"/>
                <a:cs typeface="Calibri" pitchFamily="34" charset="-120"/>
              </a:rPr>
              <a:t> de las </a:t>
            </a:r>
            <a:r>
              <a:rPr lang="en-US" sz="900" dirty="0" err="1">
                <a:solidFill>
                  <a:srgbClr val="333333"/>
                </a:solidFill>
                <a:latin typeface="Calibri" pitchFamily="34" charset="0"/>
                <a:ea typeface="Calibri" pitchFamily="34" charset="-122"/>
                <a:cs typeface="Calibri" pitchFamily="34" charset="-120"/>
              </a:rPr>
              <a:t>empresas</a:t>
            </a:r>
            <a:r>
              <a:rPr lang="en-US" sz="900" dirty="0">
                <a:solidFill>
                  <a:srgbClr val="333333"/>
                </a:solidFill>
                <a:latin typeface="Calibri" pitchFamily="34" charset="0"/>
                <a:ea typeface="Calibri" pitchFamily="34" charset="-122"/>
                <a:cs typeface="Calibri" pitchFamily="34" charset="-120"/>
              </a:rPr>
              <a:t>. · Salida: ranking </a:t>
            </a:r>
            <a:r>
              <a:rPr lang="en-US" sz="900" dirty="0" err="1">
                <a:solidFill>
                  <a:srgbClr val="333333"/>
                </a:solidFill>
                <a:latin typeface="Calibri" pitchFamily="34" charset="0"/>
                <a:ea typeface="Calibri" pitchFamily="34" charset="-122"/>
                <a:cs typeface="Calibri" pitchFamily="34" charset="-120"/>
              </a:rPr>
              <a:t>consolidado</a:t>
            </a:r>
            <a:r>
              <a:rPr lang="en-US" sz="900" dirty="0">
                <a:solidFill>
                  <a:srgbClr val="333333"/>
                </a:solidFill>
                <a:latin typeface="Calibri" pitchFamily="34" charset="0"/>
                <a:ea typeface="Calibri" pitchFamily="34" charset="-122"/>
                <a:cs typeface="Calibri" pitchFamily="34" charset="-120"/>
              </a:rPr>
              <a:t> de 1,000 </a:t>
            </a:r>
            <a:r>
              <a:rPr lang="en-US" sz="900" dirty="0" err="1">
                <a:solidFill>
                  <a:srgbClr val="333333"/>
                </a:solidFill>
                <a:latin typeface="Calibri" pitchFamily="34" charset="0"/>
                <a:ea typeface="Calibri" pitchFamily="34" charset="-122"/>
                <a:cs typeface="Calibri" pitchFamily="34" charset="-120"/>
              </a:rPr>
              <a:t>empresas</a:t>
            </a:r>
            <a:r>
              <a:rPr lang="en-US" sz="900" dirty="0">
                <a:solidFill>
                  <a:srgbClr val="333333"/>
                </a:solidFill>
                <a:latin typeface="Calibri" pitchFamily="34" charset="0"/>
                <a:ea typeface="Calibri" pitchFamily="34" charset="-122"/>
                <a:cs typeface="Calibri" pitchFamily="34" charset="-120"/>
              </a:rPr>
              <a:t> (Top10K).</a:t>
            </a:r>
            <a:endParaRPr lang="en-US" sz="900" dirty="0"/>
          </a:p>
        </p:txBody>
      </p:sp>
      <p:sp>
        <p:nvSpPr>
          <p:cNvPr id="12" name="Shape 10"/>
          <p:cNvSpPr/>
          <p:nvPr/>
        </p:nvSpPr>
        <p:spPr>
          <a:xfrm>
            <a:off x="641411" y="2560320"/>
            <a:ext cx="11247120" cy="658368"/>
          </a:xfrm>
          <a:prstGeom prst="rect">
            <a:avLst/>
          </a:prstGeom>
          <a:solidFill>
            <a:srgbClr val="F2F2F2"/>
          </a:solidFill>
          <a:ln w="6350">
            <a:solidFill>
              <a:srgbClr val="E0E0E0"/>
            </a:solidFill>
            <a:prstDash val="solid"/>
          </a:ln>
        </p:spPr>
        <p:txBody>
          <a:bodyPr/>
          <a:lstStyle/>
          <a:p>
            <a:endParaRPr lang="es-PE"/>
          </a:p>
        </p:txBody>
      </p:sp>
      <p:sp>
        <p:nvSpPr>
          <p:cNvPr id="13" name="Shape 11"/>
          <p:cNvSpPr/>
          <p:nvPr/>
        </p:nvSpPr>
        <p:spPr>
          <a:xfrm>
            <a:off x="272988" y="2560320"/>
            <a:ext cx="1145663" cy="658368"/>
          </a:xfrm>
          <a:prstGeom prst="rect">
            <a:avLst/>
          </a:prstGeom>
          <a:solidFill>
            <a:srgbClr val="1A5490"/>
          </a:solidFill>
          <a:ln/>
        </p:spPr>
        <p:txBody>
          <a:bodyPr/>
          <a:lstStyle/>
          <a:p>
            <a:endParaRPr lang="es-PE"/>
          </a:p>
        </p:txBody>
      </p:sp>
      <p:sp>
        <p:nvSpPr>
          <p:cNvPr id="14" name="Text 12"/>
          <p:cNvSpPr/>
          <p:nvPr/>
        </p:nvSpPr>
        <p:spPr>
          <a:xfrm>
            <a:off x="457199" y="2587752"/>
            <a:ext cx="77724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FASE 2</a:t>
            </a:r>
            <a:endParaRPr lang="en-US" sz="900" dirty="0"/>
          </a:p>
        </p:txBody>
      </p:sp>
      <p:sp>
        <p:nvSpPr>
          <p:cNvPr id="15" name="Text 13"/>
          <p:cNvSpPr/>
          <p:nvPr/>
        </p:nvSpPr>
        <p:spPr>
          <a:xfrm>
            <a:off x="272988" y="2816352"/>
            <a:ext cx="1145663"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Georgia" pitchFamily="34" charset="0"/>
                <a:ea typeface="Georgia" pitchFamily="34" charset="-122"/>
                <a:cs typeface="Georgia" pitchFamily="34" charset="-120"/>
              </a:rPr>
              <a:t>FILTRO RANKING — TARGETS</a:t>
            </a:r>
            <a:endParaRPr lang="en-US" sz="800" dirty="0"/>
          </a:p>
        </p:txBody>
      </p:sp>
      <p:sp>
        <p:nvSpPr>
          <p:cNvPr id="16" name="Text 14"/>
          <p:cNvSpPr/>
          <p:nvPr/>
        </p:nvSpPr>
        <p:spPr>
          <a:xfrm>
            <a:off x="1555811" y="2615184"/>
            <a:ext cx="10241280" cy="210312"/>
          </a:xfrm>
          <a:prstGeom prst="rect">
            <a:avLst/>
          </a:prstGeom>
          <a:noFill/>
          <a:ln/>
        </p:spPr>
        <p:txBody>
          <a:bodyPr wrap="square" lIns="0" tIns="0" rIns="0" bIns="0" rtlCol="0" anchor="ctr"/>
          <a:lstStyle/>
          <a:p>
            <a:pPr marL="0" indent="0">
              <a:buNone/>
            </a:pPr>
            <a:r>
              <a:rPr lang="en-US" sz="900" b="1" i="1" dirty="0">
                <a:solidFill>
                  <a:srgbClr val="1A5490"/>
                </a:solidFill>
                <a:latin typeface="Calibri" pitchFamily="34" charset="0"/>
                <a:ea typeface="Calibri" pitchFamily="34" charset="-122"/>
                <a:cs typeface="Calibri" pitchFamily="34" charset="-120"/>
              </a:rPr>
              <a:t>Cut · Top 50 + segmentos Protect &amp; Grow + Accelerate</a:t>
            </a:r>
            <a:endParaRPr lang="en-US" sz="900" dirty="0"/>
          </a:p>
        </p:txBody>
      </p:sp>
      <p:sp>
        <p:nvSpPr>
          <p:cNvPr id="17" name="Text 15"/>
          <p:cNvSpPr/>
          <p:nvPr/>
        </p:nvSpPr>
        <p:spPr>
          <a:xfrm>
            <a:off x="1555811" y="2807208"/>
            <a:ext cx="10241280" cy="40233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Del ranking se extraen los Top 50 por score y los clusters PROTECT &amp; GROW  y ACCELERATE  · Se </a:t>
            </a:r>
            <a:r>
              <a:rPr lang="en-US" sz="900" dirty="0" err="1">
                <a:solidFill>
                  <a:srgbClr val="333333"/>
                </a:solidFill>
                <a:latin typeface="Calibri" pitchFamily="34" charset="0"/>
                <a:ea typeface="Calibri" pitchFamily="34" charset="-122"/>
                <a:cs typeface="Calibri" pitchFamily="34" charset="-120"/>
              </a:rPr>
              <a:t>contrasta</a:t>
            </a:r>
            <a:r>
              <a:rPr lang="en-US" sz="900" dirty="0">
                <a:solidFill>
                  <a:srgbClr val="333333"/>
                </a:solidFill>
                <a:latin typeface="Calibri" pitchFamily="34" charset="0"/>
                <a:ea typeface="Calibri" pitchFamily="34" charset="-122"/>
                <a:cs typeface="Calibri" pitchFamily="34" charset="-120"/>
              </a:rPr>
              <a:t> un </a:t>
            </a:r>
            <a:r>
              <a:rPr lang="en-US" sz="900" dirty="0" err="1">
                <a:solidFill>
                  <a:srgbClr val="333333"/>
                </a:solidFill>
                <a:latin typeface="Calibri" pitchFamily="34" charset="0"/>
                <a:ea typeface="Calibri" pitchFamily="34" charset="-122"/>
                <a:cs typeface="Calibri" pitchFamily="34" charset="-120"/>
              </a:rPr>
              <a:t>margen</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estratégico</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en</a:t>
            </a:r>
            <a:r>
              <a:rPr lang="en-US" sz="900" dirty="0">
                <a:solidFill>
                  <a:srgbClr val="333333"/>
                </a:solidFill>
                <a:latin typeface="Calibri" pitchFamily="34" charset="0"/>
                <a:ea typeface="Calibri" pitchFamily="34" charset="-122"/>
                <a:cs typeface="Calibri" pitchFamily="34" charset="-120"/>
              </a:rPr>
              <a:t> base a </a:t>
            </a:r>
            <a:r>
              <a:rPr lang="en-US" sz="900" dirty="0" err="1">
                <a:solidFill>
                  <a:srgbClr val="333333"/>
                </a:solidFill>
                <a:latin typeface="Calibri" pitchFamily="34" charset="0"/>
                <a:ea typeface="Calibri" pitchFamily="34" charset="-122"/>
                <a:cs typeface="Calibri" pitchFamily="34" charset="-120"/>
              </a:rPr>
              <a:t>el</a:t>
            </a:r>
            <a:r>
              <a:rPr lang="en-US" sz="900" dirty="0">
                <a:solidFill>
                  <a:srgbClr val="333333"/>
                </a:solidFill>
                <a:latin typeface="Calibri" pitchFamily="34" charset="0"/>
                <a:ea typeface="Calibri" pitchFamily="34" charset="-122"/>
                <a:cs typeface="Calibri" pitchFamily="34" charset="-120"/>
              </a:rPr>
              <a:t> Upsell y </a:t>
            </a:r>
            <a:r>
              <a:rPr lang="en-US" sz="900" dirty="0" err="1">
                <a:solidFill>
                  <a:srgbClr val="333333"/>
                </a:solidFill>
                <a:latin typeface="Calibri" pitchFamily="34" charset="0"/>
                <a:ea typeface="Calibri" pitchFamily="34" charset="-122"/>
                <a:cs typeface="Calibri" pitchFamily="34" charset="-120"/>
              </a:rPr>
              <a:t>el</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Chrun</a:t>
            </a:r>
            <a:r>
              <a:rPr lang="en-US" sz="900" dirty="0">
                <a:solidFill>
                  <a:srgbClr val="333333"/>
                </a:solidFill>
                <a:latin typeface="Calibri" pitchFamily="34" charset="0"/>
                <a:ea typeface="Calibri" pitchFamily="34" charset="-122"/>
                <a:cs typeface="Calibri" pitchFamily="34" charset="-120"/>
              </a:rPr>
              <a:t> Risk (Ver </a:t>
            </a:r>
            <a:r>
              <a:rPr lang="en-US" sz="900" dirty="0" err="1">
                <a:solidFill>
                  <a:srgbClr val="333333"/>
                </a:solidFill>
                <a:latin typeface="Calibri" pitchFamily="34" charset="0"/>
                <a:ea typeface="Calibri" pitchFamily="34" charset="-122"/>
                <a:cs typeface="Calibri" pitchFamily="34" charset="-120"/>
              </a:rPr>
              <a:t>más</a:t>
            </a:r>
            <a:r>
              <a:rPr lang="en-US" sz="900" dirty="0">
                <a:solidFill>
                  <a:srgbClr val="333333"/>
                </a:solidFill>
                <a:latin typeface="Calibri" pitchFamily="34" charset="0"/>
                <a:ea typeface="Calibri" pitchFamily="34" charset="-122"/>
                <a:cs typeface="Calibri" pitchFamily="34" charset="-120"/>
              </a:rPr>
              <a:t> Adelante) .</a:t>
            </a:r>
            <a:endParaRPr lang="en-US" sz="900" dirty="0"/>
          </a:p>
        </p:txBody>
      </p:sp>
      <p:sp>
        <p:nvSpPr>
          <p:cNvPr id="18" name="Shape 16"/>
          <p:cNvSpPr/>
          <p:nvPr/>
        </p:nvSpPr>
        <p:spPr>
          <a:xfrm>
            <a:off x="641411" y="3291840"/>
            <a:ext cx="11247120" cy="658368"/>
          </a:xfrm>
          <a:prstGeom prst="rect">
            <a:avLst/>
          </a:prstGeom>
          <a:solidFill>
            <a:srgbClr val="F2F2F2"/>
          </a:solidFill>
          <a:ln w="6350">
            <a:solidFill>
              <a:srgbClr val="E0E0E0"/>
            </a:solidFill>
            <a:prstDash val="solid"/>
          </a:ln>
        </p:spPr>
        <p:txBody>
          <a:bodyPr/>
          <a:lstStyle/>
          <a:p>
            <a:endParaRPr lang="es-PE"/>
          </a:p>
        </p:txBody>
      </p:sp>
      <p:sp>
        <p:nvSpPr>
          <p:cNvPr id="19" name="Shape 17"/>
          <p:cNvSpPr/>
          <p:nvPr/>
        </p:nvSpPr>
        <p:spPr>
          <a:xfrm>
            <a:off x="272988" y="3291840"/>
            <a:ext cx="1145663" cy="658368"/>
          </a:xfrm>
          <a:prstGeom prst="rect">
            <a:avLst/>
          </a:prstGeom>
          <a:solidFill>
            <a:srgbClr val="4E8B9F"/>
          </a:solidFill>
          <a:ln/>
        </p:spPr>
        <p:txBody>
          <a:bodyPr/>
          <a:lstStyle/>
          <a:p>
            <a:endParaRPr lang="es-PE"/>
          </a:p>
        </p:txBody>
      </p:sp>
      <p:sp>
        <p:nvSpPr>
          <p:cNvPr id="20" name="Text 18"/>
          <p:cNvSpPr/>
          <p:nvPr/>
        </p:nvSpPr>
        <p:spPr>
          <a:xfrm>
            <a:off x="457199" y="3310483"/>
            <a:ext cx="77724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FASE 3</a:t>
            </a:r>
            <a:endParaRPr lang="en-US" sz="900" dirty="0"/>
          </a:p>
        </p:txBody>
      </p:sp>
      <p:sp>
        <p:nvSpPr>
          <p:cNvPr id="21" name="Text 19"/>
          <p:cNvSpPr/>
          <p:nvPr/>
        </p:nvSpPr>
        <p:spPr>
          <a:xfrm>
            <a:off x="272988" y="3547872"/>
            <a:ext cx="1145663"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Georgia" pitchFamily="34" charset="0"/>
                <a:ea typeface="Georgia" pitchFamily="34" charset="-122"/>
                <a:cs typeface="Georgia" pitchFamily="34" charset="-120"/>
              </a:rPr>
              <a:t>BÚSQUEDA DE INFORMACIÓN (EXTRACTOR)</a:t>
            </a:r>
            <a:endParaRPr lang="en-US" sz="800" dirty="0"/>
          </a:p>
        </p:txBody>
      </p:sp>
      <p:sp>
        <p:nvSpPr>
          <p:cNvPr id="22" name="Text 20"/>
          <p:cNvSpPr/>
          <p:nvPr/>
        </p:nvSpPr>
        <p:spPr>
          <a:xfrm>
            <a:off x="1555811" y="3346704"/>
            <a:ext cx="10241280" cy="210312"/>
          </a:xfrm>
          <a:prstGeom prst="rect">
            <a:avLst/>
          </a:prstGeom>
          <a:noFill/>
          <a:ln/>
        </p:spPr>
        <p:txBody>
          <a:bodyPr wrap="square" lIns="0" tIns="0" rIns="0" bIns="0" rtlCol="0" anchor="ctr"/>
          <a:lstStyle/>
          <a:p>
            <a:pPr marL="0" indent="0">
              <a:buNone/>
            </a:pPr>
            <a:r>
              <a:rPr lang="en-US" sz="900" b="1" i="1" dirty="0">
                <a:solidFill>
                  <a:srgbClr val="4E8B9F"/>
                </a:solidFill>
                <a:latin typeface="Calibri" pitchFamily="34" charset="0"/>
                <a:ea typeface="Calibri" pitchFamily="34" charset="-122"/>
                <a:cs typeface="Calibri" pitchFamily="34" charset="-120"/>
              </a:rPr>
              <a:t>Scraper · BVL · SMV · SBS · Noticias</a:t>
            </a:r>
            <a:endParaRPr lang="en-US" sz="900" dirty="0"/>
          </a:p>
        </p:txBody>
      </p:sp>
      <p:sp>
        <p:nvSpPr>
          <p:cNvPr id="23" name="Text 21"/>
          <p:cNvSpPr/>
          <p:nvPr/>
        </p:nvSpPr>
        <p:spPr>
          <a:xfrm>
            <a:off x="1555811" y="3538728"/>
            <a:ext cx="10241280" cy="40233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Para cada target el scraper automático consulta fuentes públicas: Noticias, BVL (reportes), SMV (hechos de importancia, EEFF), SBS (solvencia, ratings) y noticias sectoriales · Fuente estructurada por empresa y periodo.</a:t>
            </a:r>
            <a:endParaRPr lang="en-US" sz="900" dirty="0"/>
          </a:p>
        </p:txBody>
      </p:sp>
      <p:sp>
        <p:nvSpPr>
          <p:cNvPr id="24" name="Shape 22"/>
          <p:cNvSpPr/>
          <p:nvPr/>
        </p:nvSpPr>
        <p:spPr>
          <a:xfrm>
            <a:off x="641411" y="4023360"/>
            <a:ext cx="11247120" cy="658368"/>
          </a:xfrm>
          <a:prstGeom prst="rect">
            <a:avLst/>
          </a:prstGeom>
          <a:solidFill>
            <a:srgbClr val="F2F2F2"/>
          </a:solidFill>
          <a:ln w="6350">
            <a:solidFill>
              <a:srgbClr val="E0E0E0"/>
            </a:solidFill>
            <a:prstDash val="solid"/>
          </a:ln>
        </p:spPr>
        <p:txBody>
          <a:bodyPr/>
          <a:lstStyle/>
          <a:p>
            <a:endParaRPr lang="es-PE"/>
          </a:p>
        </p:txBody>
      </p:sp>
      <p:sp>
        <p:nvSpPr>
          <p:cNvPr id="25" name="Shape 23"/>
          <p:cNvSpPr/>
          <p:nvPr/>
        </p:nvSpPr>
        <p:spPr>
          <a:xfrm>
            <a:off x="272988" y="4023360"/>
            <a:ext cx="1145663" cy="658368"/>
          </a:xfrm>
          <a:prstGeom prst="rect">
            <a:avLst/>
          </a:prstGeom>
          <a:solidFill>
            <a:srgbClr val="D4A843"/>
          </a:solidFill>
          <a:ln/>
        </p:spPr>
        <p:txBody>
          <a:bodyPr/>
          <a:lstStyle/>
          <a:p>
            <a:endParaRPr lang="es-PE"/>
          </a:p>
        </p:txBody>
      </p:sp>
      <p:sp>
        <p:nvSpPr>
          <p:cNvPr id="26" name="Text 24"/>
          <p:cNvSpPr/>
          <p:nvPr/>
        </p:nvSpPr>
        <p:spPr>
          <a:xfrm>
            <a:off x="457199" y="4059936"/>
            <a:ext cx="77724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FASE 4</a:t>
            </a:r>
            <a:endParaRPr lang="en-US" sz="900" dirty="0"/>
          </a:p>
        </p:txBody>
      </p:sp>
      <p:sp>
        <p:nvSpPr>
          <p:cNvPr id="27" name="Text 25"/>
          <p:cNvSpPr/>
          <p:nvPr/>
        </p:nvSpPr>
        <p:spPr>
          <a:xfrm>
            <a:off x="272988" y="4279392"/>
            <a:ext cx="1145663"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Georgia" pitchFamily="34" charset="0"/>
                <a:ea typeface="Georgia" pitchFamily="34" charset="-122"/>
                <a:cs typeface="Georgia" pitchFamily="34" charset="-120"/>
              </a:rPr>
              <a:t>OUTPUT DE INFORMACIÓN</a:t>
            </a:r>
            <a:endParaRPr lang="en-US" sz="800" dirty="0"/>
          </a:p>
        </p:txBody>
      </p:sp>
      <p:sp>
        <p:nvSpPr>
          <p:cNvPr id="28" name="Text 26"/>
          <p:cNvSpPr/>
          <p:nvPr/>
        </p:nvSpPr>
        <p:spPr>
          <a:xfrm>
            <a:off x="1555811" y="4078224"/>
            <a:ext cx="10241280" cy="210312"/>
          </a:xfrm>
          <a:prstGeom prst="rect">
            <a:avLst/>
          </a:prstGeom>
          <a:noFill/>
          <a:ln/>
        </p:spPr>
        <p:txBody>
          <a:bodyPr wrap="square" lIns="0" tIns="0" rIns="0" bIns="0" rtlCol="0" anchor="ctr"/>
          <a:lstStyle/>
          <a:p>
            <a:pPr marL="0" indent="0">
              <a:buNone/>
            </a:pPr>
            <a:r>
              <a:rPr lang="en-US" sz="900" b="1" i="1" dirty="0">
                <a:solidFill>
                  <a:srgbClr val="D4A843"/>
                </a:solidFill>
                <a:latin typeface="Calibri" pitchFamily="34" charset="0"/>
                <a:ea typeface="Calibri" pitchFamily="34" charset="-122"/>
                <a:cs typeface="Calibri" pitchFamily="34" charset="-120"/>
              </a:rPr>
              <a:t>Ficha · Por empresa</a:t>
            </a:r>
            <a:endParaRPr lang="en-US" sz="900" dirty="0"/>
          </a:p>
        </p:txBody>
      </p:sp>
      <p:sp>
        <p:nvSpPr>
          <p:cNvPr id="29" name="Text 27"/>
          <p:cNvSpPr/>
          <p:nvPr/>
        </p:nvSpPr>
        <p:spPr>
          <a:xfrm>
            <a:off x="1555811" y="4270248"/>
            <a:ext cx="10241280" cy="40233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Se consolida en ficha única: estados financieros, hechos de importancia, regulaciones vigentes, cambios de auditor, fusiones/adquisiciones, sanciones,  · Diagnóstico ejecutivo por target.</a:t>
            </a:r>
            <a:endParaRPr lang="en-US" sz="900" dirty="0"/>
          </a:p>
        </p:txBody>
      </p:sp>
      <p:sp>
        <p:nvSpPr>
          <p:cNvPr id="30" name="Shape 28"/>
          <p:cNvSpPr/>
          <p:nvPr/>
        </p:nvSpPr>
        <p:spPr>
          <a:xfrm>
            <a:off x="641411" y="4754880"/>
            <a:ext cx="11247120" cy="658368"/>
          </a:xfrm>
          <a:prstGeom prst="rect">
            <a:avLst/>
          </a:prstGeom>
          <a:solidFill>
            <a:srgbClr val="F2F2F2"/>
          </a:solidFill>
          <a:ln w="6350">
            <a:solidFill>
              <a:srgbClr val="E0E0E0"/>
            </a:solidFill>
            <a:prstDash val="solid"/>
          </a:ln>
        </p:spPr>
        <p:txBody>
          <a:bodyPr/>
          <a:lstStyle/>
          <a:p>
            <a:endParaRPr lang="es-PE"/>
          </a:p>
        </p:txBody>
      </p:sp>
      <p:sp>
        <p:nvSpPr>
          <p:cNvPr id="31" name="Shape 29"/>
          <p:cNvSpPr/>
          <p:nvPr/>
        </p:nvSpPr>
        <p:spPr>
          <a:xfrm>
            <a:off x="272988" y="4754880"/>
            <a:ext cx="1145663" cy="658368"/>
          </a:xfrm>
          <a:prstGeom prst="rect">
            <a:avLst/>
          </a:prstGeom>
          <a:solidFill>
            <a:srgbClr val="C0392B"/>
          </a:solidFill>
          <a:ln/>
        </p:spPr>
        <p:txBody>
          <a:bodyPr/>
          <a:lstStyle/>
          <a:p>
            <a:endParaRPr lang="es-PE"/>
          </a:p>
        </p:txBody>
      </p:sp>
      <p:sp>
        <p:nvSpPr>
          <p:cNvPr id="32" name="Text 30"/>
          <p:cNvSpPr/>
          <p:nvPr/>
        </p:nvSpPr>
        <p:spPr>
          <a:xfrm>
            <a:off x="457199" y="4800600"/>
            <a:ext cx="77724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FASE 5</a:t>
            </a:r>
            <a:endParaRPr lang="en-US" sz="900" dirty="0"/>
          </a:p>
        </p:txBody>
      </p:sp>
      <p:sp>
        <p:nvSpPr>
          <p:cNvPr id="33" name="Text 31"/>
          <p:cNvSpPr/>
          <p:nvPr/>
        </p:nvSpPr>
        <p:spPr>
          <a:xfrm>
            <a:off x="272988" y="5010912"/>
            <a:ext cx="1145663"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Georgia" pitchFamily="34" charset="0"/>
                <a:ea typeface="Georgia" pitchFamily="34" charset="-122"/>
                <a:cs typeface="Georgia" pitchFamily="34" charset="-120"/>
              </a:rPr>
              <a:t>TEMAS / SERVICIOS SUBLOS</a:t>
            </a:r>
            <a:endParaRPr lang="en-US" sz="800" dirty="0"/>
          </a:p>
        </p:txBody>
      </p:sp>
      <p:sp>
        <p:nvSpPr>
          <p:cNvPr id="34" name="Text 32"/>
          <p:cNvSpPr/>
          <p:nvPr/>
        </p:nvSpPr>
        <p:spPr>
          <a:xfrm>
            <a:off x="1555811" y="4809744"/>
            <a:ext cx="10241280" cy="210312"/>
          </a:xfrm>
          <a:prstGeom prst="rect">
            <a:avLst/>
          </a:prstGeom>
          <a:noFill/>
          <a:ln/>
        </p:spPr>
        <p:txBody>
          <a:bodyPr wrap="square" lIns="0" tIns="0" rIns="0" bIns="0" rtlCol="0" anchor="ctr"/>
          <a:lstStyle/>
          <a:p>
            <a:pPr marL="0" indent="0">
              <a:buNone/>
            </a:pPr>
            <a:r>
              <a:rPr lang="en-US" sz="900" b="1" i="1" dirty="0">
                <a:solidFill>
                  <a:srgbClr val="C0392B"/>
                </a:solidFill>
                <a:latin typeface="Calibri" pitchFamily="34" charset="0"/>
                <a:ea typeface="Calibri" pitchFamily="34" charset="-122"/>
                <a:cs typeface="Calibri" pitchFamily="34" charset="-120"/>
              </a:rPr>
              <a:t>Match · 11 Sub-LoS × gaps cluster</a:t>
            </a:r>
            <a:endParaRPr lang="en-US" sz="900" dirty="0"/>
          </a:p>
        </p:txBody>
      </p:sp>
      <p:sp>
        <p:nvSpPr>
          <p:cNvPr id="35" name="Text 33"/>
          <p:cNvSpPr/>
          <p:nvPr/>
        </p:nvSpPr>
        <p:spPr>
          <a:xfrm>
            <a:off x="1555811" y="5001768"/>
            <a:ext cx="10241280" cy="40233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Contraste entre la ficha y el catálogo de Sub-LoS PwC Perú · Identifica qué servicios no han sido </a:t>
            </a:r>
            <a:r>
              <a:rPr lang="en-US" sz="900" dirty="0" err="1">
                <a:solidFill>
                  <a:srgbClr val="333333"/>
                </a:solidFill>
                <a:latin typeface="Calibri" pitchFamily="34" charset="0"/>
                <a:ea typeface="Calibri" pitchFamily="34" charset="-122"/>
                <a:cs typeface="Calibri" pitchFamily="34" charset="-120"/>
              </a:rPr>
              <a:t>vendidos</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Cuales</a:t>
            </a:r>
            <a:r>
              <a:rPr lang="en-US" sz="900" dirty="0">
                <a:solidFill>
                  <a:srgbClr val="333333"/>
                </a:solidFill>
                <a:latin typeface="Calibri" pitchFamily="34" charset="0"/>
                <a:ea typeface="Calibri" pitchFamily="34" charset="-122"/>
                <a:cs typeface="Calibri" pitchFamily="34" charset="-120"/>
              </a:rPr>
              <a:t> se </a:t>
            </a:r>
            <a:r>
              <a:rPr lang="en-US" sz="900" dirty="0" err="1">
                <a:solidFill>
                  <a:srgbClr val="333333"/>
                </a:solidFill>
                <a:latin typeface="Calibri" pitchFamily="34" charset="0"/>
                <a:ea typeface="Calibri" pitchFamily="34" charset="-122"/>
                <a:cs typeface="Calibri" pitchFamily="34" charset="-120"/>
              </a:rPr>
              <a:t>podrían</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implementar</a:t>
            </a:r>
            <a:r>
              <a:rPr lang="en-US" sz="900" dirty="0">
                <a:solidFill>
                  <a:srgbClr val="333333"/>
                </a:solidFill>
                <a:latin typeface="Calibri" pitchFamily="34" charset="0"/>
                <a:ea typeface="Calibri" pitchFamily="34" charset="-122"/>
                <a:cs typeface="Calibri" pitchFamily="34" charset="-120"/>
              </a:rPr>
              <a:t>) y cuáles tienen demanda latente según el Gap Analysis P75 del cluster · Alinea tema/urgencia.</a:t>
            </a:r>
            <a:endParaRPr lang="en-US" sz="900" dirty="0"/>
          </a:p>
        </p:txBody>
      </p:sp>
      <p:sp>
        <p:nvSpPr>
          <p:cNvPr id="36" name="Shape 34"/>
          <p:cNvSpPr/>
          <p:nvPr/>
        </p:nvSpPr>
        <p:spPr>
          <a:xfrm>
            <a:off x="641411" y="5486400"/>
            <a:ext cx="11247120" cy="658368"/>
          </a:xfrm>
          <a:prstGeom prst="rect">
            <a:avLst/>
          </a:prstGeom>
          <a:solidFill>
            <a:srgbClr val="F2F2F2"/>
          </a:solidFill>
          <a:ln w="6350">
            <a:solidFill>
              <a:srgbClr val="E0E0E0"/>
            </a:solidFill>
            <a:prstDash val="solid"/>
          </a:ln>
        </p:spPr>
        <p:txBody>
          <a:bodyPr/>
          <a:lstStyle/>
          <a:p>
            <a:endParaRPr lang="es-PE"/>
          </a:p>
        </p:txBody>
      </p:sp>
      <p:sp>
        <p:nvSpPr>
          <p:cNvPr id="37" name="Shape 35"/>
          <p:cNvSpPr/>
          <p:nvPr/>
        </p:nvSpPr>
        <p:spPr>
          <a:xfrm>
            <a:off x="272988" y="5486400"/>
            <a:ext cx="1145663" cy="658368"/>
          </a:xfrm>
          <a:prstGeom prst="rect">
            <a:avLst/>
          </a:prstGeom>
          <a:solidFill>
            <a:srgbClr val="27AE60"/>
          </a:solidFill>
          <a:ln/>
        </p:spPr>
        <p:txBody>
          <a:bodyPr/>
          <a:lstStyle/>
          <a:p>
            <a:endParaRPr lang="es-PE"/>
          </a:p>
        </p:txBody>
      </p:sp>
      <p:sp>
        <p:nvSpPr>
          <p:cNvPr id="38" name="Text 36"/>
          <p:cNvSpPr/>
          <p:nvPr/>
        </p:nvSpPr>
        <p:spPr>
          <a:xfrm>
            <a:off x="457199" y="5533452"/>
            <a:ext cx="77724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FASE 6</a:t>
            </a:r>
            <a:endParaRPr lang="en-US" sz="900" dirty="0"/>
          </a:p>
        </p:txBody>
      </p:sp>
      <p:sp>
        <p:nvSpPr>
          <p:cNvPr id="39" name="Text 37"/>
          <p:cNvSpPr/>
          <p:nvPr/>
        </p:nvSpPr>
        <p:spPr>
          <a:xfrm>
            <a:off x="272988" y="5742432"/>
            <a:ext cx="1145663"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Georgia" pitchFamily="34" charset="0"/>
                <a:ea typeface="Georgia" pitchFamily="34" charset="-122"/>
                <a:cs typeface="Georgia" pitchFamily="34" charset="-120"/>
              </a:rPr>
              <a:t>NUEVAS OPORTUNIDADES</a:t>
            </a:r>
            <a:endParaRPr lang="en-US" sz="800" dirty="0"/>
          </a:p>
        </p:txBody>
      </p:sp>
      <p:sp>
        <p:nvSpPr>
          <p:cNvPr id="40" name="Text 38"/>
          <p:cNvSpPr/>
          <p:nvPr/>
        </p:nvSpPr>
        <p:spPr>
          <a:xfrm>
            <a:off x="1555811" y="5541264"/>
            <a:ext cx="10241280" cy="210312"/>
          </a:xfrm>
          <a:prstGeom prst="rect">
            <a:avLst/>
          </a:prstGeom>
          <a:noFill/>
          <a:ln/>
        </p:spPr>
        <p:txBody>
          <a:bodyPr wrap="square" lIns="0" tIns="0" rIns="0" bIns="0" rtlCol="0" anchor="ctr"/>
          <a:lstStyle/>
          <a:p>
            <a:pPr marL="0" indent="0">
              <a:buNone/>
            </a:pPr>
            <a:r>
              <a:rPr lang="en-US" sz="900" b="1" i="1" dirty="0">
                <a:solidFill>
                  <a:srgbClr val="27AE60"/>
                </a:solidFill>
                <a:latin typeface="Calibri" pitchFamily="34" charset="0"/>
                <a:ea typeface="Calibri" pitchFamily="34" charset="-122"/>
                <a:cs typeface="Calibri" pitchFamily="34" charset="-120"/>
              </a:rPr>
              <a:t>Output · Propuesta al AM</a:t>
            </a:r>
            <a:endParaRPr lang="en-US" sz="900" dirty="0"/>
          </a:p>
        </p:txBody>
      </p:sp>
      <p:sp>
        <p:nvSpPr>
          <p:cNvPr id="41" name="Text 39"/>
          <p:cNvSpPr/>
          <p:nvPr/>
        </p:nvSpPr>
        <p:spPr>
          <a:xfrm>
            <a:off x="1555811" y="5733288"/>
            <a:ext cx="10241280" cy="40233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Con el diagnóstico completo (score + regulatorio + SubLoS gap) el Account Manager recibe propuestas concretas · Cross-sell, renovación, defensa de relación · S/. 424 M upsell revenue, S/. 184 M margin potencial.</a:t>
            </a:r>
            <a:endParaRPr lang="en-US" sz="900" dirty="0"/>
          </a:p>
        </p:txBody>
      </p:sp>
      <p:sp>
        <p:nvSpPr>
          <p:cNvPr id="42" name="Text 40"/>
          <p:cNvSpPr/>
          <p:nvPr/>
        </p:nvSpPr>
        <p:spPr>
          <a:xfrm>
            <a:off x="457200" y="649224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43" name="Text 41"/>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25/32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Perfil Multidimensional — Radar por Cluster</a:t>
            </a:r>
            <a:endParaRPr lang="en-US" sz="2600" dirty="0"/>
          </a:p>
        </p:txBody>
      </p:sp>
      <p:sp>
        <p:nvSpPr>
          <p:cNvPr id="6" name="Text 3"/>
          <p:cNvSpPr/>
          <p:nvPr/>
        </p:nvSpPr>
        <p:spPr>
          <a:xfrm>
            <a:off x="457200" y="6172200"/>
            <a:ext cx="11247120" cy="320040"/>
          </a:xfrm>
          <a:prstGeom prst="rect">
            <a:avLst/>
          </a:prstGeom>
          <a:noFill/>
          <a:ln/>
        </p:spPr>
        <p:txBody>
          <a:bodyPr wrap="square" lIns="0" tIns="0" rIns="0" bIns="0" rtlCol="0" anchor="ctr"/>
          <a:lstStyle/>
          <a:p>
            <a:pPr marL="0" indent="0" algn="ctr">
              <a:buNone/>
            </a:pPr>
            <a:r>
              <a:rPr lang="en-US" sz="1100" i="1" dirty="0">
                <a:solidFill>
                  <a:srgbClr val="666666"/>
                </a:solidFill>
                <a:latin typeface="Calibri" pitchFamily="34" charset="0"/>
                <a:ea typeface="Calibri" pitchFamily="34" charset="-122"/>
                <a:cs typeface="Calibri" pitchFamily="34" charset="-120"/>
              </a:rPr>
              <a:t>7 ejes normalizados: revenue, margin, score, win-rate, Sub-LoS diversity, REL, potencial.</a:t>
            </a:r>
            <a:endParaRPr lang="en-US" sz="1100" dirty="0"/>
          </a:p>
        </p:txBody>
      </p:sp>
      <p:sp>
        <p:nvSpPr>
          <p:cNvPr id="7" name="Text 4"/>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8/32</a:t>
            </a:r>
            <a:endParaRPr lang="en-US" sz="800" dirty="0"/>
          </a:p>
        </p:txBody>
      </p:sp>
      <p:pic>
        <p:nvPicPr>
          <p:cNvPr id="3074" name="Picture 2">
            <a:extLst>
              <a:ext uri="{FF2B5EF4-FFF2-40B4-BE49-F238E27FC236}">
                <a16:creationId xmlns:a16="http://schemas.microsoft.com/office/drawing/2014/main" id="{950495DA-0F84-E2D9-82F0-EEA8E2808C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44752"/>
            <a:ext cx="11050198" cy="43711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429768"/>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Pipeline de Procesamiento — Flujo Operativo End-to-End</a:t>
            </a:r>
            <a:endParaRPr lang="en-US" sz="2600" dirty="0"/>
          </a:p>
        </p:txBody>
      </p:sp>
      <p:sp>
        <p:nvSpPr>
          <p:cNvPr id="5" name="Text 3"/>
          <p:cNvSpPr/>
          <p:nvPr/>
        </p:nvSpPr>
        <p:spPr>
          <a:xfrm>
            <a:off x="475488" y="965358"/>
            <a:ext cx="11247120" cy="292608"/>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De 1,000 empresas del book a propuestas accionables en &lt; 72 h · 6 fases con valor comercial cuantificado</a:t>
            </a:r>
            <a:endParaRPr lang="en-US" sz="1100" dirty="0"/>
          </a:p>
        </p:txBody>
      </p:sp>
      <p:sp>
        <p:nvSpPr>
          <p:cNvPr id="6" name="Shape 4"/>
          <p:cNvSpPr/>
          <p:nvPr/>
        </p:nvSpPr>
        <p:spPr>
          <a:xfrm>
            <a:off x="121447" y="1376838"/>
            <a:ext cx="3840480" cy="2148840"/>
          </a:xfrm>
          <a:prstGeom prst="roundRect">
            <a:avLst>
              <a:gd name="adj" fmla="val 3404"/>
            </a:avLst>
          </a:prstGeom>
          <a:solidFill>
            <a:srgbClr val="FFFFFF"/>
          </a:solidFill>
          <a:ln w="25400">
            <a:solidFill>
              <a:srgbClr val="D04A02"/>
            </a:solidFill>
            <a:prstDash val="solid"/>
          </a:ln>
        </p:spPr>
        <p:txBody>
          <a:bodyPr/>
          <a:lstStyle/>
          <a:p>
            <a:endParaRPr lang="es-PE"/>
          </a:p>
        </p:txBody>
      </p:sp>
      <p:sp>
        <p:nvSpPr>
          <p:cNvPr id="7" name="Shape 5"/>
          <p:cNvSpPr/>
          <p:nvPr/>
        </p:nvSpPr>
        <p:spPr>
          <a:xfrm>
            <a:off x="121447" y="1376838"/>
            <a:ext cx="3840480" cy="475488"/>
          </a:xfrm>
          <a:prstGeom prst="roundRect">
            <a:avLst>
              <a:gd name="adj" fmla="val 15385"/>
            </a:avLst>
          </a:prstGeom>
          <a:solidFill>
            <a:srgbClr val="D04A02"/>
          </a:solidFill>
          <a:ln w="12700">
            <a:solidFill>
              <a:srgbClr val="D04A02"/>
            </a:solidFill>
            <a:prstDash val="solid"/>
          </a:ln>
        </p:spPr>
        <p:txBody>
          <a:bodyPr/>
          <a:lstStyle/>
          <a:p>
            <a:endParaRPr lang="es-PE"/>
          </a:p>
        </p:txBody>
      </p:sp>
      <p:sp>
        <p:nvSpPr>
          <p:cNvPr id="8" name="Text 6"/>
          <p:cNvSpPr/>
          <p:nvPr/>
        </p:nvSpPr>
        <p:spPr>
          <a:xfrm>
            <a:off x="258607" y="1468278"/>
            <a:ext cx="9144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FASE 1</a:t>
            </a:r>
            <a:endParaRPr lang="en-US" sz="1100" dirty="0"/>
          </a:p>
        </p:txBody>
      </p:sp>
      <p:sp>
        <p:nvSpPr>
          <p:cNvPr id="9" name="Text 7"/>
          <p:cNvSpPr/>
          <p:nvPr/>
        </p:nvSpPr>
        <p:spPr>
          <a:xfrm>
            <a:off x="3276127" y="1413414"/>
            <a:ext cx="54864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127287" y="1468278"/>
            <a:ext cx="2103120" cy="292608"/>
          </a:xfrm>
          <a:prstGeom prst="rect">
            <a:avLst/>
          </a:prstGeom>
          <a:noFill/>
          <a:ln/>
        </p:spPr>
        <p:txBody>
          <a:bodyPr wrap="square" lIns="0" tIns="0" rIns="0" bIns="0" rtlCol="0" anchor="ctr"/>
          <a:lstStyle/>
          <a:p>
            <a:pPr marL="0" indent="0" algn="l">
              <a:buNone/>
            </a:pPr>
            <a:r>
              <a:rPr lang="en-US" sz="1250" b="1" dirty="0">
                <a:solidFill>
                  <a:srgbClr val="FFFFFF"/>
                </a:solidFill>
                <a:latin typeface="Georgia" pitchFamily="34" charset="0"/>
                <a:ea typeface="Georgia" pitchFamily="34" charset="-122"/>
                <a:cs typeface="Georgia" pitchFamily="34" charset="-120"/>
              </a:rPr>
              <a:t>TARGET SCORING</a:t>
            </a:r>
            <a:endParaRPr lang="en-US" sz="1250" dirty="0"/>
          </a:p>
        </p:txBody>
      </p:sp>
      <p:sp>
        <p:nvSpPr>
          <p:cNvPr id="11" name="Text 9"/>
          <p:cNvSpPr/>
          <p:nvPr/>
        </p:nvSpPr>
        <p:spPr>
          <a:xfrm>
            <a:off x="258607" y="1925478"/>
            <a:ext cx="3566160" cy="1143000"/>
          </a:xfrm>
          <a:prstGeom prst="rect">
            <a:avLst/>
          </a:prstGeom>
          <a:noFill/>
          <a:ln/>
        </p:spPr>
        <p:txBody>
          <a:bodyPr wrap="square" lIns="0" tIns="0" rIns="0" bIns="0" rtlCol="0" anchor="t"/>
          <a:lstStyle/>
          <a:p>
            <a:pPr marL="0" indent="0">
              <a:lnSpc>
                <a:spcPct val="115000"/>
              </a:lnSpc>
              <a:buNone/>
            </a:pPr>
            <a:r>
              <a:rPr lang="en-US" sz="880" b="1" dirty="0">
                <a:solidFill>
                  <a:srgbClr val="D04A02"/>
                </a:solidFill>
                <a:latin typeface="Calibri" pitchFamily="34" charset="0"/>
                <a:ea typeface="Calibri" pitchFamily="34" charset="-122"/>
                <a:cs typeface="Calibri" pitchFamily="34" charset="-120"/>
              </a:rPr>
              <a:t>INPUT · 1,000 empresas SEG + 52,385 trx FIN</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9 variables ponderadas (v7f): Margin · </a:t>
            </a:r>
            <a:r>
              <a:rPr lang="en-US" sz="900" dirty="0" err="1">
                <a:solidFill>
                  <a:srgbClr val="333333"/>
                </a:solidFill>
                <a:latin typeface="Calibri" pitchFamily="34" charset="0"/>
                <a:ea typeface="Calibri" pitchFamily="34" charset="-122"/>
                <a:cs typeface="Calibri" pitchFamily="34" charset="-120"/>
              </a:rPr>
              <a:t>Prioritaria</a:t>
            </a:r>
            <a:r>
              <a:rPr lang="en-US" sz="900" dirty="0">
                <a:solidFill>
                  <a:srgbClr val="333333"/>
                </a:solidFill>
                <a:latin typeface="Calibri" pitchFamily="34" charset="0"/>
                <a:ea typeface="Calibri" pitchFamily="34" charset="-122"/>
                <a:cs typeface="Calibri" pitchFamily="34" charset="-120"/>
              </a:rPr>
              <a:t> · Venta </a:t>
            </a:r>
            <a:r>
              <a:rPr lang="en-US" sz="900" dirty="0" err="1">
                <a:solidFill>
                  <a:srgbClr val="333333"/>
                </a:solidFill>
                <a:latin typeface="Calibri" pitchFamily="34" charset="0"/>
                <a:ea typeface="Calibri" pitchFamily="34" charset="-122"/>
                <a:cs typeface="Calibri" pitchFamily="34" charset="-120"/>
              </a:rPr>
              <a:t>reciente</a:t>
            </a:r>
            <a:r>
              <a:rPr lang="en-US" sz="900" dirty="0">
                <a:solidFill>
                  <a:srgbClr val="333333"/>
                </a:solidFill>
                <a:latin typeface="Calibri" pitchFamily="34" charset="0"/>
                <a:ea typeface="Calibri" pitchFamily="34" charset="-122"/>
                <a:cs typeface="Calibri" pitchFamily="34" charset="-120"/>
              </a:rPr>
              <a:t> · Revenue · Potencial · Relación · WON · Diversidad Sub-LoS · Canal</a:t>
            </a:r>
            <a:endParaRPr lang="en-US" sz="900" dirty="0"/>
          </a:p>
          <a:p>
            <a:pPr marL="0" indent="0">
              <a:lnSpc>
                <a:spcPct val="115000"/>
              </a:lnSpc>
              <a:buNone/>
            </a:pPr>
            <a:endParaRPr lang="en-US" sz="900" dirty="0"/>
          </a:p>
          <a:p>
            <a:pPr marL="0" indent="0">
              <a:lnSpc>
                <a:spcPct val="115000"/>
              </a:lnSpc>
              <a:buNone/>
            </a:pPr>
            <a:r>
              <a:rPr lang="en-US" sz="880" b="1" dirty="0">
                <a:solidFill>
                  <a:srgbClr val="1A5490"/>
                </a:solidFill>
                <a:latin typeface="Calibri" pitchFamily="34" charset="0"/>
                <a:ea typeface="Calibri" pitchFamily="34" charset="-122"/>
                <a:cs typeface="Calibri" pitchFamily="34" charset="-120"/>
              </a:rPr>
              <a:t>OUTPUT · Score 0-100 por empresa + 5 segmentos K-Means</a:t>
            </a:r>
            <a:endParaRPr lang="en-US" sz="900" dirty="0"/>
          </a:p>
        </p:txBody>
      </p:sp>
      <p:sp>
        <p:nvSpPr>
          <p:cNvPr id="12" name="Shape 10"/>
          <p:cNvSpPr/>
          <p:nvPr/>
        </p:nvSpPr>
        <p:spPr>
          <a:xfrm>
            <a:off x="139735" y="3141630"/>
            <a:ext cx="3803904" cy="347472"/>
          </a:xfrm>
          <a:prstGeom prst="rect">
            <a:avLst/>
          </a:prstGeom>
          <a:solidFill>
            <a:srgbClr val="F7F3EE"/>
          </a:solidFill>
          <a:ln w="12700">
            <a:solidFill>
              <a:srgbClr val="F7F3EE"/>
            </a:solidFill>
            <a:prstDash val="solid"/>
          </a:ln>
        </p:spPr>
        <p:txBody>
          <a:bodyPr/>
          <a:lstStyle/>
          <a:p>
            <a:endParaRPr lang="es-PE"/>
          </a:p>
        </p:txBody>
      </p:sp>
      <p:sp>
        <p:nvSpPr>
          <p:cNvPr id="13" name="Text 11"/>
          <p:cNvSpPr/>
          <p:nvPr/>
        </p:nvSpPr>
        <p:spPr>
          <a:xfrm>
            <a:off x="258607" y="3159918"/>
            <a:ext cx="3566160" cy="320040"/>
          </a:xfrm>
          <a:prstGeom prst="rect">
            <a:avLst/>
          </a:prstGeom>
          <a:noFill/>
          <a:ln/>
        </p:spPr>
        <p:txBody>
          <a:bodyPr wrap="square" lIns="0" tIns="0" rIns="0" bIns="0" rtlCol="0" anchor="ctr"/>
          <a:lstStyle/>
          <a:p>
            <a:pPr marL="0" indent="0">
              <a:buNone/>
            </a:pPr>
            <a:r>
              <a:rPr lang="en-US" sz="800" b="1" dirty="0">
                <a:solidFill>
                  <a:srgbClr val="D04A02"/>
                </a:solidFill>
                <a:latin typeface="Calibri" pitchFamily="34" charset="0"/>
                <a:ea typeface="Calibri" pitchFamily="34" charset="-122"/>
                <a:cs typeface="Calibri" pitchFamily="34" charset="-120"/>
              </a:rPr>
              <a:t>VALOR COMERCIAL  </a:t>
            </a:r>
            <a:r>
              <a:rPr lang="en-US" sz="880" i="1" dirty="0">
                <a:solidFill>
                  <a:srgbClr val="333333"/>
                </a:solidFill>
                <a:latin typeface="Calibri" pitchFamily="34" charset="0"/>
                <a:ea typeface="Calibri" pitchFamily="34" charset="-122"/>
                <a:cs typeface="Calibri" pitchFamily="34" charset="-120"/>
              </a:rPr>
              <a:t>Ranking único y defendible ante el comité</a:t>
            </a:r>
            <a:endParaRPr lang="en-US" sz="800" dirty="0"/>
          </a:p>
        </p:txBody>
      </p:sp>
      <p:sp>
        <p:nvSpPr>
          <p:cNvPr id="14" name="Shape 12"/>
          <p:cNvSpPr/>
          <p:nvPr/>
        </p:nvSpPr>
        <p:spPr>
          <a:xfrm>
            <a:off x="4192524" y="1376838"/>
            <a:ext cx="3840480" cy="2148840"/>
          </a:xfrm>
          <a:prstGeom prst="roundRect">
            <a:avLst>
              <a:gd name="adj" fmla="val 3404"/>
            </a:avLst>
          </a:prstGeom>
          <a:solidFill>
            <a:srgbClr val="FFFFFF"/>
          </a:solidFill>
          <a:ln w="25400">
            <a:solidFill>
              <a:srgbClr val="1A5490"/>
            </a:solidFill>
            <a:prstDash val="solid"/>
          </a:ln>
        </p:spPr>
        <p:txBody>
          <a:bodyPr/>
          <a:lstStyle/>
          <a:p>
            <a:endParaRPr lang="es-PE"/>
          </a:p>
        </p:txBody>
      </p:sp>
      <p:sp>
        <p:nvSpPr>
          <p:cNvPr id="15" name="Shape 13"/>
          <p:cNvSpPr/>
          <p:nvPr/>
        </p:nvSpPr>
        <p:spPr>
          <a:xfrm>
            <a:off x="4192524" y="1376838"/>
            <a:ext cx="3840480" cy="475488"/>
          </a:xfrm>
          <a:prstGeom prst="roundRect">
            <a:avLst>
              <a:gd name="adj" fmla="val 15385"/>
            </a:avLst>
          </a:prstGeom>
          <a:solidFill>
            <a:srgbClr val="1A5490"/>
          </a:solidFill>
          <a:ln w="12700">
            <a:solidFill>
              <a:srgbClr val="1A5490"/>
            </a:solidFill>
            <a:prstDash val="solid"/>
          </a:ln>
        </p:spPr>
        <p:txBody>
          <a:bodyPr/>
          <a:lstStyle/>
          <a:p>
            <a:endParaRPr lang="es-PE"/>
          </a:p>
        </p:txBody>
      </p:sp>
      <p:sp>
        <p:nvSpPr>
          <p:cNvPr id="16" name="Text 14"/>
          <p:cNvSpPr/>
          <p:nvPr/>
        </p:nvSpPr>
        <p:spPr>
          <a:xfrm>
            <a:off x="4329684" y="1468278"/>
            <a:ext cx="9144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FASE 2</a:t>
            </a:r>
            <a:endParaRPr lang="en-US" sz="1100" dirty="0"/>
          </a:p>
        </p:txBody>
      </p:sp>
      <p:sp>
        <p:nvSpPr>
          <p:cNvPr id="17" name="Text 15"/>
          <p:cNvSpPr/>
          <p:nvPr/>
        </p:nvSpPr>
        <p:spPr>
          <a:xfrm>
            <a:off x="7347204" y="1413414"/>
            <a:ext cx="54864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5198364" y="1468278"/>
            <a:ext cx="2103120" cy="292608"/>
          </a:xfrm>
          <a:prstGeom prst="rect">
            <a:avLst/>
          </a:prstGeom>
          <a:noFill/>
          <a:ln/>
        </p:spPr>
        <p:txBody>
          <a:bodyPr wrap="square" lIns="0" tIns="0" rIns="0" bIns="0" rtlCol="0" anchor="ctr"/>
          <a:lstStyle/>
          <a:p>
            <a:pPr marL="0" indent="0" algn="l">
              <a:buNone/>
            </a:pPr>
            <a:r>
              <a:rPr lang="en-US" sz="1250" b="1" dirty="0">
                <a:solidFill>
                  <a:srgbClr val="FFFFFF"/>
                </a:solidFill>
                <a:latin typeface="Georgia" pitchFamily="34" charset="0"/>
                <a:ea typeface="Georgia" pitchFamily="34" charset="-122"/>
                <a:cs typeface="Georgia" pitchFamily="34" charset="-120"/>
              </a:rPr>
              <a:t>FILTRO RANKING</a:t>
            </a:r>
            <a:endParaRPr lang="en-US" sz="1250" dirty="0"/>
          </a:p>
        </p:txBody>
      </p:sp>
      <p:sp>
        <p:nvSpPr>
          <p:cNvPr id="19" name="Text 17"/>
          <p:cNvSpPr/>
          <p:nvPr/>
        </p:nvSpPr>
        <p:spPr>
          <a:xfrm>
            <a:off x="4329684" y="1925478"/>
            <a:ext cx="3566160" cy="1143000"/>
          </a:xfrm>
          <a:prstGeom prst="rect">
            <a:avLst/>
          </a:prstGeom>
          <a:noFill/>
          <a:ln/>
        </p:spPr>
        <p:txBody>
          <a:bodyPr wrap="square" lIns="0" tIns="0" rIns="0" bIns="0" rtlCol="0" anchor="t"/>
          <a:lstStyle/>
          <a:p>
            <a:pPr marL="0" indent="0">
              <a:lnSpc>
                <a:spcPct val="115000"/>
              </a:lnSpc>
              <a:buNone/>
            </a:pPr>
            <a:r>
              <a:rPr lang="en-US" sz="880" b="1" dirty="0">
                <a:solidFill>
                  <a:srgbClr val="1A5490"/>
                </a:solidFill>
                <a:latin typeface="Calibri" pitchFamily="34" charset="0"/>
                <a:ea typeface="Calibri" pitchFamily="34" charset="-122"/>
                <a:cs typeface="Calibri" pitchFamily="34" charset="-120"/>
              </a:rPr>
              <a:t>INPUT · Ranking consolidado + cluster label</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Corte priorizado: Top 50 score + segmentos PROTECT &amp; GROW  y ACCELERATE. Se reordena por churn_risk para proteger revenue en riesgo.</a:t>
            </a:r>
            <a:endParaRPr lang="en-US" sz="900" dirty="0"/>
          </a:p>
          <a:p>
            <a:pPr marL="0" indent="0">
              <a:lnSpc>
                <a:spcPct val="115000"/>
              </a:lnSpc>
              <a:buNone/>
            </a:pPr>
            <a:endParaRPr lang="en-US" sz="900" dirty="0"/>
          </a:p>
          <a:p>
            <a:pPr marL="0" indent="0">
              <a:lnSpc>
                <a:spcPct val="115000"/>
              </a:lnSpc>
              <a:buNone/>
            </a:pPr>
            <a:r>
              <a:rPr lang="en-US" sz="880" b="1" dirty="0">
                <a:solidFill>
                  <a:srgbClr val="1A5490"/>
                </a:solidFill>
                <a:latin typeface="Calibri" pitchFamily="34" charset="0"/>
                <a:ea typeface="Calibri" pitchFamily="34" charset="-122"/>
                <a:cs typeface="Calibri" pitchFamily="34" charset="-120"/>
              </a:rPr>
              <a:t>OUTPUT · Universo foco de 146 empresas accionables</a:t>
            </a:r>
            <a:endParaRPr lang="en-US" sz="900" dirty="0"/>
          </a:p>
        </p:txBody>
      </p:sp>
      <p:sp>
        <p:nvSpPr>
          <p:cNvPr id="20" name="Shape 18"/>
          <p:cNvSpPr/>
          <p:nvPr/>
        </p:nvSpPr>
        <p:spPr>
          <a:xfrm>
            <a:off x="4210812" y="3141630"/>
            <a:ext cx="3803904" cy="347472"/>
          </a:xfrm>
          <a:prstGeom prst="rect">
            <a:avLst/>
          </a:prstGeom>
          <a:solidFill>
            <a:srgbClr val="F7F3EE"/>
          </a:solidFill>
          <a:ln w="12700">
            <a:solidFill>
              <a:srgbClr val="F7F3EE"/>
            </a:solidFill>
            <a:prstDash val="solid"/>
          </a:ln>
        </p:spPr>
        <p:txBody>
          <a:bodyPr/>
          <a:lstStyle/>
          <a:p>
            <a:endParaRPr lang="es-PE"/>
          </a:p>
        </p:txBody>
      </p:sp>
      <p:sp>
        <p:nvSpPr>
          <p:cNvPr id="21" name="Text 19"/>
          <p:cNvSpPr/>
          <p:nvPr/>
        </p:nvSpPr>
        <p:spPr>
          <a:xfrm>
            <a:off x="4329684" y="3159918"/>
            <a:ext cx="3566160" cy="320040"/>
          </a:xfrm>
          <a:prstGeom prst="rect">
            <a:avLst/>
          </a:prstGeom>
          <a:noFill/>
          <a:ln/>
        </p:spPr>
        <p:txBody>
          <a:bodyPr wrap="square" lIns="0" tIns="0" rIns="0" bIns="0" rtlCol="0" anchor="ctr"/>
          <a:lstStyle/>
          <a:p>
            <a:pPr marL="0" indent="0">
              <a:buNone/>
            </a:pPr>
            <a:r>
              <a:rPr lang="en-US" sz="800" b="1" dirty="0">
                <a:solidFill>
                  <a:srgbClr val="1A5490"/>
                </a:solidFill>
                <a:latin typeface="Calibri" pitchFamily="34" charset="0"/>
                <a:ea typeface="Calibri" pitchFamily="34" charset="-122"/>
                <a:cs typeface="Calibri" pitchFamily="34" charset="-120"/>
              </a:rPr>
              <a:t>VALOR COMERCIAL  </a:t>
            </a:r>
            <a:r>
              <a:rPr lang="en-US" sz="880" i="1" dirty="0">
                <a:solidFill>
                  <a:srgbClr val="333333"/>
                </a:solidFill>
                <a:latin typeface="Calibri" pitchFamily="34" charset="0"/>
                <a:ea typeface="Calibri" pitchFamily="34" charset="-122"/>
                <a:cs typeface="Calibri" pitchFamily="34" charset="-120"/>
              </a:rPr>
              <a:t>Foco comercial en el 22 % que concentra el 71 % del revenue</a:t>
            </a:r>
            <a:endParaRPr lang="en-US" sz="800" dirty="0"/>
          </a:p>
        </p:txBody>
      </p:sp>
      <p:sp>
        <p:nvSpPr>
          <p:cNvPr id="22" name="Shape 20"/>
          <p:cNvSpPr/>
          <p:nvPr/>
        </p:nvSpPr>
        <p:spPr>
          <a:xfrm>
            <a:off x="8231360" y="1388113"/>
            <a:ext cx="3840480" cy="2148840"/>
          </a:xfrm>
          <a:prstGeom prst="roundRect">
            <a:avLst>
              <a:gd name="adj" fmla="val 3404"/>
            </a:avLst>
          </a:prstGeom>
          <a:solidFill>
            <a:srgbClr val="FFFFFF"/>
          </a:solidFill>
          <a:ln w="25400">
            <a:solidFill>
              <a:srgbClr val="4E8B9F"/>
            </a:solidFill>
            <a:prstDash val="solid"/>
          </a:ln>
        </p:spPr>
        <p:txBody>
          <a:bodyPr/>
          <a:lstStyle/>
          <a:p>
            <a:endParaRPr lang="es-PE"/>
          </a:p>
        </p:txBody>
      </p:sp>
      <p:sp>
        <p:nvSpPr>
          <p:cNvPr id="23" name="Shape 21"/>
          <p:cNvSpPr/>
          <p:nvPr/>
        </p:nvSpPr>
        <p:spPr>
          <a:xfrm>
            <a:off x="8231360" y="1388113"/>
            <a:ext cx="3840480" cy="475488"/>
          </a:xfrm>
          <a:prstGeom prst="roundRect">
            <a:avLst>
              <a:gd name="adj" fmla="val 15385"/>
            </a:avLst>
          </a:prstGeom>
          <a:solidFill>
            <a:srgbClr val="4E8B9F"/>
          </a:solidFill>
          <a:ln w="12700">
            <a:solidFill>
              <a:srgbClr val="4E8B9F"/>
            </a:solidFill>
            <a:prstDash val="solid"/>
          </a:ln>
        </p:spPr>
        <p:txBody>
          <a:bodyPr/>
          <a:lstStyle/>
          <a:p>
            <a:endParaRPr lang="es-PE"/>
          </a:p>
        </p:txBody>
      </p:sp>
      <p:sp>
        <p:nvSpPr>
          <p:cNvPr id="24" name="Text 22"/>
          <p:cNvSpPr/>
          <p:nvPr/>
        </p:nvSpPr>
        <p:spPr>
          <a:xfrm>
            <a:off x="8368520" y="1479553"/>
            <a:ext cx="9144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FASE 3</a:t>
            </a:r>
            <a:endParaRPr lang="en-US" sz="1100" dirty="0"/>
          </a:p>
        </p:txBody>
      </p:sp>
      <p:sp>
        <p:nvSpPr>
          <p:cNvPr id="25" name="Text 23"/>
          <p:cNvSpPr/>
          <p:nvPr/>
        </p:nvSpPr>
        <p:spPr>
          <a:xfrm>
            <a:off x="11386040" y="1424689"/>
            <a:ext cx="54864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6" name="Text 24"/>
          <p:cNvSpPr/>
          <p:nvPr/>
        </p:nvSpPr>
        <p:spPr>
          <a:xfrm>
            <a:off x="9237200" y="1479553"/>
            <a:ext cx="2103120" cy="292608"/>
          </a:xfrm>
          <a:prstGeom prst="rect">
            <a:avLst/>
          </a:prstGeom>
          <a:noFill/>
          <a:ln/>
        </p:spPr>
        <p:txBody>
          <a:bodyPr wrap="square" lIns="0" tIns="0" rIns="0" bIns="0" rtlCol="0" anchor="ctr"/>
          <a:lstStyle/>
          <a:p>
            <a:pPr marL="0" indent="0" algn="l">
              <a:buNone/>
            </a:pPr>
            <a:r>
              <a:rPr lang="en-US" sz="1250" b="1" dirty="0">
                <a:solidFill>
                  <a:srgbClr val="FFFFFF"/>
                </a:solidFill>
                <a:latin typeface="Georgia" pitchFamily="34" charset="0"/>
                <a:ea typeface="Georgia" pitchFamily="34" charset="-122"/>
                <a:cs typeface="Georgia" pitchFamily="34" charset="-120"/>
              </a:rPr>
              <a:t>EXTRACTOR PÚBLICO</a:t>
            </a:r>
            <a:endParaRPr lang="en-US" sz="1250" dirty="0"/>
          </a:p>
        </p:txBody>
      </p:sp>
      <p:sp>
        <p:nvSpPr>
          <p:cNvPr id="27" name="Text 25"/>
          <p:cNvSpPr/>
          <p:nvPr/>
        </p:nvSpPr>
        <p:spPr>
          <a:xfrm>
            <a:off x="8368520" y="1936753"/>
            <a:ext cx="3566160" cy="1143000"/>
          </a:xfrm>
          <a:prstGeom prst="rect">
            <a:avLst/>
          </a:prstGeom>
          <a:noFill/>
          <a:ln/>
        </p:spPr>
        <p:txBody>
          <a:bodyPr wrap="square" lIns="0" tIns="0" rIns="0" bIns="0" rtlCol="0" anchor="t"/>
          <a:lstStyle/>
          <a:p>
            <a:pPr marL="0" indent="0">
              <a:lnSpc>
                <a:spcPct val="115000"/>
              </a:lnSpc>
              <a:buNone/>
            </a:pPr>
            <a:r>
              <a:rPr lang="en-US" sz="880" b="1" dirty="0">
                <a:solidFill>
                  <a:srgbClr val="4E8B9F"/>
                </a:solidFill>
                <a:latin typeface="Calibri" pitchFamily="34" charset="0"/>
                <a:ea typeface="Calibri" pitchFamily="34" charset="-122"/>
                <a:cs typeface="Calibri" pitchFamily="34" charset="-120"/>
              </a:rPr>
              <a:t>INPUT · RUC + razón social de cada target</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Scraping automatizado de fuentes regulatorias y de mercado: BVL (reportes anuales), SMV (hechos de importancia, EEFF), SBS (solvencia/ratings). </a:t>
            </a:r>
            <a:r>
              <a:rPr lang="en-US" sz="900" dirty="0" err="1">
                <a:solidFill>
                  <a:srgbClr val="333333"/>
                </a:solidFill>
                <a:latin typeface="Calibri" pitchFamily="34" charset="0"/>
                <a:ea typeface="Calibri" pitchFamily="34" charset="-122"/>
                <a:cs typeface="Calibri" pitchFamily="34" charset="-120"/>
              </a:rPr>
              <a:t>Aparte</a:t>
            </a:r>
            <a:r>
              <a:rPr lang="en-US" sz="900" dirty="0">
                <a:solidFill>
                  <a:srgbClr val="333333"/>
                </a:solidFill>
                <a:latin typeface="Calibri" pitchFamily="34" charset="0"/>
                <a:ea typeface="Calibri" pitchFamily="34" charset="-122"/>
                <a:cs typeface="Calibri" pitchFamily="34" charset="-120"/>
              </a:rPr>
              <a:t> de </a:t>
            </a:r>
            <a:r>
              <a:rPr lang="en-US" sz="900" dirty="0" err="1">
                <a:solidFill>
                  <a:srgbClr val="333333"/>
                </a:solidFill>
                <a:latin typeface="Calibri" pitchFamily="34" charset="0"/>
                <a:ea typeface="Calibri" pitchFamily="34" charset="-122"/>
                <a:cs typeface="Calibri" pitchFamily="34" charset="-120"/>
              </a:rPr>
              <a:t>Extracción</a:t>
            </a:r>
            <a:r>
              <a:rPr lang="en-US" sz="900" dirty="0">
                <a:solidFill>
                  <a:srgbClr val="333333"/>
                </a:solidFill>
                <a:latin typeface="Calibri" pitchFamily="34" charset="0"/>
                <a:ea typeface="Calibri" pitchFamily="34" charset="-122"/>
                <a:cs typeface="Calibri" pitchFamily="34" charset="-120"/>
              </a:rPr>
              <a:t> de Noticias </a:t>
            </a:r>
            <a:r>
              <a:rPr lang="en-US" sz="900" dirty="0" err="1">
                <a:solidFill>
                  <a:srgbClr val="333333"/>
                </a:solidFill>
                <a:latin typeface="Calibri" pitchFamily="34" charset="0"/>
                <a:ea typeface="Calibri" pitchFamily="34" charset="-122"/>
                <a:cs typeface="Calibri" pitchFamily="34" charset="-120"/>
              </a:rPr>
              <a:t>por</a:t>
            </a:r>
            <a:r>
              <a:rPr lang="en-US" sz="900" dirty="0">
                <a:solidFill>
                  <a:srgbClr val="333333"/>
                </a:solidFill>
                <a:latin typeface="Calibri" pitchFamily="34" charset="0"/>
                <a:ea typeface="Calibri" pitchFamily="34" charset="-122"/>
                <a:cs typeface="Calibri" pitchFamily="34" charset="-120"/>
              </a:rPr>
              <a:t> Empresa. </a:t>
            </a:r>
          </a:p>
          <a:p>
            <a:pPr marL="0" indent="0">
              <a:lnSpc>
                <a:spcPct val="115000"/>
              </a:lnSpc>
              <a:buNone/>
            </a:pPr>
            <a:endParaRPr lang="en-US" sz="900" dirty="0"/>
          </a:p>
          <a:p>
            <a:pPr marL="0" indent="0">
              <a:lnSpc>
                <a:spcPct val="115000"/>
              </a:lnSpc>
              <a:buNone/>
            </a:pPr>
            <a:r>
              <a:rPr lang="en-US" sz="880" b="1" dirty="0">
                <a:solidFill>
                  <a:srgbClr val="1A5490"/>
                </a:solidFill>
                <a:latin typeface="Calibri" pitchFamily="34" charset="0"/>
                <a:ea typeface="Calibri" pitchFamily="34" charset="-122"/>
                <a:cs typeface="Calibri" pitchFamily="34" charset="-120"/>
              </a:rPr>
              <a:t>OUTPUT · Dataset estructurado por empresa y periodo</a:t>
            </a:r>
            <a:endParaRPr lang="en-US" sz="900" dirty="0"/>
          </a:p>
        </p:txBody>
      </p:sp>
      <p:sp>
        <p:nvSpPr>
          <p:cNvPr id="28" name="Shape 26"/>
          <p:cNvSpPr/>
          <p:nvPr/>
        </p:nvSpPr>
        <p:spPr>
          <a:xfrm>
            <a:off x="8249648" y="3152905"/>
            <a:ext cx="3803904" cy="347472"/>
          </a:xfrm>
          <a:prstGeom prst="rect">
            <a:avLst/>
          </a:prstGeom>
          <a:solidFill>
            <a:srgbClr val="F7F3EE"/>
          </a:solidFill>
          <a:ln w="12700">
            <a:solidFill>
              <a:srgbClr val="F7F3EE"/>
            </a:solidFill>
            <a:prstDash val="solid"/>
          </a:ln>
        </p:spPr>
        <p:txBody>
          <a:bodyPr/>
          <a:lstStyle/>
          <a:p>
            <a:endParaRPr lang="es-PE"/>
          </a:p>
        </p:txBody>
      </p:sp>
      <p:sp>
        <p:nvSpPr>
          <p:cNvPr id="29" name="Text 27"/>
          <p:cNvSpPr/>
          <p:nvPr/>
        </p:nvSpPr>
        <p:spPr>
          <a:xfrm>
            <a:off x="8368520" y="3171193"/>
            <a:ext cx="3566160" cy="320040"/>
          </a:xfrm>
          <a:prstGeom prst="rect">
            <a:avLst/>
          </a:prstGeom>
          <a:noFill/>
          <a:ln/>
        </p:spPr>
        <p:txBody>
          <a:bodyPr wrap="square" lIns="0" tIns="0" rIns="0" bIns="0" rtlCol="0" anchor="ctr"/>
          <a:lstStyle/>
          <a:p>
            <a:pPr marL="0" indent="0">
              <a:buNone/>
            </a:pPr>
            <a:r>
              <a:rPr lang="en-US" sz="800" b="1" dirty="0">
                <a:solidFill>
                  <a:srgbClr val="4E8B9F"/>
                </a:solidFill>
                <a:latin typeface="Calibri" pitchFamily="34" charset="0"/>
                <a:ea typeface="Calibri" pitchFamily="34" charset="-122"/>
                <a:cs typeface="Calibri" pitchFamily="34" charset="-120"/>
              </a:rPr>
              <a:t>VALOR COMERCIAL  </a:t>
            </a:r>
            <a:r>
              <a:rPr lang="en-US" sz="880" i="1" dirty="0">
                <a:solidFill>
                  <a:srgbClr val="333333"/>
                </a:solidFill>
                <a:latin typeface="Calibri" pitchFamily="34" charset="0"/>
                <a:ea typeface="Calibri" pitchFamily="34" charset="-122"/>
                <a:cs typeface="Calibri" pitchFamily="34" charset="-120"/>
              </a:rPr>
              <a:t>Inteligencia pública enriquece el diagnóstico sin costo adicional</a:t>
            </a:r>
            <a:endParaRPr lang="en-US" sz="800" dirty="0"/>
          </a:p>
        </p:txBody>
      </p:sp>
      <p:sp>
        <p:nvSpPr>
          <p:cNvPr id="30" name="Shape 28"/>
          <p:cNvSpPr/>
          <p:nvPr/>
        </p:nvSpPr>
        <p:spPr>
          <a:xfrm>
            <a:off x="8231360" y="3719833"/>
            <a:ext cx="3840480" cy="2148840"/>
          </a:xfrm>
          <a:prstGeom prst="roundRect">
            <a:avLst>
              <a:gd name="adj" fmla="val 3404"/>
            </a:avLst>
          </a:prstGeom>
          <a:solidFill>
            <a:srgbClr val="FFFFFF"/>
          </a:solidFill>
          <a:ln w="25400">
            <a:solidFill>
              <a:srgbClr val="D4A843"/>
            </a:solidFill>
            <a:prstDash val="solid"/>
          </a:ln>
        </p:spPr>
        <p:txBody>
          <a:bodyPr/>
          <a:lstStyle/>
          <a:p>
            <a:endParaRPr lang="es-PE"/>
          </a:p>
        </p:txBody>
      </p:sp>
      <p:sp>
        <p:nvSpPr>
          <p:cNvPr id="31" name="Shape 29"/>
          <p:cNvSpPr/>
          <p:nvPr/>
        </p:nvSpPr>
        <p:spPr>
          <a:xfrm>
            <a:off x="8231360" y="3719833"/>
            <a:ext cx="3840480" cy="475488"/>
          </a:xfrm>
          <a:prstGeom prst="roundRect">
            <a:avLst>
              <a:gd name="adj" fmla="val 15385"/>
            </a:avLst>
          </a:prstGeom>
          <a:solidFill>
            <a:srgbClr val="D4A843"/>
          </a:solidFill>
          <a:ln w="12700">
            <a:solidFill>
              <a:srgbClr val="D4A843"/>
            </a:solidFill>
            <a:prstDash val="solid"/>
          </a:ln>
        </p:spPr>
        <p:txBody>
          <a:bodyPr/>
          <a:lstStyle/>
          <a:p>
            <a:endParaRPr lang="es-PE"/>
          </a:p>
        </p:txBody>
      </p:sp>
      <p:sp>
        <p:nvSpPr>
          <p:cNvPr id="32" name="Text 30"/>
          <p:cNvSpPr/>
          <p:nvPr/>
        </p:nvSpPr>
        <p:spPr>
          <a:xfrm>
            <a:off x="8368520" y="3811273"/>
            <a:ext cx="9144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FASE 4</a:t>
            </a:r>
            <a:endParaRPr lang="en-US" sz="1100" dirty="0"/>
          </a:p>
        </p:txBody>
      </p:sp>
      <p:sp>
        <p:nvSpPr>
          <p:cNvPr id="33" name="Text 31"/>
          <p:cNvSpPr/>
          <p:nvPr/>
        </p:nvSpPr>
        <p:spPr>
          <a:xfrm>
            <a:off x="11386040" y="3756409"/>
            <a:ext cx="54864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4" name="Text 32"/>
          <p:cNvSpPr/>
          <p:nvPr/>
        </p:nvSpPr>
        <p:spPr>
          <a:xfrm>
            <a:off x="9237200" y="3811273"/>
            <a:ext cx="2103120" cy="292608"/>
          </a:xfrm>
          <a:prstGeom prst="rect">
            <a:avLst/>
          </a:prstGeom>
          <a:noFill/>
          <a:ln/>
        </p:spPr>
        <p:txBody>
          <a:bodyPr wrap="square" lIns="0" tIns="0" rIns="0" bIns="0" rtlCol="0" anchor="ctr"/>
          <a:lstStyle/>
          <a:p>
            <a:pPr marL="0" indent="0" algn="l">
              <a:buNone/>
            </a:pPr>
            <a:r>
              <a:rPr lang="en-US" sz="1250" b="1" dirty="0">
                <a:solidFill>
                  <a:srgbClr val="FFFFFF"/>
                </a:solidFill>
                <a:latin typeface="Georgia" pitchFamily="34" charset="0"/>
                <a:ea typeface="Georgia" pitchFamily="34" charset="-122"/>
                <a:cs typeface="Georgia" pitchFamily="34" charset="-120"/>
              </a:rPr>
              <a:t>OUTPUT INFORMACIÓN</a:t>
            </a:r>
            <a:endParaRPr lang="en-US" sz="1250" dirty="0"/>
          </a:p>
        </p:txBody>
      </p:sp>
      <p:sp>
        <p:nvSpPr>
          <p:cNvPr id="35" name="Text 33"/>
          <p:cNvSpPr/>
          <p:nvPr/>
        </p:nvSpPr>
        <p:spPr>
          <a:xfrm>
            <a:off x="8368520" y="4268473"/>
            <a:ext cx="3566160" cy="1143000"/>
          </a:xfrm>
          <a:prstGeom prst="rect">
            <a:avLst/>
          </a:prstGeom>
          <a:noFill/>
          <a:ln/>
        </p:spPr>
        <p:txBody>
          <a:bodyPr wrap="square" lIns="0" tIns="0" rIns="0" bIns="0" rtlCol="0" anchor="t"/>
          <a:lstStyle/>
          <a:p>
            <a:pPr marL="0" indent="0">
              <a:lnSpc>
                <a:spcPct val="115000"/>
              </a:lnSpc>
              <a:buNone/>
            </a:pPr>
            <a:r>
              <a:rPr lang="en-US" sz="880" b="1" dirty="0">
                <a:solidFill>
                  <a:srgbClr val="D4A843"/>
                </a:solidFill>
                <a:latin typeface="Calibri" pitchFamily="34" charset="0"/>
                <a:ea typeface="Calibri" pitchFamily="34" charset="-122"/>
                <a:cs typeface="Calibri" pitchFamily="34" charset="-120"/>
              </a:rPr>
              <a:t>INPUT · Fuentes externas + scoring + histórico FIN</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Consolidación en ficha ejecutiva única: EEFF, hechos de importancia, regulación vigente, cambio de auditor, fusiones/adquisiciones, sanciones, Temas de </a:t>
            </a:r>
            <a:r>
              <a:rPr lang="en-US" sz="900" dirty="0" err="1">
                <a:solidFill>
                  <a:srgbClr val="333333"/>
                </a:solidFill>
                <a:latin typeface="Calibri" pitchFamily="34" charset="0"/>
                <a:ea typeface="Calibri" pitchFamily="34" charset="-122"/>
                <a:cs typeface="Calibri" pitchFamily="34" charset="-120"/>
              </a:rPr>
              <a:t>Interés</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Reportes</a:t>
            </a:r>
            <a:r>
              <a:rPr lang="en-US" sz="900" dirty="0">
                <a:solidFill>
                  <a:srgbClr val="333333"/>
                </a:solidFill>
                <a:latin typeface="Calibri" pitchFamily="34" charset="0"/>
                <a:ea typeface="Calibri" pitchFamily="34" charset="-122"/>
                <a:cs typeface="Calibri" pitchFamily="34" charset="-120"/>
              </a:rPr>
              <a:t> ESG. </a:t>
            </a:r>
            <a:endParaRPr lang="en-US" sz="900" dirty="0"/>
          </a:p>
          <a:p>
            <a:pPr marL="0" indent="0">
              <a:lnSpc>
                <a:spcPct val="115000"/>
              </a:lnSpc>
              <a:buNone/>
            </a:pPr>
            <a:endParaRPr lang="en-US" sz="900" dirty="0"/>
          </a:p>
          <a:p>
            <a:pPr>
              <a:lnSpc>
                <a:spcPct val="115000"/>
              </a:lnSpc>
            </a:pPr>
            <a:r>
              <a:rPr lang="en-US" sz="880" b="1" dirty="0">
                <a:solidFill>
                  <a:srgbClr val="1A5490"/>
                </a:solidFill>
                <a:latin typeface="Calibri" pitchFamily="34" charset="0"/>
                <a:ea typeface="Calibri" pitchFamily="34" charset="-122"/>
                <a:cs typeface="Calibri" pitchFamily="34" charset="-120"/>
              </a:rPr>
              <a:t>OUTPUT · Ficha 360° por target (PDF → Excel)</a:t>
            </a:r>
            <a:endParaRPr lang="en-US" sz="900" dirty="0"/>
          </a:p>
        </p:txBody>
      </p:sp>
      <p:sp>
        <p:nvSpPr>
          <p:cNvPr id="36" name="Shape 34"/>
          <p:cNvSpPr/>
          <p:nvPr/>
        </p:nvSpPr>
        <p:spPr>
          <a:xfrm>
            <a:off x="8249648" y="5484625"/>
            <a:ext cx="3803904" cy="347472"/>
          </a:xfrm>
          <a:prstGeom prst="rect">
            <a:avLst/>
          </a:prstGeom>
          <a:solidFill>
            <a:srgbClr val="F7F3EE"/>
          </a:solidFill>
          <a:ln w="12700">
            <a:solidFill>
              <a:srgbClr val="F7F3EE"/>
            </a:solidFill>
            <a:prstDash val="solid"/>
          </a:ln>
        </p:spPr>
        <p:txBody>
          <a:bodyPr/>
          <a:lstStyle/>
          <a:p>
            <a:endParaRPr lang="es-PE"/>
          </a:p>
        </p:txBody>
      </p:sp>
      <p:sp>
        <p:nvSpPr>
          <p:cNvPr id="37" name="Text 35"/>
          <p:cNvSpPr/>
          <p:nvPr/>
        </p:nvSpPr>
        <p:spPr>
          <a:xfrm>
            <a:off x="8368520" y="5502913"/>
            <a:ext cx="3566160" cy="320040"/>
          </a:xfrm>
          <a:prstGeom prst="rect">
            <a:avLst/>
          </a:prstGeom>
          <a:noFill/>
          <a:ln/>
        </p:spPr>
        <p:txBody>
          <a:bodyPr wrap="square" lIns="0" tIns="0" rIns="0" bIns="0" rtlCol="0" anchor="ctr"/>
          <a:lstStyle/>
          <a:p>
            <a:pPr marL="0" indent="0">
              <a:buNone/>
            </a:pPr>
            <a:r>
              <a:rPr lang="en-US" sz="800" b="1" dirty="0">
                <a:solidFill>
                  <a:srgbClr val="D4A843"/>
                </a:solidFill>
                <a:latin typeface="Calibri" pitchFamily="34" charset="0"/>
                <a:ea typeface="Calibri" pitchFamily="34" charset="-122"/>
                <a:cs typeface="Calibri" pitchFamily="34" charset="-120"/>
              </a:rPr>
              <a:t>VALOR COMERCIAL  </a:t>
            </a:r>
            <a:r>
              <a:rPr lang="en-US" sz="880" i="1" dirty="0">
                <a:solidFill>
                  <a:srgbClr val="333333"/>
                </a:solidFill>
                <a:latin typeface="Calibri" pitchFamily="34" charset="0"/>
                <a:ea typeface="Calibri" pitchFamily="34" charset="-122"/>
                <a:cs typeface="Calibri" pitchFamily="34" charset="-120"/>
              </a:rPr>
              <a:t>Reduce el tiempo de </a:t>
            </a:r>
            <a:r>
              <a:rPr lang="en-US" sz="880" i="1" dirty="0" err="1">
                <a:solidFill>
                  <a:srgbClr val="333333"/>
                </a:solidFill>
                <a:latin typeface="Calibri" pitchFamily="34" charset="0"/>
                <a:ea typeface="Calibri" pitchFamily="34" charset="-122"/>
                <a:cs typeface="Calibri" pitchFamily="34" charset="-120"/>
              </a:rPr>
              <a:t>preparación</a:t>
            </a:r>
            <a:r>
              <a:rPr lang="en-US" sz="880" i="1" dirty="0">
                <a:solidFill>
                  <a:srgbClr val="333333"/>
                </a:solidFill>
                <a:latin typeface="Calibri" pitchFamily="34" charset="0"/>
                <a:ea typeface="Calibri" pitchFamily="34" charset="-122"/>
                <a:cs typeface="Calibri" pitchFamily="34" charset="-120"/>
              </a:rPr>
              <a:t> de días a minutos</a:t>
            </a:r>
            <a:endParaRPr lang="en-US" sz="800" dirty="0"/>
          </a:p>
        </p:txBody>
      </p:sp>
      <p:sp>
        <p:nvSpPr>
          <p:cNvPr id="38" name="Shape 36"/>
          <p:cNvSpPr/>
          <p:nvPr/>
        </p:nvSpPr>
        <p:spPr>
          <a:xfrm>
            <a:off x="4192524" y="3708558"/>
            <a:ext cx="3840480" cy="2148840"/>
          </a:xfrm>
          <a:prstGeom prst="roundRect">
            <a:avLst>
              <a:gd name="adj" fmla="val 3404"/>
            </a:avLst>
          </a:prstGeom>
          <a:solidFill>
            <a:srgbClr val="FFFFFF"/>
          </a:solidFill>
          <a:ln w="25400">
            <a:solidFill>
              <a:srgbClr val="C0392B"/>
            </a:solidFill>
            <a:prstDash val="solid"/>
          </a:ln>
        </p:spPr>
        <p:txBody>
          <a:bodyPr/>
          <a:lstStyle/>
          <a:p>
            <a:endParaRPr lang="es-PE"/>
          </a:p>
        </p:txBody>
      </p:sp>
      <p:sp>
        <p:nvSpPr>
          <p:cNvPr id="39" name="Shape 37"/>
          <p:cNvSpPr/>
          <p:nvPr/>
        </p:nvSpPr>
        <p:spPr>
          <a:xfrm>
            <a:off x="4192524" y="3708558"/>
            <a:ext cx="3840480" cy="475488"/>
          </a:xfrm>
          <a:prstGeom prst="roundRect">
            <a:avLst>
              <a:gd name="adj" fmla="val 15385"/>
            </a:avLst>
          </a:prstGeom>
          <a:solidFill>
            <a:srgbClr val="C0392B"/>
          </a:solidFill>
          <a:ln w="12700">
            <a:solidFill>
              <a:srgbClr val="C0392B"/>
            </a:solidFill>
            <a:prstDash val="solid"/>
          </a:ln>
        </p:spPr>
        <p:txBody>
          <a:bodyPr/>
          <a:lstStyle/>
          <a:p>
            <a:endParaRPr lang="es-PE"/>
          </a:p>
        </p:txBody>
      </p:sp>
      <p:sp>
        <p:nvSpPr>
          <p:cNvPr id="40" name="Text 38"/>
          <p:cNvSpPr/>
          <p:nvPr/>
        </p:nvSpPr>
        <p:spPr>
          <a:xfrm>
            <a:off x="4329684" y="3799998"/>
            <a:ext cx="9144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FASE 5</a:t>
            </a:r>
            <a:endParaRPr lang="en-US" sz="1100" dirty="0"/>
          </a:p>
        </p:txBody>
      </p:sp>
      <p:sp>
        <p:nvSpPr>
          <p:cNvPr id="41" name="Text 39"/>
          <p:cNvSpPr/>
          <p:nvPr/>
        </p:nvSpPr>
        <p:spPr>
          <a:xfrm>
            <a:off x="7347204" y="3745134"/>
            <a:ext cx="54864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42" name="Text 40"/>
          <p:cNvSpPr/>
          <p:nvPr/>
        </p:nvSpPr>
        <p:spPr>
          <a:xfrm>
            <a:off x="5198364" y="3799998"/>
            <a:ext cx="2103120" cy="292608"/>
          </a:xfrm>
          <a:prstGeom prst="rect">
            <a:avLst/>
          </a:prstGeom>
          <a:noFill/>
          <a:ln/>
        </p:spPr>
        <p:txBody>
          <a:bodyPr wrap="square" lIns="0" tIns="0" rIns="0" bIns="0" rtlCol="0" anchor="ctr"/>
          <a:lstStyle/>
          <a:p>
            <a:pPr marL="0" indent="0" algn="l">
              <a:buNone/>
            </a:pPr>
            <a:r>
              <a:rPr lang="en-US" sz="1250" b="1" dirty="0">
                <a:solidFill>
                  <a:srgbClr val="FFFFFF"/>
                </a:solidFill>
                <a:latin typeface="Georgia" pitchFamily="34" charset="0"/>
                <a:ea typeface="Georgia" pitchFamily="34" charset="-122"/>
                <a:cs typeface="Georgia" pitchFamily="34" charset="-120"/>
              </a:rPr>
              <a:t>TEMAS SUB-LoS</a:t>
            </a:r>
            <a:endParaRPr lang="en-US" sz="1250" dirty="0"/>
          </a:p>
        </p:txBody>
      </p:sp>
      <p:sp>
        <p:nvSpPr>
          <p:cNvPr id="43" name="Text 41"/>
          <p:cNvSpPr/>
          <p:nvPr/>
        </p:nvSpPr>
        <p:spPr>
          <a:xfrm>
            <a:off x="4329684" y="4257198"/>
            <a:ext cx="3566160" cy="1143000"/>
          </a:xfrm>
          <a:prstGeom prst="rect">
            <a:avLst/>
          </a:prstGeom>
          <a:noFill/>
          <a:ln/>
        </p:spPr>
        <p:txBody>
          <a:bodyPr wrap="square" lIns="0" tIns="0" rIns="0" bIns="0" rtlCol="0" anchor="t"/>
          <a:lstStyle/>
          <a:p>
            <a:pPr marL="0" indent="0">
              <a:lnSpc>
                <a:spcPct val="115000"/>
              </a:lnSpc>
              <a:buNone/>
            </a:pPr>
            <a:r>
              <a:rPr lang="en-US" sz="880" b="1" dirty="0">
                <a:solidFill>
                  <a:srgbClr val="C0392B"/>
                </a:solidFill>
                <a:latin typeface="Calibri" pitchFamily="34" charset="0"/>
                <a:ea typeface="Calibri" pitchFamily="34" charset="-122"/>
                <a:cs typeface="Calibri" pitchFamily="34" charset="-120"/>
              </a:rPr>
              <a:t>INPUT · Ficha 360° + catálogo 11 Sub-LoS PwC Perú</a:t>
            </a:r>
            <a:endParaRPr lang="en-US" sz="900" dirty="0"/>
          </a:p>
          <a:p>
            <a:pPr marL="0" indent="0">
              <a:lnSpc>
                <a:spcPct val="115000"/>
              </a:lnSpc>
              <a:buNone/>
            </a:pPr>
            <a:r>
              <a:rPr lang="en-US" sz="900" dirty="0" err="1">
                <a:solidFill>
                  <a:srgbClr val="333333"/>
                </a:solidFill>
                <a:latin typeface="Calibri" pitchFamily="34" charset="0"/>
                <a:ea typeface="Calibri" pitchFamily="34" charset="-122"/>
                <a:cs typeface="Calibri" pitchFamily="34" charset="-120"/>
              </a:rPr>
              <a:t>Análisis</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por</a:t>
            </a:r>
            <a:r>
              <a:rPr lang="en-US" sz="900" dirty="0">
                <a:solidFill>
                  <a:srgbClr val="333333"/>
                </a:solidFill>
                <a:latin typeface="Calibri" pitchFamily="34" charset="0"/>
                <a:ea typeface="Calibri" pitchFamily="34" charset="-122"/>
                <a:cs typeface="Calibri" pitchFamily="34" charset="-120"/>
              </a:rPr>
              <a:t> cluster × Sub-LoS: se identifican servicios no vendidos y con demanda latente. Se alinea tema ganchero con </a:t>
            </a:r>
            <a:r>
              <a:rPr lang="en-US" sz="900" dirty="0" err="1">
                <a:solidFill>
                  <a:srgbClr val="333333"/>
                </a:solidFill>
                <a:latin typeface="Calibri" pitchFamily="34" charset="0"/>
                <a:ea typeface="Calibri" pitchFamily="34" charset="-122"/>
                <a:cs typeface="Calibri" pitchFamily="34" charset="-120"/>
              </a:rPr>
              <a:t>urgencia</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regulatoria</a:t>
            </a:r>
            <a:r>
              <a:rPr lang="en-US" sz="900" dirty="0">
                <a:solidFill>
                  <a:srgbClr val="333333"/>
                </a:solidFill>
                <a:latin typeface="Calibri" pitchFamily="34" charset="0"/>
                <a:ea typeface="Calibri" pitchFamily="34" charset="-122"/>
                <a:cs typeface="Calibri" pitchFamily="34" charset="-120"/>
              </a:rPr>
              <a:t>/</a:t>
            </a:r>
            <a:r>
              <a:rPr lang="en-US" sz="900" dirty="0" err="1">
                <a:solidFill>
                  <a:srgbClr val="333333"/>
                </a:solidFill>
                <a:latin typeface="Calibri" pitchFamily="34" charset="0"/>
                <a:ea typeface="Calibri" pitchFamily="34" charset="-122"/>
                <a:cs typeface="Calibri" pitchFamily="34" charset="-120"/>
              </a:rPr>
              <a:t>financiera</a:t>
            </a:r>
            <a:r>
              <a:rPr lang="en-US" sz="900" dirty="0">
                <a:solidFill>
                  <a:srgbClr val="333333"/>
                </a:solidFill>
                <a:latin typeface="Calibri" pitchFamily="34" charset="0"/>
                <a:ea typeface="Calibri" pitchFamily="34" charset="-122"/>
                <a:cs typeface="Calibri" pitchFamily="34" charset="-120"/>
              </a:rPr>
              <a:t>.</a:t>
            </a:r>
            <a:endParaRPr lang="en-US" sz="900" dirty="0"/>
          </a:p>
          <a:p>
            <a:pPr marL="0" indent="0">
              <a:lnSpc>
                <a:spcPct val="115000"/>
              </a:lnSpc>
              <a:buNone/>
            </a:pPr>
            <a:endParaRPr lang="en-US" sz="900" dirty="0"/>
          </a:p>
          <a:p>
            <a:pPr marL="0" indent="0">
              <a:lnSpc>
                <a:spcPct val="115000"/>
              </a:lnSpc>
              <a:buNone/>
            </a:pPr>
            <a:r>
              <a:rPr lang="en-US" sz="880" b="1" dirty="0">
                <a:solidFill>
                  <a:srgbClr val="1A5490"/>
                </a:solidFill>
                <a:latin typeface="Calibri" pitchFamily="34" charset="0"/>
                <a:ea typeface="Calibri" pitchFamily="34" charset="-122"/>
                <a:cs typeface="Calibri" pitchFamily="34" charset="-120"/>
              </a:rPr>
              <a:t>OUTPUT · Lista priorizada Sub-LoS × </a:t>
            </a:r>
            <a:r>
              <a:rPr lang="en-US" sz="880" b="1" dirty="0" err="1">
                <a:solidFill>
                  <a:srgbClr val="1A5490"/>
                </a:solidFill>
                <a:latin typeface="Calibri" pitchFamily="34" charset="0"/>
                <a:ea typeface="Calibri" pitchFamily="34" charset="-122"/>
                <a:cs typeface="Calibri" pitchFamily="34" charset="-120"/>
              </a:rPr>
              <a:t>empresa</a:t>
            </a:r>
            <a:r>
              <a:rPr lang="en-US" sz="880" b="1" dirty="0">
                <a:solidFill>
                  <a:srgbClr val="1A5490"/>
                </a:solidFill>
                <a:latin typeface="Calibri" pitchFamily="34" charset="0"/>
                <a:ea typeface="Calibri" pitchFamily="34" charset="-122"/>
                <a:cs typeface="Calibri" pitchFamily="34" charset="-120"/>
              </a:rPr>
              <a:t> (</a:t>
            </a:r>
            <a:r>
              <a:rPr lang="en-US" sz="880" b="1" dirty="0" err="1">
                <a:solidFill>
                  <a:srgbClr val="1A5490"/>
                </a:solidFill>
                <a:latin typeface="Calibri" pitchFamily="34" charset="0"/>
                <a:ea typeface="Calibri" pitchFamily="34" charset="-122"/>
                <a:cs typeface="Calibri" pitchFamily="34" charset="-120"/>
              </a:rPr>
              <a:t>Posibles</a:t>
            </a:r>
            <a:r>
              <a:rPr lang="en-US" sz="880" b="1" dirty="0">
                <a:solidFill>
                  <a:srgbClr val="1A5490"/>
                </a:solidFill>
                <a:latin typeface="Calibri" pitchFamily="34" charset="0"/>
                <a:ea typeface="Calibri" pitchFamily="34" charset="-122"/>
                <a:cs typeface="Calibri" pitchFamily="34" charset="-120"/>
              </a:rPr>
              <a:t> </a:t>
            </a:r>
            <a:r>
              <a:rPr lang="en-US" sz="880" b="1" dirty="0" err="1">
                <a:solidFill>
                  <a:srgbClr val="1A5490"/>
                </a:solidFill>
                <a:latin typeface="Calibri" pitchFamily="34" charset="0"/>
                <a:ea typeface="Calibri" pitchFamily="34" charset="-122"/>
                <a:cs typeface="Calibri" pitchFamily="34" charset="-120"/>
              </a:rPr>
              <a:t>Oportunidades</a:t>
            </a:r>
            <a:r>
              <a:rPr lang="en-US" sz="880" b="1" dirty="0">
                <a:solidFill>
                  <a:srgbClr val="1A5490"/>
                </a:solidFill>
                <a:latin typeface="Calibri" pitchFamily="34" charset="0"/>
                <a:ea typeface="Calibri" pitchFamily="34" charset="-122"/>
                <a:cs typeface="Calibri" pitchFamily="34" charset="-120"/>
              </a:rPr>
              <a:t>)</a:t>
            </a:r>
            <a:endParaRPr lang="en-US" sz="900" dirty="0"/>
          </a:p>
        </p:txBody>
      </p:sp>
      <p:sp>
        <p:nvSpPr>
          <p:cNvPr id="44" name="Shape 42"/>
          <p:cNvSpPr/>
          <p:nvPr/>
        </p:nvSpPr>
        <p:spPr>
          <a:xfrm>
            <a:off x="4210812" y="5473350"/>
            <a:ext cx="3803904" cy="347472"/>
          </a:xfrm>
          <a:prstGeom prst="rect">
            <a:avLst/>
          </a:prstGeom>
          <a:solidFill>
            <a:srgbClr val="F7F3EE"/>
          </a:solidFill>
          <a:ln w="12700">
            <a:solidFill>
              <a:srgbClr val="F7F3EE"/>
            </a:solidFill>
            <a:prstDash val="solid"/>
          </a:ln>
        </p:spPr>
        <p:txBody>
          <a:bodyPr/>
          <a:lstStyle/>
          <a:p>
            <a:endParaRPr lang="es-PE"/>
          </a:p>
        </p:txBody>
      </p:sp>
      <p:sp>
        <p:nvSpPr>
          <p:cNvPr id="45" name="Text 43"/>
          <p:cNvSpPr/>
          <p:nvPr/>
        </p:nvSpPr>
        <p:spPr>
          <a:xfrm>
            <a:off x="4329684" y="5491638"/>
            <a:ext cx="3566160" cy="320040"/>
          </a:xfrm>
          <a:prstGeom prst="rect">
            <a:avLst/>
          </a:prstGeom>
          <a:noFill/>
          <a:ln/>
        </p:spPr>
        <p:txBody>
          <a:bodyPr wrap="square" lIns="0" tIns="0" rIns="0" bIns="0"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VALOR COMERCIAL  </a:t>
            </a:r>
            <a:r>
              <a:rPr lang="en-US" sz="880" i="1" dirty="0">
                <a:solidFill>
                  <a:srgbClr val="333333"/>
                </a:solidFill>
                <a:latin typeface="Calibri" pitchFamily="34" charset="0"/>
                <a:ea typeface="Calibri" pitchFamily="34" charset="-122"/>
                <a:cs typeface="Calibri" pitchFamily="34" charset="-120"/>
              </a:rPr>
              <a:t>Cross-sell con justificación ejecutiva, no intuición</a:t>
            </a:r>
            <a:endParaRPr lang="en-US" sz="800" dirty="0"/>
          </a:p>
        </p:txBody>
      </p:sp>
      <p:sp>
        <p:nvSpPr>
          <p:cNvPr id="46" name="Shape 44"/>
          <p:cNvSpPr/>
          <p:nvPr/>
        </p:nvSpPr>
        <p:spPr>
          <a:xfrm>
            <a:off x="121447" y="3708558"/>
            <a:ext cx="3840480" cy="2148840"/>
          </a:xfrm>
          <a:prstGeom prst="roundRect">
            <a:avLst>
              <a:gd name="adj" fmla="val 3404"/>
            </a:avLst>
          </a:prstGeom>
          <a:solidFill>
            <a:srgbClr val="FFFFFF"/>
          </a:solidFill>
          <a:ln w="25400">
            <a:solidFill>
              <a:srgbClr val="27AE60"/>
            </a:solidFill>
            <a:prstDash val="solid"/>
          </a:ln>
        </p:spPr>
        <p:txBody>
          <a:bodyPr/>
          <a:lstStyle/>
          <a:p>
            <a:endParaRPr lang="es-PE"/>
          </a:p>
        </p:txBody>
      </p:sp>
      <p:sp>
        <p:nvSpPr>
          <p:cNvPr id="47" name="Shape 45"/>
          <p:cNvSpPr/>
          <p:nvPr/>
        </p:nvSpPr>
        <p:spPr>
          <a:xfrm>
            <a:off x="121447" y="3708558"/>
            <a:ext cx="3840480" cy="475488"/>
          </a:xfrm>
          <a:prstGeom prst="roundRect">
            <a:avLst>
              <a:gd name="adj" fmla="val 15385"/>
            </a:avLst>
          </a:prstGeom>
          <a:solidFill>
            <a:srgbClr val="27AE60"/>
          </a:solidFill>
          <a:ln w="12700">
            <a:solidFill>
              <a:srgbClr val="27AE60"/>
            </a:solidFill>
            <a:prstDash val="solid"/>
          </a:ln>
        </p:spPr>
        <p:txBody>
          <a:bodyPr/>
          <a:lstStyle/>
          <a:p>
            <a:endParaRPr lang="es-PE"/>
          </a:p>
        </p:txBody>
      </p:sp>
      <p:sp>
        <p:nvSpPr>
          <p:cNvPr id="48" name="Text 46"/>
          <p:cNvSpPr/>
          <p:nvPr/>
        </p:nvSpPr>
        <p:spPr>
          <a:xfrm>
            <a:off x="258607" y="3799998"/>
            <a:ext cx="9144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FASE 6</a:t>
            </a:r>
            <a:endParaRPr lang="en-US" sz="1100" dirty="0"/>
          </a:p>
        </p:txBody>
      </p:sp>
      <p:sp>
        <p:nvSpPr>
          <p:cNvPr id="49" name="Text 47"/>
          <p:cNvSpPr/>
          <p:nvPr/>
        </p:nvSpPr>
        <p:spPr>
          <a:xfrm>
            <a:off x="3276127" y="3745134"/>
            <a:ext cx="54864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50" name="Text 48"/>
          <p:cNvSpPr/>
          <p:nvPr/>
        </p:nvSpPr>
        <p:spPr>
          <a:xfrm>
            <a:off x="1127287" y="3799998"/>
            <a:ext cx="2103120" cy="292608"/>
          </a:xfrm>
          <a:prstGeom prst="rect">
            <a:avLst/>
          </a:prstGeom>
          <a:noFill/>
          <a:ln/>
        </p:spPr>
        <p:txBody>
          <a:bodyPr wrap="square" lIns="0" tIns="0" rIns="0" bIns="0" rtlCol="0" anchor="ctr"/>
          <a:lstStyle/>
          <a:p>
            <a:pPr marL="0" indent="0" algn="l">
              <a:buNone/>
            </a:pPr>
            <a:r>
              <a:rPr lang="en-US" sz="1250" b="1" dirty="0">
                <a:solidFill>
                  <a:srgbClr val="FFFFFF"/>
                </a:solidFill>
                <a:latin typeface="Georgia" pitchFamily="34" charset="0"/>
                <a:ea typeface="Georgia" pitchFamily="34" charset="-122"/>
                <a:cs typeface="Georgia" pitchFamily="34" charset="-120"/>
              </a:rPr>
              <a:t>NUEVAS OPORTUNIDADES</a:t>
            </a:r>
            <a:endParaRPr lang="en-US" sz="1250" dirty="0"/>
          </a:p>
        </p:txBody>
      </p:sp>
      <p:sp>
        <p:nvSpPr>
          <p:cNvPr id="51" name="Text 49"/>
          <p:cNvSpPr/>
          <p:nvPr/>
        </p:nvSpPr>
        <p:spPr>
          <a:xfrm>
            <a:off x="258607" y="4257198"/>
            <a:ext cx="3566160" cy="1143000"/>
          </a:xfrm>
          <a:prstGeom prst="rect">
            <a:avLst/>
          </a:prstGeom>
          <a:noFill/>
          <a:ln/>
        </p:spPr>
        <p:txBody>
          <a:bodyPr wrap="square" lIns="0" tIns="0" rIns="0" bIns="0" rtlCol="0" anchor="t"/>
          <a:lstStyle/>
          <a:p>
            <a:pPr marL="0" indent="0">
              <a:lnSpc>
                <a:spcPct val="115000"/>
              </a:lnSpc>
              <a:buNone/>
            </a:pPr>
            <a:r>
              <a:rPr lang="en-US" sz="880" b="1" dirty="0">
                <a:solidFill>
                  <a:srgbClr val="27AE60"/>
                </a:solidFill>
                <a:latin typeface="Calibri" pitchFamily="34" charset="0"/>
                <a:ea typeface="Calibri" pitchFamily="34" charset="-122"/>
                <a:cs typeface="Calibri" pitchFamily="34" charset="-120"/>
              </a:rPr>
              <a:t>INPUT · Todo lo anterior integrado</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Generación de propuestas concretas para el Account Manager: cross-sell, renovación, defensa de relación. Cada una con score, valor estimado y next best action.</a:t>
            </a:r>
            <a:endParaRPr lang="en-US" sz="900" dirty="0"/>
          </a:p>
          <a:p>
            <a:pPr marL="0" indent="0">
              <a:lnSpc>
                <a:spcPct val="115000"/>
              </a:lnSpc>
              <a:buNone/>
            </a:pPr>
            <a:endParaRPr lang="en-US" sz="900" dirty="0"/>
          </a:p>
          <a:p>
            <a:pPr marL="0" indent="0">
              <a:lnSpc>
                <a:spcPct val="115000"/>
              </a:lnSpc>
              <a:buNone/>
            </a:pPr>
            <a:r>
              <a:rPr lang="en-US" sz="880" b="1" dirty="0">
                <a:solidFill>
                  <a:srgbClr val="1A5490"/>
                </a:solidFill>
                <a:latin typeface="Calibri" pitchFamily="34" charset="0"/>
                <a:ea typeface="Calibri" pitchFamily="34" charset="-122"/>
                <a:cs typeface="Calibri" pitchFamily="34" charset="-120"/>
              </a:rPr>
              <a:t>OUTPUT · Paquete de </a:t>
            </a:r>
            <a:r>
              <a:rPr lang="en-US" sz="880" b="1" dirty="0" err="1">
                <a:solidFill>
                  <a:srgbClr val="1A5490"/>
                </a:solidFill>
                <a:latin typeface="Calibri" pitchFamily="34" charset="0"/>
                <a:ea typeface="Calibri" pitchFamily="34" charset="-122"/>
                <a:cs typeface="Calibri" pitchFamily="34" charset="-120"/>
              </a:rPr>
              <a:t>propuestas</a:t>
            </a:r>
            <a:r>
              <a:rPr lang="en-US" sz="880" b="1" dirty="0">
                <a:solidFill>
                  <a:srgbClr val="1A5490"/>
                </a:solidFill>
                <a:latin typeface="Calibri" pitchFamily="34" charset="0"/>
                <a:ea typeface="Calibri" pitchFamily="34" charset="-122"/>
                <a:cs typeface="Calibri" pitchFamily="34" charset="-120"/>
              </a:rPr>
              <a:t> y </a:t>
            </a:r>
            <a:r>
              <a:rPr lang="en-US" sz="880" b="1" dirty="0" err="1">
                <a:solidFill>
                  <a:srgbClr val="1A5490"/>
                </a:solidFill>
                <a:latin typeface="Calibri" pitchFamily="34" charset="0"/>
                <a:ea typeface="Calibri" pitchFamily="34" charset="-122"/>
                <a:cs typeface="Calibri" pitchFamily="34" charset="-120"/>
              </a:rPr>
              <a:t>Nuevas</a:t>
            </a:r>
            <a:r>
              <a:rPr lang="en-US" sz="880" b="1" dirty="0">
                <a:solidFill>
                  <a:srgbClr val="1A5490"/>
                </a:solidFill>
                <a:latin typeface="Calibri" pitchFamily="34" charset="0"/>
                <a:ea typeface="Calibri" pitchFamily="34" charset="-122"/>
                <a:cs typeface="Calibri" pitchFamily="34" charset="-120"/>
              </a:rPr>
              <a:t> </a:t>
            </a:r>
            <a:r>
              <a:rPr lang="en-US" sz="880" b="1" dirty="0" err="1">
                <a:solidFill>
                  <a:srgbClr val="1A5490"/>
                </a:solidFill>
                <a:latin typeface="Calibri" pitchFamily="34" charset="0"/>
                <a:ea typeface="Calibri" pitchFamily="34" charset="-122"/>
                <a:cs typeface="Calibri" pitchFamily="34" charset="-120"/>
              </a:rPr>
              <a:t>Oport</a:t>
            </a:r>
            <a:r>
              <a:rPr lang="en-US" sz="880" b="1" dirty="0">
                <a:solidFill>
                  <a:srgbClr val="1A5490"/>
                </a:solidFill>
                <a:latin typeface="Calibri" pitchFamily="34" charset="0"/>
                <a:ea typeface="Calibri" pitchFamily="34" charset="-122"/>
                <a:cs typeface="Calibri" pitchFamily="34" charset="-120"/>
              </a:rPr>
              <a:t>.</a:t>
            </a:r>
            <a:endParaRPr lang="en-US" sz="900" dirty="0"/>
          </a:p>
        </p:txBody>
      </p:sp>
      <p:sp>
        <p:nvSpPr>
          <p:cNvPr id="52" name="Shape 50"/>
          <p:cNvSpPr/>
          <p:nvPr/>
        </p:nvSpPr>
        <p:spPr>
          <a:xfrm>
            <a:off x="139735" y="5473350"/>
            <a:ext cx="3803904" cy="347472"/>
          </a:xfrm>
          <a:prstGeom prst="rect">
            <a:avLst/>
          </a:prstGeom>
          <a:solidFill>
            <a:srgbClr val="F7F3EE"/>
          </a:solidFill>
          <a:ln w="12700">
            <a:solidFill>
              <a:srgbClr val="F7F3EE"/>
            </a:solidFill>
            <a:prstDash val="solid"/>
          </a:ln>
        </p:spPr>
        <p:txBody>
          <a:bodyPr/>
          <a:lstStyle/>
          <a:p>
            <a:endParaRPr lang="es-PE"/>
          </a:p>
        </p:txBody>
      </p:sp>
      <p:sp>
        <p:nvSpPr>
          <p:cNvPr id="53" name="Text 51"/>
          <p:cNvSpPr/>
          <p:nvPr/>
        </p:nvSpPr>
        <p:spPr>
          <a:xfrm>
            <a:off x="237744" y="5491638"/>
            <a:ext cx="3566160" cy="320040"/>
          </a:xfrm>
          <a:prstGeom prst="rect">
            <a:avLst/>
          </a:prstGeom>
          <a:noFill/>
          <a:ln/>
        </p:spPr>
        <p:txBody>
          <a:bodyPr wrap="square" lIns="0" tIns="0" rIns="0" bIns="0" rtlCol="0" anchor="ctr"/>
          <a:lstStyle/>
          <a:p>
            <a:pPr marL="0" indent="0">
              <a:buNone/>
            </a:pPr>
            <a:r>
              <a:rPr lang="en-US" sz="800" b="1" dirty="0">
                <a:solidFill>
                  <a:srgbClr val="27AE60"/>
                </a:solidFill>
                <a:latin typeface="Calibri" pitchFamily="34" charset="0"/>
                <a:ea typeface="Calibri" pitchFamily="34" charset="-122"/>
                <a:cs typeface="Calibri" pitchFamily="34" charset="-120"/>
              </a:rPr>
              <a:t>VALOR COMERCIAL  </a:t>
            </a:r>
            <a:r>
              <a:rPr lang="en-US" sz="880" i="1" dirty="0" err="1">
                <a:solidFill>
                  <a:srgbClr val="333333"/>
                </a:solidFill>
                <a:latin typeface="Calibri" pitchFamily="34" charset="0"/>
                <a:cs typeface="Calibri" pitchFamily="34" charset="-120"/>
              </a:rPr>
              <a:t>Solvencia</a:t>
            </a:r>
            <a:r>
              <a:rPr lang="en-US" sz="880" i="1" dirty="0">
                <a:solidFill>
                  <a:srgbClr val="333333"/>
                </a:solidFill>
                <a:latin typeface="Calibri" pitchFamily="34" charset="0"/>
                <a:cs typeface="Calibri" pitchFamily="34" charset="-120"/>
              </a:rPr>
              <a:t> del Upsell Revenue y Margin </a:t>
            </a:r>
            <a:r>
              <a:rPr lang="en-US" sz="880" i="1" dirty="0" err="1">
                <a:solidFill>
                  <a:srgbClr val="333333"/>
                </a:solidFill>
                <a:latin typeface="Calibri" pitchFamily="34" charset="0"/>
                <a:cs typeface="Calibri" pitchFamily="34" charset="-120"/>
              </a:rPr>
              <a:t>Potencial</a:t>
            </a:r>
            <a:r>
              <a:rPr lang="en-US" sz="880" i="1" dirty="0">
                <a:solidFill>
                  <a:srgbClr val="333333"/>
                </a:solidFill>
                <a:latin typeface="Calibri" pitchFamily="34" charset="0"/>
                <a:cs typeface="Calibri" pitchFamily="34" charset="-120"/>
              </a:rPr>
              <a:t> </a:t>
            </a:r>
          </a:p>
        </p:txBody>
      </p:sp>
      <p:sp>
        <p:nvSpPr>
          <p:cNvPr id="54" name="Shape 52"/>
          <p:cNvSpPr/>
          <p:nvPr/>
        </p:nvSpPr>
        <p:spPr>
          <a:xfrm>
            <a:off x="3965766" y="2356056"/>
            <a:ext cx="278892" cy="262890"/>
          </a:xfrm>
          <a:prstGeom prst="rightArrow">
            <a:avLst/>
          </a:prstGeom>
          <a:solidFill>
            <a:srgbClr val="D04A02"/>
          </a:solidFill>
          <a:ln w="12700">
            <a:solidFill>
              <a:srgbClr val="D04A02"/>
            </a:solidFill>
            <a:prstDash val="solid"/>
          </a:ln>
        </p:spPr>
        <p:txBody>
          <a:bodyPr/>
          <a:lstStyle/>
          <a:p>
            <a:endParaRPr lang="es-PE"/>
          </a:p>
        </p:txBody>
      </p:sp>
      <p:sp>
        <p:nvSpPr>
          <p:cNvPr id="55" name="Shape 53"/>
          <p:cNvSpPr/>
          <p:nvPr/>
        </p:nvSpPr>
        <p:spPr>
          <a:xfrm>
            <a:off x="7997420" y="2388643"/>
            <a:ext cx="289470" cy="239220"/>
          </a:xfrm>
          <a:prstGeom prst="rightArrow">
            <a:avLst/>
          </a:prstGeom>
          <a:solidFill>
            <a:srgbClr val="1A5490"/>
          </a:solidFill>
          <a:ln w="12700">
            <a:solidFill>
              <a:srgbClr val="1A5490"/>
            </a:solidFill>
            <a:prstDash val="solid"/>
          </a:ln>
        </p:spPr>
        <p:txBody>
          <a:bodyPr/>
          <a:lstStyle/>
          <a:p>
            <a:endParaRPr lang="es-PE"/>
          </a:p>
        </p:txBody>
      </p:sp>
      <p:sp>
        <p:nvSpPr>
          <p:cNvPr id="56" name="Shape 54"/>
          <p:cNvSpPr/>
          <p:nvPr/>
        </p:nvSpPr>
        <p:spPr>
          <a:xfrm>
            <a:off x="11682340" y="3518665"/>
            <a:ext cx="226840" cy="189893"/>
          </a:xfrm>
          <a:prstGeom prst="downArrow">
            <a:avLst/>
          </a:prstGeom>
          <a:solidFill>
            <a:srgbClr val="4E8B9F"/>
          </a:solidFill>
          <a:ln w="12700">
            <a:solidFill>
              <a:srgbClr val="4E8B9F"/>
            </a:solidFill>
            <a:prstDash val="solid"/>
          </a:ln>
        </p:spPr>
        <p:txBody>
          <a:bodyPr/>
          <a:lstStyle/>
          <a:p>
            <a:endParaRPr lang="es-PE"/>
          </a:p>
        </p:txBody>
      </p:sp>
      <p:sp>
        <p:nvSpPr>
          <p:cNvPr id="57" name="Shape 55"/>
          <p:cNvSpPr/>
          <p:nvPr/>
        </p:nvSpPr>
        <p:spPr>
          <a:xfrm>
            <a:off x="8029675" y="4654283"/>
            <a:ext cx="244076" cy="270796"/>
          </a:xfrm>
          <a:prstGeom prst="leftArrow">
            <a:avLst/>
          </a:prstGeom>
          <a:solidFill>
            <a:srgbClr val="D4A843"/>
          </a:solidFill>
          <a:ln w="12700">
            <a:solidFill>
              <a:srgbClr val="D4A843"/>
            </a:solidFill>
            <a:prstDash val="solid"/>
          </a:ln>
        </p:spPr>
        <p:txBody>
          <a:bodyPr/>
          <a:lstStyle/>
          <a:p>
            <a:endParaRPr lang="es-PE"/>
          </a:p>
        </p:txBody>
      </p:sp>
      <p:sp>
        <p:nvSpPr>
          <p:cNvPr id="58" name="Shape 56"/>
          <p:cNvSpPr/>
          <p:nvPr/>
        </p:nvSpPr>
        <p:spPr>
          <a:xfrm>
            <a:off x="3921533" y="4672584"/>
            <a:ext cx="274320" cy="274320"/>
          </a:xfrm>
          <a:prstGeom prst="leftArrow">
            <a:avLst/>
          </a:prstGeom>
          <a:solidFill>
            <a:srgbClr val="C0392B"/>
          </a:solidFill>
          <a:ln w="12700">
            <a:solidFill>
              <a:srgbClr val="C0392B"/>
            </a:solidFill>
            <a:prstDash val="solid"/>
          </a:ln>
        </p:spPr>
        <p:txBody>
          <a:bodyPr/>
          <a:lstStyle/>
          <a:p>
            <a:endParaRPr lang="es-PE"/>
          </a:p>
        </p:txBody>
      </p:sp>
      <p:sp>
        <p:nvSpPr>
          <p:cNvPr id="59" name="Shape 57"/>
          <p:cNvSpPr/>
          <p:nvPr/>
        </p:nvSpPr>
        <p:spPr>
          <a:xfrm>
            <a:off x="1828800" y="5828102"/>
            <a:ext cx="384048" cy="256032"/>
          </a:xfrm>
          <a:prstGeom prst="downArrow">
            <a:avLst/>
          </a:prstGeom>
          <a:solidFill>
            <a:srgbClr val="27AE60"/>
          </a:solidFill>
          <a:ln w="12700">
            <a:solidFill>
              <a:srgbClr val="27AE60"/>
            </a:solidFill>
            <a:prstDash val="solid"/>
          </a:ln>
        </p:spPr>
        <p:txBody>
          <a:bodyPr/>
          <a:lstStyle/>
          <a:p>
            <a:endParaRPr lang="es-PE"/>
          </a:p>
        </p:txBody>
      </p:sp>
      <p:sp>
        <p:nvSpPr>
          <p:cNvPr id="60" name="Shape 58"/>
          <p:cNvSpPr/>
          <p:nvPr/>
        </p:nvSpPr>
        <p:spPr>
          <a:xfrm>
            <a:off x="4329684" y="6065757"/>
            <a:ext cx="7680960" cy="438912"/>
          </a:xfrm>
          <a:prstGeom prst="roundRect">
            <a:avLst>
              <a:gd name="adj" fmla="val 10417"/>
            </a:avLst>
          </a:prstGeom>
          <a:solidFill>
            <a:srgbClr val="E8F5E9"/>
          </a:solidFill>
          <a:ln w="12700">
            <a:solidFill>
              <a:srgbClr val="27AE60"/>
            </a:solidFill>
            <a:prstDash val="solid"/>
          </a:ln>
        </p:spPr>
        <p:txBody>
          <a:bodyPr/>
          <a:lstStyle/>
          <a:p>
            <a:endParaRPr lang="es-PE"/>
          </a:p>
        </p:txBody>
      </p:sp>
      <p:sp>
        <p:nvSpPr>
          <p:cNvPr id="61" name="Text 59"/>
          <p:cNvSpPr/>
          <p:nvPr/>
        </p:nvSpPr>
        <p:spPr>
          <a:xfrm>
            <a:off x="4439412" y="6056258"/>
            <a:ext cx="7498080" cy="438912"/>
          </a:xfrm>
          <a:prstGeom prst="rect">
            <a:avLst/>
          </a:prstGeom>
          <a:noFill/>
          <a:ln/>
        </p:spPr>
        <p:txBody>
          <a:bodyPr wrap="square" lIns="0" tIns="0" rIns="0" bIns="0" rtlCol="0" anchor="ctr"/>
          <a:lstStyle/>
          <a:p>
            <a:pPr marL="0" indent="0">
              <a:buNone/>
            </a:pPr>
            <a:r>
              <a:rPr lang="en-US" sz="1050" b="1" dirty="0">
                <a:solidFill>
                  <a:srgbClr val="27AE60"/>
                </a:solidFill>
                <a:latin typeface="Calibri" pitchFamily="34" charset="0"/>
                <a:ea typeface="Calibri" pitchFamily="34" charset="-122"/>
                <a:cs typeface="Calibri" pitchFamily="34" charset="-120"/>
              </a:rPr>
              <a:t>Resultado end-to-end:  </a:t>
            </a:r>
            <a:r>
              <a:rPr lang="en-US" sz="1000" b="1" dirty="0">
                <a:solidFill>
                  <a:srgbClr val="333333"/>
                </a:solidFill>
                <a:latin typeface="Calibri" pitchFamily="34" charset="0"/>
                <a:ea typeface="Calibri" pitchFamily="34" charset="-122"/>
                <a:cs typeface="Calibri" pitchFamily="34" charset="-120"/>
              </a:rPr>
              <a:t>146</a:t>
            </a:r>
            <a:r>
              <a:rPr lang="en-US" sz="1000" dirty="0">
                <a:solidFill>
                  <a:srgbClr val="333333"/>
                </a:solidFill>
                <a:latin typeface="Calibri" pitchFamily="34" charset="0"/>
                <a:ea typeface="Calibri" pitchFamily="34" charset="-122"/>
                <a:cs typeface="Calibri" pitchFamily="34" charset="-120"/>
              </a:rPr>
              <a:t> targets priorizados  ·  </a:t>
            </a:r>
            <a:r>
              <a:rPr lang="en-US" sz="1000" b="1" dirty="0">
                <a:solidFill>
                  <a:srgbClr val="2D2D2D"/>
                </a:solidFill>
                <a:latin typeface="Calibri" pitchFamily="34" charset="0"/>
                <a:ea typeface="Calibri" pitchFamily="34" charset="-122"/>
                <a:cs typeface="Calibri" pitchFamily="34" charset="-120"/>
              </a:rPr>
              <a:t>S/. 511 M upsell rev  ·  S/. 219 M margin  ·  </a:t>
            </a:r>
            <a:r>
              <a:rPr lang="en-US" sz="950" i="1" dirty="0">
                <a:solidFill>
                  <a:srgbClr val="666666"/>
                </a:solidFill>
                <a:latin typeface="Calibri" pitchFamily="34" charset="0"/>
                <a:ea typeface="Calibri" pitchFamily="34" charset="-122"/>
                <a:cs typeface="Calibri" pitchFamily="34" charset="-120"/>
              </a:rPr>
              <a:t>SLA AM &lt; 72 h  ·  Refresh mensual automático</a:t>
            </a:r>
            <a:endParaRPr lang="en-US" sz="1050" dirty="0"/>
          </a:p>
        </p:txBody>
      </p:sp>
      <p:sp>
        <p:nvSpPr>
          <p:cNvPr id="62" name="Text 60"/>
          <p:cNvSpPr/>
          <p:nvPr/>
        </p:nvSpPr>
        <p:spPr>
          <a:xfrm>
            <a:off x="475488" y="6131718"/>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63" name="Text 61"/>
          <p:cNvSpPr/>
          <p:nvPr/>
        </p:nvSpPr>
        <p:spPr>
          <a:xfrm>
            <a:off x="11064240" y="6504669"/>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26/32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Concentración Pareto 80/20 — Revenue del Book</a:t>
            </a:r>
            <a:endParaRPr lang="en-US" sz="2600" dirty="0"/>
          </a:p>
        </p:txBody>
      </p:sp>
      <p:pic>
        <p:nvPicPr>
          <p:cNvPr id="5" name="Image 0" descr="/sessions/dazzling-intelligent-dirac/pipeline/plots/plot_pareto.png"/>
          <p:cNvPicPr>
            <a:picLocks noChangeAspect="1"/>
          </p:cNvPicPr>
          <p:nvPr/>
        </p:nvPicPr>
        <p:blipFill>
          <a:blip r:embed="rId3"/>
          <a:stretch>
            <a:fillRect/>
          </a:stretch>
        </p:blipFill>
        <p:spPr>
          <a:xfrm>
            <a:off x="548640" y="1508760"/>
            <a:ext cx="7315200" cy="4572000"/>
          </a:xfrm>
          <a:prstGeom prst="rect">
            <a:avLst/>
          </a:prstGeom>
        </p:spPr>
      </p:pic>
      <p:sp>
        <p:nvSpPr>
          <p:cNvPr id="6" name="Shape 3"/>
          <p:cNvSpPr/>
          <p:nvPr/>
        </p:nvSpPr>
        <p:spPr>
          <a:xfrm>
            <a:off x="8229600" y="1554480"/>
            <a:ext cx="3474720" cy="4572000"/>
          </a:xfrm>
          <a:prstGeom prst="rect">
            <a:avLst/>
          </a:prstGeom>
          <a:solidFill>
            <a:srgbClr val="FFF3ED"/>
          </a:solidFill>
          <a:ln/>
        </p:spPr>
        <p:txBody>
          <a:bodyPr/>
          <a:lstStyle/>
          <a:p>
            <a:endParaRPr lang="es-PE"/>
          </a:p>
        </p:txBody>
      </p:sp>
      <p:sp>
        <p:nvSpPr>
          <p:cNvPr id="7" name="Text 4"/>
          <p:cNvSpPr/>
          <p:nvPr/>
        </p:nvSpPr>
        <p:spPr>
          <a:xfrm>
            <a:off x="8412480" y="1691640"/>
            <a:ext cx="32004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Hallazgo clave</a:t>
            </a:r>
            <a:endParaRPr lang="en-US" sz="1400" dirty="0"/>
          </a:p>
        </p:txBody>
      </p:sp>
      <p:sp>
        <p:nvSpPr>
          <p:cNvPr id="8" name="Text 5"/>
          <p:cNvSpPr/>
          <p:nvPr/>
        </p:nvSpPr>
        <p:spPr>
          <a:xfrm>
            <a:off x="8412480" y="2103120"/>
            <a:ext cx="3200400" cy="822960"/>
          </a:xfrm>
          <a:prstGeom prst="rect">
            <a:avLst/>
          </a:prstGeom>
          <a:noFill/>
          <a:ln/>
        </p:spPr>
        <p:txBody>
          <a:bodyPr wrap="square" lIns="0" tIns="0" rIns="0" bIns="0" rtlCol="0" anchor="ctr"/>
          <a:lstStyle/>
          <a:p>
            <a:pPr marL="0" indent="0" algn="ctr">
              <a:buNone/>
            </a:pPr>
            <a:r>
              <a:rPr lang="en-US" sz="5600" b="1" dirty="0">
                <a:solidFill>
                  <a:srgbClr val="D04A02"/>
                </a:solidFill>
                <a:latin typeface="Georgia" pitchFamily="34" charset="0"/>
                <a:ea typeface="Georgia" pitchFamily="34" charset="-122"/>
                <a:cs typeface="Georgia" pitchFamily="34" charset="-120"/>
              </a:rPr>
              <a:t>184</a:t>
            </a:r>
            <a:endParaRPr lang="en-US" sz="5600" dirty="0"/>
          </a:p>
        </p:txBody>
      </p:sp>
      <p:sp>
        <p:nvSpPr>
          <p:cNvPr id="9" name="Text 6"/>
          <p:cNvSpPr/>
          <p:nvPr/>
        </p:nvSpPr>
        <p:spPr>
          <a:xfrm>
            <a:off x="8412480" y="2926080"/>
            <a:ext cx="3200400" cy="731520"/>
          </a:xfrm>
          <a:prstGeom prst="rect">
            <a:avLst/>
          </a:prstGeom>
          <a:noFill/>
          <a:ln/>
        </p:spPr>
        <p:txBody>
          <a:bodyPr wrap="square" lIns="0" tIns="0" rIns="0" bIns="0"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empresas (18.4 %)</a:t>
            </a:r>
            <a:endParaRPr lang="en-US" sz="1200" dirty="0"/>
          </a:p>
          <a:p>
            <a:pPr marL="0" indent="0" algn="ctr">
              <a:buNone/>
            </a:pPr>
            <a:r>
              <a:rPr lang="en-US" sz="1200" dirty="0">
                <a:solidFill>
                  <a:srgbClr val="333333"/>
                </a:solidFill>
                <a:latin typeface="Calibri" pitchFamily="34" charset="0"/>
                <a:ea typeface="Calibri" pitchFamily="34" charset="-122"/>
                <a:cs typeface="Calibri" pitchFamily="34" charset="-120"/>
              </a:rPr>
              <a:t>concentran el 80 % del revenue</a:t>
            </a:r>
            <a:endParaRPr lang="en-US" sz="1200" dirty="0"/>
          </a:p>
        </p:txBody>
      </p:sp>
      <p:sp>
        <p:nvSpPr>
          <p:cNvPr id="10" name="Shape 7"/>
          <p:cNvSpPr/>
          <p:nvPr/>
        </p:nvSpPr>
        <p:spPr>
          <a:xfrm>
            <a:off x="8503920" y="3749040"/>
            <a:ext cx="3108960" cy="0"/>
          </a:xfrm>
          <a:prstGeom prst="line">
            <a:avLst/>
          </a:prstGeom>
          <a:noFill/>
          <a:ln w="12700">
            <a:solidFill>
              <a:srgbClr val="D04A02"/>
            </a:solidFill>
            <a:prstDash val="solid"/>
          </a:ln>
        </p:spPr>
        <p:txBody>
          <a:bodyPr/>
          <a:lstStyle/>
          <a:p>
            <a:endParaRPr lang="es-PE"/>
          </a:p>
        </p:txBody>
      </p:sp>
      <p:sp>
        <p:nvSpPr>
          <p:cNvPr id="11" name="Text 8"/>
          <p:cNvSpPr/>
          <p:nvPr/>
        </p:nvSpPr>
        <p:spPr>
          <a:xfrm>
            <a:off x="8412480" y="3886200"/>
            <a:ext cx="3200400" cy="320040"/>
          </a:xfrm>
          <a:prstGeom prst="rect">
            <a:avLst/>
          </a:prstGeom>
          <a:noFill/>
          <a:ln/>
        </p:spPr>
        <p:txBody>
          <a:bodyPr wrap="square" lIns="0" tIns="0" rIns="0" bIns="0" rtlCol="0" anchor="ctr"/>
          <a:lstStyle/>
          <a:p>
            <a:pPr marL="0" indent="0">
              <a:buNone/>
            </a:pPr>
            <a:r>
              <a:rPr lang="en-US" sz="1200" b="1" dirty="0">
                <a:solidFill>
                  <a:srgbClr val="2D2D2D"/>
                </a:solidFill>
                <a:latin typeface="Georgia" pitchFamily="34" charset="0"/>
                <a:ea typeface="Georgia" pitchFamily="34" charset="-122"/>
                <a:cs typeface="Georgia" pitchFamily="34" charset="-120"/>
              </a:rPr>
              <a:t>Lectura para gerencia</a:t>
            </a:r>
            <a:endParaRPr lang="en-US" sz="1200" dirty="0"/>
          </a:p>
        </p:txBody>
      </p:sp>
      <p:sp>
        <p:nvSpPr>
          <p:cNvPr id="12" name="Text 9"/>
          <p:cNvSpPr/>
          <p:nvPr/>
        </p:nvSpPr>
        <p:spPr>
          <a:xfrm>
            <a:off x="8412480" y="4251960"/>
            <a:ext cx="3200400" cy="1737360"/>
          </a:xfrm>
          <a:prstGeom prst="rect">
            <a:avLst/>
          </a:prstGeom>
          <a:noFill/>
          <a:ln/>
        </p:spPr>
        <p:txBody>
          <a:bodyPr wrap="square" lIns="0" tIns="0" rIns="0" bIns="0" rtlCol="0" anchor="ctr"/>
          <a:lstStyle/>
          <a:p>
            <a:pPr marL="0" indent="0">
              <a:lnSpc>
                <a:spcPct val="125000"/>
              </a:lnSpc>
              <a:buNone/>
            </a:pPr>
            <a:r>
              <a:rPr lang="en-US" sz="1050" dirty="0">
                <a:solidFill>
                  <a:srgbClr val="333333"/>
                </a:solidFill>
                <a:latin typeface="Calibri" pitchFamily="34" charset="0"/>
                <a:ea typeface="Calibri" pitchFamily="34" charset="-122"/>
                <a:cs typeface="Calibri" pitchFamily="34" charset="-120"/>
              </a:rPr>
              <a:t>16 de cada 100 cuentas generan 4 de cada 5 soles facturados. Partner time debe ir al Pareto, no al conteo. 816 empresas long-tail = retention at low cost.</a:t>
            </a:r>
            <a:endParaRPr lang="en-US" sz="1050" dirty="0"/>
          </a:p>
        </p:txBody>
      </p:sp>
      <p:sp>
        <p:nvSpPr>
          <p:cNvPr id="13" name="Text 10"/>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14" name="Text 11"/>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16/32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Metodología — Pipeline End-to-End</a:t>
            </a:r>
            <a:endParaRPr lang="en-US" sz="2600" dirty="0"/>
          </a:p>
        </p:txBody>
      </p:sp>
      <p:sp>
        <p:nvSpPr>
          <p:cNvPr id="5" name="Shape 3"/>
          <p:cNvSpPr/>
          <p:nvPr/>
        </p:nvSpPr>
        <p:spPr>
          <a:xfrm>
            <a:off x="457200" y="1600200"/>
            <a:ext cx="3657600" cy="2194560"/>
          </a:xfrm>
          <a:prstGeom prst="rect">
            <a:avLst/>
          </a:prstGeom>
          <a:solidFill>
            <a:srgbClr val="F2F2F2"/>
          </a:solidFill>
          <a:ln/>
        </p:spPr>
        <p:txBody>
          <a:bodyPr/>
          <a:lstStyle/>
          <a:p>
            <a:endParaRPr lang="es-PE"/>
          </a:p>
        </p:txBody>
      </p:sp>
      <p:sp>
        <p:nvSpPr>
          <p:cNvPr id="6" name="Shape 4"/>
          <p:cNvSpPr/>
          <p:nvPr/>
        </p:nvSpPr>
        <p:spPr>
          <a:xfrm>
            <a:off x="457200" y="1600200"/>
            <a:ext cx="3657600" cy="54864"/>
          </a:xfrm>
          <a:prstGeom prst="rect">
            <a:avLst/>
          </a:prstGeom>
          <a:solidFill>
            <a:srgbClr val="D04A02"/>
          </a:solidFill>
          <a:ln/>
        </p:spPr>
        <p:txBody>
          <a:bodyPr/>
          <a:lstStyle/>
          <a:p>
            <a:endParaRPr lang="es-PE"/>
          </a:p>
        </p:txBody>
      </p:sp>
      <p:sp>
        <p:nvSpPr>
          <p:cNvPr id="7" name="Text 5"/>
          <p:cNvSpPr/>
          <p:nvPr/>
        </p:nvSpPr>
        <p:spPr>
          <a:xfrm>
            <a:off x="594360" y="1783080"/>
            <a:ext cx="640080" cy="457200"/>
          </a:xfrm>
          <a:prstGeom prst="rect">
            <a:avLst/>
          </a:prstGeom>
          <a:noFill/>
          <a:ln/>
        </p:spPr>
        <p:txBody>
          <a:bodyPr wrap="square" lIns="0" tIns="0" rIns="0" bIns="0" rtlCol="0" anchor="ctr"/>
          <a:lstStyle/>
          <a:p>
            <a:pPr marL="0" indent="0">
              <a:buNone/>
            </a:pPr>
            <a:r>
              <a:rPr lang="en-US" sz="2200" b="1" dirty="0">
                <a:solidFill>
                  <a:srgbClr val="D04A02"/>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1280160" y="1828800"/>
            <a:ext cx="2743200" cy="36576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Data Prep</a:t>
            </a:r>
            <a:endParaRPr lang="en-US" sz="1400" dirty="0"/>
          </a:p>
        </p:txBody>
      </p:sp>
      <p:sp>
        <p:nvSpPr>
          <p:cNvPr id="9" name="Text 7"/>
          <p:cNvSpPr/>
          <p:nvPr/>
        </p:nvSpPr>
        <p:spPr>
          <a:xfrm>
            <a:off x="594360" y="2331720"/>
            <a:ext cx="3383280" cy="1005840"/>
          </a:xfrm>
          <a:prstGeom prst="rect">
            <a:avLst/>
          </a:prstGeom>
          <a:noFill/>
          <a:ln/>
        </p:spPr>
        <p:txBody>
          <a:bodyPr wrap="square" lIns="0" tIns="0" rIns="0" bIns="0" rtlCol="0" anchor="ctr"/>
          <a:lstStyle/>
          <a:p>
            <a:pPr marL="0" indent="0">
              <a:buNone/>
            </a:pPr>
            <a:r>
              <a:rPr lang="en-US" sz="1050" dirty="0">
                <a:solidFill>
                  <a:srgbClr val="333333"/>
                </a:solidFill>
                <a:latin typeface="Calibri" pitchFamily="34" charset="0"/>
                <a:ea typeface="Calibri" pitchFamily="34" charset="-122"/>
                <a:cs typeface="Calibri" pitchFamily="34" charset="-120"/>
              </a:rPr>
              <a:t>1,000 empresas + 52,385 </a:t>
            </a:r>
            <a:r>
              <a:rPr lang="en-US" sz="1050" dirty="0" err="1">
                <a:solidFill>
                  <a:srgbClr val="333333"/>
                </a:solidFill>
                <a:latin typeface="Calibri" pitchFamily="34" charset="0"/>
                <a:ea typeface="Calibri" pitchFamily="34" charset="-122"/>
                <a:cs typeface="Calibri" pitchFamily="34" charset="-120"/>
              </a:rPr>
              <a:t>transacciones</a:t>
            </a:r>
            <a:r>
              <a:rPr lang="en-US" sz="1050" dirty="0">
                <a:solidFill>
                  <a:srgbClr val="333333"/>
                </a:solidFill>
                <a:latin typeface="Calibri" pitchFamily="34" charset="0"/>
                <a:ea typeface="Calibri" pitchFamily="34" charset="-122"/>
                <a:cs typeface="Calibri" pitchFamily="34" charset="-120"/>
              </a:rPr>
              <a:t> (Histórico </a:t>
            </a:r>
            <a:r>
              <a:rPr lang="en-US" sz="1050" dirty="0" err="1">
                <a:solidFill>
                  <a:srgbClr val="333333"/>
                </a:solidFill>
                <a:latin typeface="Calibri" pitchFamily="34" charset="0"/>
                <a:ea typeface="Calibri" pitchFamily="34" charset="-122"/>
                <a:cs typeface="Calibri" pitchFamily="34" charset="-120"/>
              </a:rPr>
              <a:t>Finanzas</a:t>
            </a:r>
            <a:r>
              <a:rPr lang="en-US" sz="1050" dirty="0">
                <a:solidFill>
                  <a:srgbClr val="333333"/>
                </a:solidFill>
                <a:latin typeface="Calibri" pitchFamily="34" charset="0"/>
                <a:ea typeface="Calibri" pitchFamily="34" charset="-122"/>
                <a:cs typeface="Calibri" pitchFamily="34" charset="-120"/>
              </a:rPr>
              <a:t> 17-04).</a:t>
            </a:r>
            <a:endParaRPr lang="en-US" sz="1050" dirty="0"/>
          </a:p>
          <a:p>
            <a:pPr marL="0" indent="0">
              <a:buNone/>
            </a:pPr>
            <a:r>
              <a:rPr lang="en-US" sz="1050" dirty="0">
                <a:solidFill>
                  <a:srgbClr val="333333"/>
                </a:solidFill>
                <a:latin typeface="Calibri" pitchFamily="34" charset="0"/>
                <a:ea typeface="Calibri" pitchFamily="34" charset="-122"/>
                <a:cs typeface="Calibri" pitchFamily="34" charset="-120"/>
              </a:rPr>
              <a:t>FY26 anualizado ×1.25. Columnas estandarizadas.</a:t>
            </a:r>
            <a:endParaRPr lang="en-US" sz="1050" dirty="0"/>
          </a:p>
        </p:txBody>
      </p:sp>
      <p:sp>
        <p:nvSpPr>
          <p:cNvPr id="10" name="Text 8"/>
          <p:cNvSpPr/>
          <p:nvPr/>
        </p:nvSpPr>
        <p:spPr>
          <a:xfrm>
            <a:off x="594360" y="3383280"/>
            <a:ext cx="3383280" cy="320040"/>
          </a:xfrm>
          <a:prstGeom prst="rect">
            <a:avLst/>
          </a:prstGeom>
          <a:noFill/>
          <a:ln/>
        </p:spPr>
        <p:txBody>
          <a:bodyPr wrap="square" lIns="0" tIns="0" rIns="0" bIns="0" rtlCol="0" anchor="ctr"/>
          <a:lstStyle/>
          <a:p>
            <a:pPr marL="0" indent="0">
              <a:buNone/>
            </a:pPr>
            <a:r>
              <a:rPr lang="en-US" sz="950" i="1" dirty="0">
                <a:solidFill>
                  <a:srgbClr val="D04A02"/>
                </a:solidFill>
                <a:latin typeface="Calibri" pitchFamily="34" charset="0"/>
                <a:ea typeface="Calibri" pitchFamily="34" charset="-122"/>
                <a:cs typeface="Calibri" pitchFamily="34" charset="-120"/>
              </a:rPr>
              <a:t>Single source of truth</a:t>
            </a:r>
            <a:endParaRPr lang="en-US" sz="950" dirty="0"/>
          </a:p>
        </p:txBody>
      </p:sp>
      <p:sp>
        <p:nvSpPr>
          <p:cNvPr id="11" name="Shape 9"/>
          <p:cNvSpPr/>
          <p:nvPr/>
        </p:nvSpPr>
        <p:spPr>
          <a:xfrm>
            <a:off x="4343400" y="1600200"/>
            <a:ext cx="3657600" cy="2194560"/>
          </a:xfrm>
          <a:prstGeom prst="rect">
            <a:avLst/>
          </a:prstGeom>
          <a:solidFill>
            <a:srgbClr val="F2F2F2"/>
          </a:solidFill>
          <a:ln/>
        </p:spPr>
        <p:txBody>
          <a:bodyPr/>
          <a:lstStyle/>
          <a:p>
            <a:endParaRPr lang="es-PE"/>
          </a:p>
        </p:txBody>
      </p:sp>
      <p:sp>
        <p:nvSpPr>
          <p:cNvPr id="12" name="Shape 10"/>
          <p:cNvSpPr/>
          <p:nvPr/>
        </p:nvSpPr>
        <p:spPr>
          <a:xfrm>
            <a:off x="4343400" y="1600200"/>
            <a:ext cx="3657600" cy="54864"/>
          </a:xfrm>
          <a:prstGeom prst="rect">
            <a:avLst/>
          </a:prstGeom>
          <a:solidFill>
            <a:srgbClr val="D04A02"/>
          </a:solidFill>
          <a:ln/>
        </p:spPr>
        <p:txBody>
          <a:bodyPr/>
          <a:lstStyle/>
          <a:p>
            <a:endParaRPr lang="es-PE"/>
          </a:p>
        </p:txBody>
      </p:sp>
      <p:sp>
        <p:nvSpPr>
          <p:cNvPr id="13" name="Text 11"/>
          <p:cNvSpPr/>
          <p:nvPr/>
        </p:nvSpPr>
        <p:spPr>
          <a:xfrm>
            <a:off x="4480560" y="1783080"/>
            <a:ext cx="640080" cy="457200"/>
          </a:xfrm>
          <a:prstGeom prst="rect">
            <a:avLst/>
          </a:prstGeom>
          <a:noFill/>
          <a:ln/>
        </p:spPr>
        <p:txBody>
          <a:bodyPr wrap="square" lIns="0" tIns="0" rIns="0" bIns="0" rtlCol="0" anchor="ctr"/>
          <a:lstStyle/>
          <a:p>
            <a:pPr marL="0" indent="0">
              <a:buNone/>
            </a:pPr>
            <a:r>
              <a:rPr lang="en-US" sz="2200" b="1" dirty="0">
                <a:solidFill>
                  <a:srgbClr val="D04A02"/>
                </a:solidFill>
                <a:latin typeface="Georgia" pitchFamily="34" charset="0"/>
                <a:ea typeface="Georgia" pitchFamily="34" charset="-122"/>
                <a:cs typeface="Georgia" pitchFamily="34" charset="-120"/>
              </a:rPr>
              <a:t>02</a:t>
            </a:r>
            <a:endParaRPr lang="en-US" sz="2200" dirty="0"/>
          </a:p>
        </p:txBody>
      </p:sp>
      <p:sp>
        <p:nvSpPr>
          <p:cNvPr id="14" name="Text 12"/>
          <p:cNvSpPr/>
          <p:nvPr/>
        </p:nvSpPr>
        <p:spPr>
          <a:xfrm>
            <a:off x="5166360" y="1828800"/>
            <a:ext cx="2743200" cy="36576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Winsorización</a:t>
            </a:r>
            <a:endParaRPr lang="en-US" sz="1400" dirty="0"/>
          </a:p>
        </p:txBody>
      </p:sp>
      <p:sp>
        <p:nvSpPr>
          <p:cNvPr id="15" name="Text 13"/>
          <p:cNvSpPr/>
          <p:nvPr/>
        </p:nvSpPr>
        <p:spPr>
          <a:xfrm>
            <a:off x="4480560" y="2331720"/>
            <a:ext cx="3383280" cy="1005840"/>
          </a:xfrm>
          <a:prstGeom prst="rect">
            <a:avLst/>
          </a:prstGeom>
          <a:noFill/>
          <a:ln/>
        </p:spPr>
        <p:txBody>
          <a:bodyPr wrap="square" lIns="0" tIns="0" rIns="0" bIns="0" rtlCol="0" anchor="ctr"/>
          <a:lstStyle/>
          <a:p>
            <a:pPr marL="0" indent="0">
              <a:buNone/>
            </a:pPr>
            <a:r>
              <a:rPr lang="en-US" sz="1050" dirty="0">
                <a:solidFill>
                  <a:srgbClr val="333333"/>
                </a:solidFill>
                <a:latin typeface="Calibri" pitchFamily="34" charset="0"/>
                <a:ea typeface="Calibri" pitchFamily="34" charset="-122"/>
                <a:cs typeface="Calibri" pitchFamily="34" charset="-120"/>
              </a:rPr>
              <a:t>Margin% recortado a P5/P95 (−28.5 % / 87.2 %).</a:t>
            </a:r>
            <a:endParaRPr lang="en-US" sz="1050" dirty="0"/>
          </a:p>
          <a:p>
            <a:pPr marL="0" indent="0">
              <a:buNone/>
            </a:pPr>
            <a:r>
              <a:rPr lang="en-US" sz="1050" dirty="0">
                <a:solidFill>
                  <a:srgbClr val="333333"/>
                </a:solidFill>
                <a:latin typeface="Calibri" pitchFamily="34" charset="0"/>
                <a:ea typeface="Calibri" pitchFamily="34" charset="-122"/>
                <a:cs typeface="Calibri" pitchFamily="34" charset="-120"/>
              </a:rPr>
              <a:t>Preserva volumen, estabiliza el revenue-weighted avg.</a:t>
            </a:r>
            <a:endParaRPr lang="en-US" sz="1050" dirty="0"/>
          </a:p>
        </p:txBody>
      </p:sp>
      <p:sp>
        <p:nvSpPr>
          <p:cNvPr id="16" name="Text 14"/>
          <p:cNvSpPr/>
          <p:nvPr/>
        </p:nvSpPr>
        <p:spPr>
          <a:xfrm>
            <a:off x="4480560" y="3383280"/>
            <a:ext cx="3383280" cy="320040"/>
          </a:xfrm>
          <a:prstGeom prst="rect">
            <a:avLst/>
          </a:prstGeom>
          <a:noFill/>
          <a:ln/>
        </p:spPr>
        <p:txBody>
          <a:bodyPr wrap="square" lIns="0" tIns="0" rIns="0" bIns="0" rtlCol="0" anchor="ctr"/>
          <a:lstStyle/>
          <a:p>
            <a:pPr marL="0" indent="0">
              <a:buNone/>
            </a:pPr>
            <a:r>
              <a:rPr lang="en-US" sz="950" i="1" dirty="0">
                <a:solidFill>
                  <a:srgbClr val="D04A02"/>
                </a:solidFill>
                <a:latin typeface="Calibri" pitchFamily="34" charset="0"/>
                <a:ea typeface="Calibri" pitchFamily="34" charset="-122"/>
                <a:cs typeface="Calibri" pitchFamily="34" charset="-120"/>
              </a:rPr>
              <a:t>Outliers neutralizados</a:t>
            </a:r>
            <a:endParaRPr lang="en-US" sz="950" dirty="0"/>
          </a:p>
        </p:txBody>
      </p:sp>
      <p:sp>
        <p:nvSpPr>
          <p:cNvPr id="17" name="Shape 15"/>
          <p:cNvSpPr/>
          <p:nvPr/>
        </p:nvSpPr>
        <p:spPr>
          <a:xfrm>
            <a:off x="8229600" y="1600200"/>
            <a:ext cx="3657600" cy="2194560"/>
          </a:xfrm>
          <a:prstGeom prst="rect">
            <a:avLst/>
          </a:prstGeom>
          <a:solidFill>
            <a:srgbClr val="F2F2F2"/>
          </a:solidFill>
          <a:ln/>
        </p:spPr>
        <p:txBody>
          <a:bodyPr/>
          <a:lstStyle/>
          <a:p>
            <a:endParaRPr lang="es-PE"/>
          </a:p>
        </p:txBody>
      </p:sp>
      <p:sp>
        <p:nvSpPr>
          <p:cNvPr id="18" name="Shape 16"/>
          <p:cNvSpPr/>
          <p:nvPr/>
        </p:nvSpPr>
        <p:spPr>
          <a:xfrm>
            <a:off x="8229600" y="1600200"/>
            <a:ext cx="3657600" cy="54864"/>
          </a:xfrm>
          <a:prstGeom prst="rect">
            <a:avLst/>
          </a:prstGeom>
          <a:solidFill>
            <a:srgbClr val="D04A02"/>
          </a:solidFill>
          <a:ln/>
        </p:spPr>
        <p:txBody>
          <a:bodyPr/>
          <a:lstStyle/>
          <a:p>
            <a:endParaRPr lang="es-PE"/>
          </a:p>
        </p:txBody>
      </p:sp>
      <p:sp>
        <p:nvSpPr>
          <p:cNvPr id="19" name="Text 17"/>
          <p:cNvSpPr/>
          <p:nvPr/>
        </p:nvSpPr>
        <p:spPr>
          <a:xfrm>
            <a:off x="8366760" y="1783080"/>
            <a:ext cx="640080" cy="457200"/>
          </a:xfrm>
          <a:prstGeom prst="rect">
            <a:avLst/>
          </a:prstGeom>
          <a:noFill/>
          <a:ln/>
        </p:spPr>
        <p:txBody>
          <a:bodyPr wrap="square" lIns="0" tIns="0" rIns="0" bIns="0" rtlCol="0" anchor="ctr"/>
          <a:lstStyle/>
          <a:p>
            <a:pPr marL="0" indent="0">
              <a:buNone/>
            </a:pPr>
            <a:r>
              <a:rPr lang="en-US" sz="2200" b="1" dirty="0">
                <a:solidFill>
                  <a:srgbClr val="D04A02"/>
                </a:solidFill>
                <a:latin typeface="Georgia" pitchFamily="34" charset="0"/>
                <a:ea typeface="Georgia" pitchFamily="34" charset="-122"/>
                <a:cs typeface="Georgia" pitchFamily="34" charset="-120"/>
              </a:rPr>
              <a:t>03</a:t>
            </a:r>
            <a:endParaRPr lang="en-US" sz="2200" dirty="0"/>
          </a:p>
        </p:txBody>
      </p:sp>
      <p:sp>
        <p:nvSpPr>
          <p:cNvPr id="20" name="Text 18"/>
          <p:cNvSpPr/>
          <p:nvPr/>
        </p:nvSpPr>
        <p:spPr>
          <a:xfrm>
            <a:off x="9052560" y="1828800"/>
            <a:ext cx="2743200" cy="36576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Feature Eng.</a:t>
            </a:r>
            <a:endParaRPr lang="en-US" sz="1400" dirty="0"/>
          </a:p>
        </p:txBody>
      </p:sp>
      <p:sp>
        <p:nvSpPr>
          <p:cNvPr id="21" name="Text 19"/>
          <p:cNvSpPr/>
          <p:nvPr/>
        </p:nvSpPr>
        <p:spPr>
          <a:xfrm>
            <a:off x="8366760" y="2331720"/>
            <a:ext cx="3383280" cy="1005840"/>
          </a:xfrm>
          <a:prstGeom prst="rect">
            <a:avLst/>
          </a:prstGeom>
          <a:noFill/>
          <a:ln/>
        </p:spPr>
        <p:txBody>
          <a:bodyPr wrap="square" lIns="0" tIns="0" rIns="0" bIns="0" rtlCol="0" anchor="ctr"/>
          <a:lstStyle/>
          <a:p>
            <a:pPr marL="0" indent="0">
              <a:buNone/>
            </a:pPr>
            <a:r>
              <a:rPr lang="en-US" sz="1050" dirty="0">
                <a:solidFill>
                  <a:srgbClr val="333333"/>
                </a:solidFill>
                <a:latin typeface="Calibri" pitchFamily="34" charset="0"/>
                <a:ea typeface="Calibri" pitchFamily="34" charset="-122"/>
                <a:cs typeface="Calibri" pitchFamily="34" charset="-120"/>
              </a:rPr>
              <a:t>9 variables: margin, prioridad, venta, revenue,</a:t>
            </a:r>
            <a:endParaRPr lang="en-US" sz="1050" dirty="0"/>
          </a:p>
          <a:p>
            <a:pPr marL="0" indent="0">
              <a:buNone/>
            </a:pPr>
            <a:r>
              <a:rPr lang="en-US" sz="1050" dirty="0">
                <a:solidFill>
                  <a:srgbClr val="333333"/>
                </a:solidFill>
                <a:latin typeface="Calibri" pitchFamily="34" charset="0"/>
                <a:ea typeface="Calibri" pitchFamily="34" charset="-122"/>
                <a:cs typeface="Calibri" pitchFamily="34" charset="-120"/>
              </a:rPr>
              <a:t>REL, potencial, WON,  </a:t>
            </a:r>
            <a:r>
              <a:rPr lang="en-US" sz="1050" dirty="0" err="1">
                <a:solidFill>
                  <a:srgbClr val="333333"/>
                </a:solidFill>
                <a:latin typeface="Calibri" pitchFamily="34" charset="0"/>
                <a:ea typeface="Calibri" pitchFamily="34" charset="-122"/>
                <a:cs typeface="Calibri" pitchFamily="34" charset="-120"/>
              </a:rPr>
              <a:t>diversidad</a:t>
            </a:r>
            <a:r>
              <a:rPr lang="en-US" sz="1050" dirty="0">
                <a:solidFill>
                  <a:srgbClr val="333333"/>
                </a:solidFill>
                <a:latin typeface="Calibri" pitchFamily="34" charset="0"/>
                <a:ea typeface="Calibri" pitchFamily="34" charset="-122"/>
                <a:cs typeface="Calibri" pitchFamily="34" charset="-120"/>
              </a:rPr>
              <a:t> </a:t>
            </a:r>
            <a:r>
              <a:rPr lang="en-US" sz="1050" dirty="0" err="1">
                <a:solidFill>
                  <a:srgbClr val="333333"/>
                </a:solidFill>
                <a:latin typeface="Calibri" pitchFamily="34" charset="0"/>
                <a:ea typeface="Calibri" pitchFamily="34" charset="-122"/>
                <a:cs typeface="Calibri" pitchFamily="34" charset="-120"/>
              </a:rPr>
              <a:t>SubLos</a:t>
            </a:r>
            <a:r>
              <a:rPr lang="en-US" sz="1050" dirty="0">
                <a:solidFill>
                  <a:srgbClr val="333333"/>
                </a:solidFill>
                <a:latin typeface="Calibri" pitchFamily="34" charset="0"/>
                <a:ea typeface="Calibri" pitchFamily="34" charset="-122"/>
                <a:cs typeface="Calibri" pitchFamily="34" charset="-120"/>
              </a:rPr>
              <a:t>, channel.</a:t>
            </a:r>
            <a:endParaRPr lang="en-US" sz="1050" dirty="0"/>
          </a:p>
        </p:txBody>
      </p:sp>
      <p:sp>
        <p:nvSpPr>
          <p:cNvPr id="22" name="Text 20"/>
          <p:cNvSpPr/>
          <p:nvPr/>
        </p:nvSpPr>
        <p:spPr>
          <a:xfrm>
            <a:off x="8366760" y="3383280"/>
            <a:ext cx="3383280" cy="320040"/>
          </a:xfrm>
          <a:prstGeom prst="rect">
            <a:avLst/>
          </a:prstGeom>
          <a:noFill/>
          <a:ln/>
        </p:spPr>
        <p:txBody>
          <a:bodyPr wrap="square" lIns="0" tIns="0" rIns="0" bIns="0" rtlCol="0" anchor="ctr"/>
          <a:lstStyle/>
          <a:p>
            <a:pPr marL="0" indent="0">
              <a:buNone/>
            </a:pPr>
            <a:r>
              <a:rPr lang="en-US" sz="950" i="1" dirty="0">
                <a:solidFill>
                  <a:srgbClr val="D04A02"/>
                </a:solidFill>
                <a:latin typeface="Calibri" pitchFamily="34" charset="0"/>
                <a:ea typeface="Calibri" pitchFamily="34" charset="-122"/>
                <a:cs typeface="Calibri" pitchFamily="34" charset="-120"/>
              </a:rPr>
              <a:t>Pesos PCA + business</a:t>
            </a:r>
            <a:endParaRPr lang="en-US" sz="950" dirty="0"/>
          </a:p>
        </p:txBody>
      </p:sp>
      <p:sp>
        <p:nvSpPr>
          <p:cNvPr id="23" name="Shape 21"/>
          <p:cNvSpPr/>
          <p:nvPr/>
        </p:nvSpPr>
        <p:spPr>
          <a:xfrm>
            <a:off x="457200" y="4069080"/>
            <a:ext cx="3657600" cy="2194560"/>
          </a:xfrm>
          <a:prstGeom prst="rect">
            <a:avLst/>
          </a:prstGeom>
          <a:solidFill>
            <a:srgbClr val="F2F2F2"/>
          </a:solidFill>
          <a:ln/>
        </p:spPr>
        <p:txBody>
          <a:bodyPr/>
          <a:lstStyle/>
          <a:p>
            <a:endParaRPr lang="es-PE"/>
          </a:p>
        </p:txBody>
      </p:sp>
      <p:sp>
        <p:nvSpPr>
          <p:cNvPr id="24" name="Shape 22"/>
          <p:cNvSpPr/>
          <p:nvPr/>
        </p:nvSpPr>
        <p:spPr>
          <a:xfrm>
            <a:off x="457200" y="4069080"/>
            <a:ext cx="3657600" cy="54864"/>
          </a:xfrm>
          <a:prstGeom prst="rect">
            <a:avLst/>
          </a:prstGeom>
          <a:solidFill>
            <a:srgbClr val="D04A02"/>
          </a:solidFill>
          <a:ln/>
        </p:spPr>
        <p:txBody>
          <a:bodyPr/>
          <a:lstStyle/>
          <a:p>
            <a:endParaRPr lang="es-PE"/>
          </a:p>
        </p:txBody>
      </p:sp>
      <p:sp>
        <p:nvSpPr>
          <p:cNvPr id="25" name="Text 23"/>
          <p:cNvSpPr/>
          <p:nvPr/>
        </p:nvSpPr>
        <p:spPr>
          <a:xfrm>
            <a:off x="594360" y="4251960"/>
            <a:ext cx="640080" cy="457200"/>
          </a:xfrm>
          <a:prstGeom prst="rect">
            <a:avLst/>
          </a:prstGeom>
          <a:noFill/>
          <a:ln/>
        </p:spPr>
        <p:txBody>
          <a:bodyPr wrap="square" lIns="0" tIns="0" rIns="0" bIns="0" rtlCol="0" anchor="ctr"/>
          <a:lstStyle/>
          <a:p>
            <a:pPr marL="0" indent="0">
              <a:buNone/>
            </a:pPr>
            <a:r>
              <a:rPr lang="en-US" sz="2200" b="1" dirty="0">
                <a:solidFill>
                  <a:srgbClr val="D04A02"/>
                </a:solidFill>
                <a:latin typeface="Georgia" pitchFamily="34" charset="0"/>
                <a:ea typeface="Georgia" pitchFamily="34" charset="-122"/>
                <a:cs typeface="Georgia" pitchFamily="34" charset="-120"/>
              </a:rPr>
              <a:t>04</a:t>
            </a:r>
            <a:endParaRPr lang="en-US" sz="2200" dirty="0"/>
          </a:p>
        </p:txBody>
      </p:sp>
      <p:sp>
        <p:nvSpPr>
          <p:cNvPr id="26" name="Text 24"/>
          <p:cNvSpPr/>
          <p:nvPr/>
        </p:nvSpPr>
        <p:spPr>
          <a:xfrm>
            <a:off x="1280160" y="4297680"/>
            <a:ext cx="2743200" cy="36576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K-Means K=5</a:t>
            </a:r>
            <a:endParaRPr lang="en-US" sz="1400" dirty="0"/>
          </a:p>
        </p:txBody>
      </p:sp>
      <p:sp>
        <p:nvSpPr>
          <p:cNvPr id="27" name="Text 25"/>
          <p:cNvSpPr/>
          <p:nvPr/>
        </p:nvSpPr>
        <p:spPr>
          <a:xfrm>
            <a:off x="594360" y="4800600"/>
            <a:ext cx="3383280" cy="1005840"/>
          </a:xfrm>
          <a:prstGeom prst="rect">
            <a:avLst/>
          </a:prstGeom>
          <a:noFill/>
          <a:ln/>
        </p:spPr>
        <p:txBody>
          <a:bodyPr wrap="square" lIns="0" tIns="0" rIns="0" bIns="0" rtlCol="0" anchor="ctr"/>
          <a:lstStyle/>
          <a:p>
            <a:pPr marL="0" indent="0">
              <a:buNone/>
            </a:pPr>
            <a:r>
              <a:rPr lang="en-US" sz="1050" dirty="0">
                <a:solidFill>
                  <a:srgbClr val="333333"/>
                </a:solidFill>
                <a:latin typeface="Calibri" pitchFamily="34" charset="0"/>
                <a:ea typeface="Calibri" pitchFamily="34" charset="-122"/>
                <a:cs typeface="Calibri" pitchFamily="34" charset="-120"/>
              </a:rPr>
              <a:t>Clipping P99 + StandardScaler + n_init=20.</a:t>
            </a:r>
            <a:endParaRPr lang="en-US" sz="1050" dirty="0"/>
          </a:p>
          <a:p>
            <a:pPr marL="0" indent="0">
              <a:buNone/>
            </a:pPr>
            <a:r>
              <a:rPr lang="en-US" sz="1050" dirty="0">
                <a:solidFill>
                  <a:srgbClr val="333333"/>
                </a:solidFill>
                <a:latin typeface="Calibri" pitchFamily="34" charset="0"/>
                <a:ea typeface="Calibri" pitchFamily="34" charset="-122"/>
                <a:cs typeface="Calibri" pitchFamily="34" charset="-120"/>
              </a:rPr>
              <a:t>Silhouette 0.43 = separación robusta.</a:t>
            </a:r>
            <a:endParaRPr lang="en-US" sz="1050" dirty="0"/>
          </a:p>
        </p:txBody>
      </p:sp>
      <p:sp>
        <p:nvSpPr>
          <p:cNvPr id="28" name="Text 26"/>
          <p:cNvSpPr/>
          <p:nvPr/>
        </p:nvSpPr>
        <p:spPr>
          <a:xfrm>
            <a:off x="594360" y="5852160"/>
            <a:ext cx="3383280" cy="320040"/>
          </a:xfrm>
          <a:prstGeom prst="rect">
            <a:avLst/>
          </a:prstGeom>
          <a:noFill/>
          <a:ln/>
        </p:spPr>
        <p:txBody>
          <a:bodyPr wrap="square" lIns="0" tIns="0" rIns="0" bIns="0" rtlCol="0" anchor="ctr"/>
          <a:lstStyle/>
          <a:p>
            <a:pPr marL="0" indent="0">
              <a:buNone/>
            </a:pPr>
            <a:r>
              <a:rPr lang="en-US" sz="950" i="1" dirty="0">
                <a:solidFill>
                  <a:srgbClr val="D04A02"/>
                </a:solidFill>
                <a:latin typeface="Calibri" pitchFamily="34" charset="0"/>
                <a:ea typeface="Calibri" pitchFamily="34" charset="-122"/>
                <a:cs typeface="Calibri" pitchFamily="34" charset="-120"/>
              </a:rPr>
              <a:t>Taxonomía PwC</a:t>
            </a:r>
            <a:endParaRPr lang="en-US" sz="950" dirty="0"/>
          </a:p>
        </p:txBody>
      </p:sp>
      <p:sp>
        <p:nvSpPr>
          <p:cNvPr id="29" name="Shape 27"/>
          <p:cNvSpPr/>
          <p:nvPr/>
        </p:nvSpPr>
        <p:spPr>
          <a:xfrm>
            <a:off x="4343400" y="4069080"/>
            <a:ext cx="3657600" cy="2194560"/>
          </a:xfrm>
          <a:prstGeom prst="rect">
            <a:avLst/>
          </a:prstGeom>
          <a:solidFill>
            <a:srgbClr val="F2F2F2"/>
          </a:solidFill>
          <a:ln/>
        </p:spPr>
        <p:txBody>
          <a:bodyPr/>
          <a:lstStyle/>
          <a:p>
            <a:endParaRPr lang="es-PE"/>
          </a:p>
        </p:txBody>
      </p:sp>
      <p:sp>
        <p:nvSpPr>
          <p:cNvPr id="30" name="Shape 28"/>
          <p:cNvSpPr/>
          <p:nvPr/>
        </p:nvSpPr>
        <p:spPr>
          <a:xfrm>
            <a:off x="4343400" y="4069080"/>
            <a:ext cx="3657600" cy="54864"/>
          </a:xfrm>
          <a:prstGeom prst="rect">
            <a:avLst/>
          </a:prstGeom>
          <a:solidFill>
            <a:srgbClr val="D04A02"/>
          </a:solidFill>
          <a:ln/>
        </p:spPr>
        <p:txBody>
          <a:bodyPr/>
          <a:lstStyle/>
          <a:p>
            <a:endParaRPr lang="es-PE"/>
          </a:p>
        </p:txBody>
      </p:sp>
      <p:sp>
        <p:nvSpPr>
          <p:cNvPr id="31" name="Text 29"/>
          <p:cNvSpPr/>
          <p:nvPr/>
        </p:nvSpPr>
        <p:spPr>
          <a:xfrm>
            <a:off x="4480560" y="4251960"/>
            <a:ext cx="640080" cy="457200"/>
          </a:xfrm>
          <a:prstGeom prst="rect">
            <a:avLst/>
          </a:prstGeom>
          <a:noFill/>
          <a:ln/>
        </p:spPr>
        <p:txBody>
          <a:bodyPr wrap="square" lIns="0" tIns="0" rIns="0" bIns="0" rtlCol="0" anchor="ctr"/>
          <a:lstStyle/>
          <a:p>
            <a:pPr marL="0" indent="0">
              <a:buNone/>
            </a:pPr>
            <a:r>
              <a:rPr lang="en-US" sz="2200" b="1" dirty="0">
                <a:solidFill>
                  <a:srgbClr val="D04A02"/>
                </a:solidFill>
                <a:latin typeface="Georgia" pitchFamily="34" charset="0"/>
                <a:ea typeface="Georgia" pitchFamily="34" charset="-122"/>
                <a:cs typeface="Georgia" pitchFamily="34" charset="-120"/>
              </a:rPr>
              <a:t>05</a:t>
            </a:r>
            <a:endParaRPr lang="en-US" sz="2200" dirty="0"/>
          </a:p>
        </p:txBody>
      </p:sp>
      <p:sp>
        <p:nvSpPr>
          <p:cNvPr id="32" name="Text 30"/>
          <p:cNvSpPr/>
          <p:nvPr/>
        </p:nvSpPr>
        <p:spPr>
          <a:xfrm>
            <a:off x="5166360" y="4297680"/>
            <a:ext cx="2743200" cy="36576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Target Score</a:t>
            </a:r>
            <a:endParaRPr lang="en-US" sz="1400" dirty="0"/>
          </a:p>
        </p:txBody>
      </p:sp>
      <p:sp>
        <p:nvSpPr>
          <p:cNvPr id="33" name="Text 31"/>
          <p:cNvSpPr/>
          <p:nvPr/>
        </p:nvSpPr>
        <p:spPr>
          <a:xfrm>
            <a:off x="4480560" y="4800600"/>
            <a:ext cx="3383280" cy="1005840"/>
          </a:xfrm>
          <a:prstGeom prst="rect">
            <a:avLst/>
          </a:prstGeom>
          <a:noFill/>
          <a:ln/>
        </p:spPr>
        <p:txBody>
          <a:bodyPr wrap="square" lIns="0" tIns="0" rIns="0" bIns="0" rtlCol="0" anchor="ctr"/>
          <a:lstStyle/>
          <a:p>
            <a:pPr marL="0" indent="0">
              <a:buNone/>
            </a:pPr>
            <a:r>
              <a:rPr lang="en-US" sz="1050" dirty="0">
                <a:solidFill>
                  <a:srgbClr val="333333"/>
                </a:solidFill>
                <a:latin typeface="Calibri" pitchFamily="34" charset="0"/>
                <a:ea typeface="Calibri" pitchFamily="34" charset="-122"/>
                <a:cs typeface="Calibri" pitchFamily="34" charset="-120"/>
              </a:rPr>
              <a:t>Score 0-100 = Σ (peso × feature normalizado).</a:t>
            </a:r>
            <a:endParaRPr lang="en-US" sz="1050" dirty="0"/>
          </a:p>
          <a:p>
            <a:pPr marL="0" indent="0">
              <a:buNone/>
            </a:pPr>
            <a:r>
              <a:rPr lang="en-US" sz="1050" dirty="0">
                <a:solidFill>
                  <a:srgbClr val="333333"/>
                </a:solidFill>
                <a:latin typeface="Calibri" pitchFamily="34" charset="0"/>
                <a:ea typeface="Calibri" pitchFamily="34" charset="-122"/>
                <a:cs typeface="Calibri" pitchFamily="34" charset="-120"/>
              </a:rPr>
              <a:t>Re-etiquetado por score promedio del cluster.</a:t>
            </a:r>
            <a:endParaRPr lang="en-US" sz="1050" dirty="0"/>
          </a:p>
        </p:txBody>
      </p:sp>
      <p:sp>
        <p:nvSpPr>
          <p:cNvPr id="34" name="Text 32"/>
          <p:cNvSpPr/>
          <p:nvPr/>
        </p:nvSpPr>
        <p:spPr>
          <a:xfrm>
            <a:off x="4480560" y="5852160"/>
            <a:ext cx="3383280" cy="320040"/>
          </a:xfrm>
          <a:prstGeom prst="rect">
            <a:avLst/>
          </a:prstGeom>
          <a:noFill/>
          <a:ln/>
        </p:spPr>
        <p:txBody>
          <a:bodyPr wrap="square" lIns="0" tIns="0" rIns="0" bIns="0" rtlCol="0" anchor="ctr"/>
          <a:lstStyle/>
          <a:p>
            <a:pPr marL="0" indent="0">
              <a:buNone/>
            </a:pPr>
            <a:r>
              <a:rPr lang="en-US" sz="950" i="1" dirty="0">
                <a:solidFill>
                  <a:srgbClr val="D04A02"/>
                </a:solidFill>
                <a:latin typeface="Calibri" pitchFamily="34" charset="0"/>
                <a:ea typeface="Calibri" pitchFamily="34" charset="-122"/>
                <a:cs typeface="Calibri" pitchFamily="34" charset="-120"/>
              </a:rPr>
              <a:t>Ranking data-driven</a:t>
            </a:r>
            <a:endParaRPr lang="en-US" sz="950" dirty="0"/>
          </a:p>
        </p:txBody>
      </p:sp>
      <p:sp>
        <p:nvSpPr>
          <p:cNvPr id="35" name="Shape 33"/>
          <p:cNvSpPr/>
          <p:nvPr/>
        </p:nvSpPr>
        <p:spPr>
          <a:xfrm>
            <a:off x="8229600" y="4069080"/>
            <a:ext cx="3657600" cy="2194560"/>
          </a:xfrm>
          <a:prstGeom prst="rect">
            <a:avLst/>
          </a:prstGeom>
          <a:solidFill>
            <a:srgbClr val="F2F2F2"/>
          </a:solidFill>
          <a:ln/>
        </p:spPr>
        <p:txBody>
          <a:bodyPr/>
          <a:lstStyle/>
          <a:p>
            <a:endParaRPr lang="es-PE"/>
          </a:p>
        </p:txBody>
      </p:sp>
      <p:sp>
        <p:nvSpPr>
          <p:cNvPr id="36" name="Shape 34"/>
          <p:cNvSpPr/>
          <p:nvPr/>
        </p:nvSpPr>
        <p:spPr>
          <a:xfrm>
            <a:off x="8229600" y="4069080"/>
            <a:ext cx="3657600" cy="54864"/>
          </a:xfrm>
          <a:prstGeom prst="rect">
            <a:avLst/>
          </a:prstGeom>
          <a:solidFill>
            <a:srgbClr val="D04A02"/>
          </a:solidFill>
          <a:ln/>
        </p:spPr>
        <p:txBody>
          <a:bodyPr/>
          <a:lstStyle/>
          <a:p>
            <a:endParaRPr lang="es-PE"/>
          </a:p>
        </p:txBody>
      </p:sp>
      <p:sp>
        <p:nvSpPr>
          <p:cNvPr id="37" name="Text 35"/>
          <p:cNvSpPr/>
          <p:nvPr/>
        </p:nvSpPr>
        <p:spPr>
          <a:xfrm>
            <a:off x="8366760" y="4251960"/>
            <a:ext cx="640080" cy="457200"/>
          </a:xfrm>
          <a:prstGeom prst="rect">
            <a:avLst/>
          </a:prstGeom>
          <a:noFill/>
          <a:ln/>
        </p:spPr>
        <p:txBody>
          <a:bodyPr wrap="square" lIns="0" tIns="0" rIns="0" bIns="0" rtlCol="0" anchor="ctr"/>
          <a:lstStyle/>
          <a:p>
            <a:pPr marL="0" indent="0">
              <a:buNone/>
            </a:pPr>
            <a:r>
              <a:rPr lang="en-US" sz="2200" b="1" dirty="0">
                <a:solidFill>
                  <a:srgbClr val="D04A02"/>
                </a:solidFill>
                <a:latin typeface="Georgia" pitchFamily="34" charset="0"/>
                <a:ea typeface="Georgia" pitchFamily="34" charset="-122"/>
                <a:cs typeface="Georgia" pitchFamily="34" charset="-120"/>
              </a:rPr>
              <a:t>06</a:t>
            </a:r>
            <a:endParaRPr lang="en-US" sz="2200" dirty="0"/>
          </a:p>
        </p:txBody>
      </p:sp>
      <p:sp>
        <p:nvSpPr>
          <p:cNvPr id="38" name="Text 36"/>
          <p:cNvSpPr/>
          <p:nvPr/>
        </p:nvSpPr>
        <p:spPr>
          <a:xfrm>
            <a:off x="9052560" y="4297680"/>
            <a:ext cx="2743200" cy="36576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Risk + Upsell</a:t>
            </a:r>
            <a:endParaRPr lang="en-US" sz="1400" dirty="0"/>
          </a:p>
        </p:txBody>
      </p:sp>
      <p:sp>
        <p:nvSpPr>
          <p:cNvPr id="39" name="Text 37"/>
          <p:cNvSpPr/>
          <p:nvPr/>
        </p:nvSpPr>
        <p:spPr>
          <a:xfrm>
            <a:off x="8366760" y="4800600"/>
            <a:ext cx="3383280" cy="1005840"/>
          </a:xfrm>
          <a:prstGeom prst="rect">
            <a:avLst/>
          </a:prstGeom>
          <a:noFill/>
          <a:ln/>
        </p:spPr>
        <p:txBody>
          <a:bodyPr wrap="square" lIns="0" tIns="0" rIns="0" bIns="0" rtlCol="0" anchor="ctr"/>
          <a:lstStyle/>
          <a:p>
            <a:pPr marL="0" indent="0">
              <a:buNone/>
            </a:pPr>
            <a:r>
              <a:rPr lang="en-US" sz="1050" dirty="0">
                <a:solidFill>
                  <a:srgbClr val="333333"/>
                </a:solidFill>
                <a:latin typeface="Calibri" pitchFamily="34" charset="0"/>
                <a:ea typeface="Calibri" pitchFamily="34" charset="-122"/>
                <a:cs typeface="Calibri" pitchFamily="34" charset="-120"/>
              </a:rPr>
              <a:t>Churn = 4 factores aditivos, 4 niveles.</a:t>
            </a:r>
            <a:endParaRPr lang="en-US" sz="1050" dirty="0"/>
          </a:p>
          <a:p>
            <a:pPr marL="0" indent="0">
              <a:buNone/>
            </a:pPr>
            <a:r>
              <a:rPr lang="en-US" sz="1050" dirty="0">
                <a:solidFill>
                  <a:srgbClr val="333333"/>
                </a:solidFill>
                <a:latin typeface="Calibri" pitchFamily="34" charset="0"/>
                <a:ea typeface="Calibri" pitchFamily="34" charset="-122"/>
                <a:cs typeface="Calibri" pitchFamily="34" charset="-120"/>
              </a:rPr>
              <a:t>Upsell = gap P75 por (cluster × Sub-LoS).</a:t>
            </a:r>
            <a:endParaRPr lang="en-US" sz="1050" dirty="0"/>
          </a:p>
        </p:txBody>
      </p:sp>
      <p:sp>
        <p:nvSpPr>
          <p:cNvPr id="40" name="Text 38"/>
          <p:cNvSpPr/>
          <p:nvPr/>
        </p:nvSpPr>
        <p:spPr>
          <a:xfrm>
            <a:off x="8366760" y="5852160"/>
            <a:ext cx="3383280" cy="320040"/>
          </a:xfrm>
          <a:prstGeom prst="rect">
            <a:avLst/>
          </a:prstGeom>
          <a:noFill/>
          <a:ln/>
        </p:spPr>
        <p:txBody>
          <a:bodyPr wrap="square" lIns="0" tIns="0" rIns="0" bIns="0" rtlCol="0" anchor="ctr"/>
          <a:lstStyle/>
          <a:p>
            <a:pPr marL="0" indent="0">
              <a:buNone/>
            </a:pPr>
            <a:r>
              <a:rPr lang="en-US" sz="950" i="1" dirty="0">
                <a:solidFill>
                  <a:srgbClr val="D04A02"/>
                </a:solidFill>
                <a:latin typeface="Calibri" pitchFamily="34" charset="0"/>
                <a:ea typeface="Calibri" pitchFamily="34" charset="-122"/>
                <a:cs typeface="Calibri" pitchFamily="34" charset="-120"/>
              </a:rPr>
              <a:t>Inteligencia accionable</a:t>
            </a:r>
            <a:endParaRPr lang="en-US" sz="950" dirty="0"/>
          </a:p>
        </p:txBody>
      </p:sp>
      <p:sp>
        <p:nvSpPr>
          <p:cNvPr id="41" name="Text 39"/>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42" name="Text 40"/>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4/32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Target Score — Las 10 Variables y sus Pesos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993134665"/>
              </p:ext>
            </p:extLst>
          </p:nvPr>
        </p:nvGraphicFramePr>
        <p:xfrm>
          <a:off x="6858000" y="1600200"/>
          <a:ext cx="4846320" cy="3383280"/>
        </p:xfrm>
        <a:graphic>
          <a:graphicData uri="http://schemas.openxmlformats.org/drawingml/2006/table">
            <a:tbl>
              <a:tblPr/>
              <a:tblGrid>
                <a:gridCol w="5486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3832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Peso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extLst>
                  <a:ext uri="{0D108BD9-81ED-4DB2-BD59-A6C34878D82A}">
                    <a16:rowId xmlns:a16="http://schemas.microsoft.com/office/drawing/2014/main" val="10000"/>
                  </a:ext>
                </a:extLst>
              </a:tr>
              <a:tr h="338328">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avg margin pct</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100" b="1" dirty="0">
                          <a:solidFill>
                            <a:srgbClr val="333333"/>
                          </a:solidFill>
                          <a:latin typeface="Calibri" pitchFamily="34" charset="0"/>
                          <a:ea typeface="Calibri" pitchFamily="34" charset="-122"/>
                          <a:cs typeface="Calibri" pitchFamily="34" charset="-120"/>
                        </a:rPr>
                        <a:t>17.00 %</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is prioritaria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100" b="0" dirty="0">
                          <a:solidFill>
                            <a:srgbClr val="333333"/>
                          </a:solidFill>
                          <a:latin typeface="Calibri" pitchFamily="34" charset="0"/>
                          <a:ea typeface="Calibri" pitchFamily="34" charset="-122"/>
                          <a:cs typeface="Calibri" pitchFamily="34" charset="-120"/>
                        </a:rPr>
                        <a:t>11.60 %</a:t>
                      </a:r>
                      <a:endParaRPr lang="en-US" sz="1100" b="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venta reciente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100" dirty="0">
                          <a:solidFill>
                            <a:srgbClr val="333333"/>
                          </a:solidFill>
                          <a:latin typeface="Calibri" pitchFamily="34" charset="0"/>
                          <a:ea typeface="Calibri" pitchFamily="34" charset="-122"/>
                          <a:cs typeface="Calibri" pitchFamily="34" charset="-120"/>
                        </a:rPr>
                        <a:t>11.55 %</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revenue reciente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100" dirty="0">
                          <a:solidFill>
                            <a:srgbClr val="333333"/>
                          </a:solidFill>
                          <a:latin typeface="Calibri" pitchFamily="34" charset="0"/>
                          <a:ea typeface="Calibri" pitchFamily="34" charset="-122"/>
                          <a:cs typeface="Calibri" pitchFamily="34" charset="-120"/>
                        </a:rPr>
                        <a:t>11.00 %</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indice potencial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100" dirty="0">
                          <a:solidFill>
                            <a:srgbClr val="333333"/>
                          </a:solidFill>
                          <a:latin typeface="Calibri" pitchFamily="34" charset="0"/>
                          <a:ea typeface="Calibri" pitchFamily="34" charset="-122"/>
                          <a:cs typeface="Calibri" pitchFamily="34" charset="-120"/>
                        </a:rPr>
                        <a:t>10.69 %</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338328">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indice relacionamiento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100" dirty="0">
                          <a:solidFill>
                            <a:srgbClr val="333333"/>
                          </a:solidFill>
                          <a:latin typeface="Calibri" pitchFamily="34" charset="0"/>
                          <a:ea typeface="Calibri" pitchFamily="34" charset="-122"/>
                          <a:cs typeface="Calibri" pitchFamily="34" charset="-120"/>
                        </a:rPr>
                        <a:t>10.68 %</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338328">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won total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100" dirty="0">
                          <a:solidFill>
                            <a:srgbClr val="333333"/>
                          </a:solidFill>
                          <a:latin typeface="Calibri" pitchFamily="34" charset="0"/>
                          <a:ea typeface="Calibri" pitchFamily="34" charset="-122"/>
                          <a:cs typeface="Calibri" pitchFamily="34" charset="-120"/>
                        </a:rPr>
                        <a:t>10.63 %</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r h="338328">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sublos diversity</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100" dirty="0">
                          <a:solidFill>
                            <a:srgbClr val="333333"/>
                          </a:solidFill>
                          <a:latin typeface="Calibri" pitchFamily="34" charset="0"/>
                          <a:ea typeface="Calibri" pitchFamily="34" charset="-122"/>
                          <a:cs typeface="Calibri" pitchFamily="34" charset="-120"/>
                        </a:rPr>
                        <a:t>9.50 %</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8"/>
                  </a:ext>
                </a:extLst>
              </a:tr>
              <a:tr h="338328">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33333"/>
                          </a:solidFill>
                          <a:latin typeface="Calibri" pitchFamily="34" charset="0"/>
                          <a:ea typeface="Calibri" pitchFamily="34" charset="-122"/>
                          <a:cs typeface="Calibri" pitchFamily="34" charset="-120"/>
                        </a:rPr>
                        <a:t>channel score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100" dirty="0">
                          <a:solidFill>
                            <a:srgbClr val="333333"/>
                          </a:solidFill>
                          <a:latin typeface="Calibri" pitchFamily="34" charset="0"/>
                          <a:ea typeface="Calibri" pitchFamily="34" charset="-122"/>
                          <a:cs typeface="Calibri" pitchFamily="34" charset="-120"/>
                        </a:rPr>
                        <a:t>7.35 %</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4"/>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9"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9/32</a:t>
            </a:r>
            <a:endParaRPr lang="en-US" sz="800" dirty="0"/>
          </a:p>
        </p:txBody>
      </p:sp>
      <p:pic>
        <p:nvPicPr>
          <p:cNvPr id="5122" name="Picture 2">
            <a:extLst>
              <a:ext uri="{FF2B5EF4-FFF2-40B4-BE49-F238E27FC236}">
                <a16:creationId xmlns:a16="http://schemas.microsoft.com/office/drawing/2014/main" id="{0B2DEA10-5019-F5D3-E495-F9AF590A3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158" y="1735141"/>
            <a:ext cx="6294486" cy="37512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Churn Risk — 4 Factores Aditivos (v7i · tope 100 pts)</a:t>
            </a:r>
            <a:endParaRPr lang="en-US" sz="2600" dirty="0"/>
          </a:p>
        </p:txBody>
      </p:sp>
      <p:sp>
        <p:nvSpPr>
          <p:cNvPr id="5" name="Shape 3"/>
          <p:cNvSpPr/>
          <p:nvPr/>
        </p:nvSpPr>
        <p:spPr>
          <a:xfrm>
            <a:off x="457200" y="1600200"/>
            <a:ext cx="11247120" cy="685800"/>
          </a:xfrm>
          <a:prstGeom prst="rect">
            <a:avLst/>
          </a:prstGeom>
          <a:solidFill>
            <a:srgbClr val="F2F2F2"/>
          </a:solidFill>
          <a:ln/>
        </p:spPr>
        <p:txBody>
          <a:bodyPr/>
          <a:lstStyle/>
          <a:p>
            <a:endParaRPr lang="es-PE"/>
          </a:p>
        </p:txBody>
      </p:sp>
      <p:sp>
        <p:nvSpPr>
          <p:cNvPr id="6" name="Shape 4"/>
          <p:cNvSpPr/>
          <p:nvPr/>
        </p:nvSpPr>
        <p:spPr>
          <a:xfrm>
            <a:off x="457200" y="1600200"/>
            <a:ext cx="91440" cy="685800"/>
          </a:xfrm>
          <a:prstGeom prst="rect">
            <a:avLst/>
          </a:prstGeom>
          <a:solidFill>
            <a:srgbClr val="C0392B"/>
          </a:solidFill>
          <a:ln/>
        </p:spPr>
        <p:txBody>
          <a:bodyPr/>
          <a:lstStyle/>
          <a:p>
            <a:endParaRPr lang="es-PE"/>
          </a:p>
        </p:txBody>
      </p:sp>
      <p:sp>
        <p:nvSpPr>
          <p:cNvPr id="7" name="Text 5"/>
          <p:cNvSpPr/>
          <p:nvPr/>
        </p:nvSpPr>
        <p:spPr>
          <a:xfrm>
            <a:off x="685800" y="1691640"/>
            <a:ext cx="1097280" cy="502920"/>
          </a:xfrm>
          <a:prstGeom prst="rect">
            <a:avLst/>
          </a:prstGeom>
          <a:noFill/>
          <a:ln/>
        </p:spPr>
        <p:txBody>
          <a:bodyPr wrap="square" lIns="0" tIns="0" rIns="0" bIns="0" rtlCol="0" anchor="ctr"/>
          <a:lstStyle/>
          <a:p>
            <a:pPr marL="0" indent="0" algn="ctr">
              <a:buNone/>
            </a:pPr>
            <a:r>
              <a:rPr lang="en-US" sz="2200" b="1" dirty="0">
                <a:solidFill>
                  <a:srgbClr val="C0392B"/>
                </a:solidFill>
                <a:latin typeface="Georgia" pitchFamily="34" charset="0"/>
                <a:ea typeface="Georgia" pitchFamily="34" charset="-122"/>
                <a:cs typeface="Georgia" pitchFamily="34" charset="-120"/>
              </a:rPr>
              <a:t>30 pts</a:t>
            </a:r>
            <a:endParaRPr lang="en-US" sz="2200" dirty="0"/>
          </a:p>
        </p:txBody>
      </p:sp>
      <p:sp>
        <p:nvSpPr>
          <p:cNvPr id="8" name="Text 6"/>
          <p:cNvSpPr/>
          <p:nvPr/>
        </p:nvSpPr>
        <p:spPr>
          <a:xfrm>
            <a:off x="1920240" y="1673352"/>
            <a:ext cx="3931920" cy="32004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Caída ventas &gt; 20 %</a:t>
            </a:r>
            <a:endParaRPr lang="en-US" sz="1400" dirty="0"/>
          </a:p>
        </p:txBody>
      </p:sp>
      <p:sp>
        <p:nvSpPr>
          <p:cNvPr id="9" name="Text 7"/>
          <p:cNvSpPr/>
          <p:nvPr/>
        </p:nvSpPr>
        <p:spPr>
          <a:xfrm>
            <a:off x="1920240" y="1965960"/>
            <a:ext cx="3931920" cy="274320"/>
          </a:xfrm>
          <a:prstGeom prst="rect">
            <a:avLst/>
          </a:prstGeom>
          <a:noFill/>
          <a:ln/>
        </p:spPr>
        <p:txBody>
          <a:bodyPr wrap="square" lIns="0" tIns="0" rIns="0" bIns="0" rtlCol="0" anchor="ctr"/>
          <a:lstStyle/>
          <a:p>
            <a:pPr marL="0" indent="0">
              <a:buNone/>
            </a:pPr>
            <a:r>
              <a:rPr lang="en-US" sz="1050" i="1" dirty="0">
                <a:solidFill>
                  <a:srgbClr val="666666"/>
                </a:solidFill>
                <a:latin typeface="Calibri" pitchFamily="34" charset="0"/>
                <a:ea typeface="Calibri" pitchFamily="34" charset="-122"/>
                <a:cs typeface="Calibri" pitchFamily="34" charset="-120"/>
              </a:rPr>
              <a:t>Venta FY25 &lt; 0.8 × Venta FY24</a:t>
            </a:r>
            <a:endParaRPr lang="en-US" sz="1050" dirty="0"/>
          </a:p>
        </p:txBody>
      </p:sp>
      <p:sp>
        <p:nvSpPr>
          <p:cNvPr id="10" name="Text 8"/>
          <p:cNvSpPr/>
          <p:nvPr/>
        </p:nvSpPr>
        <p:spPr>
          <a:xfrm>
            <a:off x="6126480" y="1764792"/>
            <a:ext cx="5486400" cy="365760"/>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Señal: </a:t>
            </a:r>
            <a:r>
              <a:rPr lang="en-US" sz="1100" dirty="0">
                <a:solidFill>
                  <a:srgbClr val="333333"/>
                </a:solidFill>
                <a:latin typeface="Calibri" pitchFamily="34" charset="0"/>
                <a:ea typeface="Calibri" pitchFamily="34" charset="-122"/>
                <a:cs typeface="Calibri" pitchFamily="34" charset="-120"/>
              </a:rPr>
              <a:t>Pérdida de confianza / recorte presupuestal</a:t>
            </a:r>
            <a:endParaRPr lang="en-US" sz="1100" dirty="0"/>
          </a:p>
        </p:txBody>
      </p:sp>
      <p:sp>
        <p:nvSpPr>
          <p:cNvPr id="11" name="Shape 9"/>
          <p:cNvSpPr/>
          <p:nvPr/>
        </p:nvSpPr>
        <p:spPr>
          <a:xfrm>
            <a:off x="457200" y="2377440"/>
            <a:ext cx="11247120" cy="685800"/>
          </a:xfrm>
          <a:prstGeom prst="rect">
            <a:avLst/>
          </a:prstGeom>
          <a:solidFill>
            <a:srgbClr val="F2F2F2"/>
          </a:solidFill>
          <a:ln/>
        </p:spPr>
        <p:txBody>
          <a:bodyPr/>
          <a:lstStyle/>
          <a:p>
            <a:endParaRPr lang="es-PE"/>
          </a:p>
        </p:txBody>
      </p:sp>
      <p:sp>
        <p:nvSpPr>
          <p:cNvPr id="12" name="Shape 10"/>
          <p:cNvSpPr/>
          <p:nvPr/>
        </p:nvSpPr>
        <p:spPr>
          <a:xfrm>
            <a:off x="457200" y="2377440"/>
            <a:ext cx="91440" cy="685800"/>
          </a:xfrm>
          <a:prstGeom prst="rect">
            <a:avLst/>
          </a:prstGeom>
          <a:solidFill>
            <a:srgbClr val="C0392B"/>
          </a:solidFill>
          <a:ln/>
        </p:spPr>
        <p:txBody>
          <a:bodyPr/>
          <a:lstStyle/>
          <a:p>
            <a:endParaRPr lang="es-PE"/>
          </a:p>
        </p:txBody>
      </p:sp>
      <p:sp>
        <p:nvSpPr>
          <p:cNvPr id="13" name="Text 11"/>
          <p:cNvSpPr/>
          <p:nvPr/>
        </p:nvSpPr>
        <p:spPr>
          <a:xfrm>
            <a:off x="685800" y="2468880"/>
            <a:ext cx="1097280" cy="502920"/>
          </a:xfrm>
          <a:prstGeom prst="rect">
            <a:avLst/>
          </a:prstGeom>
          <a:noFill/>
          <a:ln/>
        </p:spPr>
        <p:txBody>
          <a:bodyPr wrap="square" lIns="0" tIns="0" rIns="0" bIns="0" rtlCol="0" anchor="ctr"/>
          <a:lstStyle/>
          <a:p>
            <a:pPr marL="0" indent="0" algn="ctr">
              <a:buNone/>
            </a:pPr>
            <a:r>
              <a:rPr lang="en-US" sz="2200" b="1" dirty="0">
                <a:solidFill>
                  <a:srgbClr val="C0392B"/>
                </a:solidFill>
                <a:latin typeface="Georgia" pitchFamily="34" charset="0"/>
                <a:ea typeface="Georgia" pitchFamily="34" charset="-122"/>
                <a:cs typeface="Georgia" pitchFamily="34" charset="-120"/>
              </a:rPr>
              <a:t>25 pts</a:t>
            </a:r>
            <a:endParaRPr lang="en-US" sz="2200" dirty="0"/>
          </a:p>
        </p:txBody>
      </p:sp>
      <p:sp>
        <p:nvSpPr>
          <p:cNvPr id="14" name="Text 12"/>
          <p:cNvSpPr/>
          <p:nvPr/>
        </p:nvSpPr>
        <p:spPr>
          <a:xfrm>
            <a:off x="1920240" y="2450592"/>
            <a:ext cx="3931920" cy="32004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Sin actividad FY25-26</a:t>
            </a:r>
            <a:endParaRPr lang="en-US" sz="1400" dirty="0"/>
          </a:p>
        </p:txBody>
      </p:sp>
      <p:sp>
        <p:nvSpPr>
          <p:cNvPr id="15" name="Text 13"/>
          <p:cNvSpPr/>
          <p:nvPr/>
        </p:nvSpPr>
        <p:spPr>
          <a:xfrm>
            <a:off x="1920240" y="2743200"/>
            <a:ext cx="3931920" cy="274320"/>
          </a:xfrm>
          <a:prstGeom prst="rect">
            <a:avLst/>
          </a:prstGeom>
          <a:noFill/>
          <a:ln/>
        </p:spPr>
        <p:txBody>
          <a:bodyPr wrap="square" lIns="0" tIns="0" rIns="0" bIns="0" rtlCol="0" anchor="ctr"/>
          <a:lstStyle/>
          <a:p>
            <a:pPr marL="0" indent="0">
              <a:buNone/>
            </a:pPr>
            <a:r>
              <a:rPr lang="en-US" sz="1050" i="1" dirty="0">
                <a:solidFill>
                  <a:srgbClr val="666666"/>
                </a:solidFill>
                <a:latin typeface="Calibri" pitchFamily="34" charset="0"/>
                <a:ea typeface="Calibri" pitchFamily="34" charset="-122"/>
                <a:cs typeface="Calibri" pitchFamily="34" charset="-120"/>
              </a:rPr>
              <a:t>0 transacciones en los últimos 2 FY</a:t>
            </a:r>
            <a:endParaRPr lang="en-US" sz="1050" dirty="0"/>
          </a:p>
        </p:txBody>
      </p:sp>
      <p:sp>
        <p:nvSpPr>
          <p:cNvPr id="16" name="Text 14"/>
          <p:cNvSpPr/>
          <p:nvPr/>
        </p:nvSpPr>
        <p:spPr>
          <a:xfrm>
            <a:off x="6126480" y="2542032"/>
            <a:ext cx="5486400" cy="365760"/>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Señal: </a:t>
            </a:r>
            <a:r>
              <a:rPr lang="en-US" sz="1100" dirty="0">
                <a:solidFill>
                  <a:srgbClr val="333333"/>
                </a:solidFill>
                <a:latin typeface="Calibri" pitchFamily="34" charset="0"/>
                <a:ea typeface="Calibri" pitchFamily="34" charset="-122"/>
                <a:cs typeface="Calibri" pitchFamily="34" charset="-120"/>
              </a:rPr>
              <a:t>Cliente potencialmente perdido o en pausa</a:t>
            </a:r>
            <a:endParaRPr lang="en-US" sz="1100" dirty="0"/>
          </a:p>
        </p:txBody>
      </p:sp>
      <p:sp>
        <p:nvSpPr>
          <p:cNvPr id="17" name="Shape 15"/>
          <p:cNvSpPr/>
          <p:nvPr/>
        </p:nvSpPr>
        <p:spPr>
          <a:xfrm>
            <a:off x="457200" y="3154680"/>
            <a:ext cx="11247120" cy="685800"/>
          </a:xfrm>
          <a:prstGeom prst="rect">
            <a:avLst/>
          </a:prstGeom>
          <a:solidFill>
            <a:srgbClr val="F2F2F2"/>
          </a:solidFill>
          <a:ln/>
        </p:spPr>
        <p:txBody>
          <a:bodyPr/>
          <a:lstStyle/>
          <a:p>
            <a:endParaRPr lang="es-PE"/>
          </a:p>
        </p:txBody>
      </p:sp>
      <p:sp>
        <p:nvSpPr>
          <p:cNvPr id="18" name="Shape 16"/>
          <p:cNvSpPr/>
          <p:nvPr/>
        </p:nvSpPr>
        <p:spPr>
          <a:xfrm>
            <a:off x="457200" y="3154680"/>
            <a:ext cx="91440" cy="685800"/>
          </a:xfrm>
          <a:prstGeom prst="rect">
            <a:avLst/>
          </a:prstGeom>
          <a:solidFill>
            <a:srgbClr val="D4A843"/>
          </a:solidFill>
          <a:ln/>
        </p:spPr>
        <p:txBody>
          <a:bodyPr/>
          <a:lstStyle/>
          <a:p>
            <a:endParaRPr lang="es-PE"/>
          </a:p>
        </p:txBody>
      </p:sp>
      <p:sp>
        <p:nvSpPr>
          <p:cNvPr id="19" name="Text 17"/>
          <p:cNvSpPr/>
          <p:nvPr/>
        </p:nvSpPr>
        <p:spPr>
          <a:xfrm>
            <a:off x="685800" y="3246120"/>
            <a:ext cx="1097280" cy="502920"/>
          </a:xfrm>
          <a:prstGeom prst="rect">
            <a:avLst/>
          </a:prstGeom>
          <a:noFill/>
          <a:ln/>
        </p:spPr>
        <p:txBody>
          <a:bodyPr wrap="square" lIns="0" tIns="0" rIns="0" bIns="0" rtlCol="0" anchor="ctr"/>
          <a:lstStyle/>
          <a:p>
            <a:pPr marL="0" indent="0" algn="ctr">
              <a:buNone/>
            </a:pPr>
            <a:r>
              <a:rPr lang="en-US" sz="2200" b="1" dirty="0">
                <a:solidFill>
                  <a:srgbClr val="D4A843"/>
                </a:solidFill>
                <a:latin typeface="Georgia" pitchFamily="34" charset="0"/>
                <a:ea typeface="Georgia" pitchFamily="34" charset="-122"/>
                <a:cs typeface="Georgia" pitchFamily="34" charset="-120"/>
              </a:rPr>
              <a:t>25 pts</a:t>
            </a:r>
            <a:endParaRPr lang="en-US" sz="2200" dirty="0"/>
          </a:p>
        </p:txBody>
      </p:sp>
      <p:sp>
        <p:nvSpPr>
          <p:cNvPr id="20" name="Text 18"/>
          <p:cNvSpPr/>
          <p:nvPr/>
        </p:nvSpPr>
        <p:spPr>
          <a:xfrm>
            <a:off x="1920240" y="3227832"/>
            <a:ext cx="3931920" cy="32004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Margin negativo</a:t>
            </a:r>
            <a:endParaRPr lang="en-US" sz="1400" dirty="0"/>
          </a:p>
        </p:txBody>
      </p:sp>
      <p:sp>
        <p:nvSpPr>
          <p:cNvPr id="21" name="Text 19"/>
          <p:cNvSpPr/>
          <p:nvPr/>
        </p:nvSpPr>
        <p:spPr>
          <a:xfrm>
            <a:off x="1920240" y="3520440"/>
            <a:ext cx="3931920" cy="274320"/>
          </a:xfrm>
          <a:prstGeom prst="rect">
            <a:avLst/>
          </a:prstGeom>
          <a:noFill/>
          <a:ln/>
        </p:spPr>
        <p:txBody>
          <a:bodyPr wrap="square" lIns="0" tIns="0" rIns="0" bIns="0" rtlCol="0" anchor="ctr"/>
          <a:lstStyle/>
          <a:p>
            <a:pPr marL="0" indent="0">
              <a:buNone/>
            </a:pPr>
            <a:r>
              <a:rPr lang="en-US" sz="1050" i="1" dirty="0">
                <a:solidFill>
                  <a:srgbClr val="666666"/>
                </a:solidFill>
                <a:latin typeface="Calibri" pitchFamily="34" charset="0"/>
                <a:ea typeface="Calibri" pitchFamily="34" charset="-122"/>
                <a:cs typeface="Calibri" pitchFamily="34" charset="-120"/>
              </a:rPr>
              <a:t>avg_margin_pct &lt; 0</a:t>
            </a:r>
            <a:endParaRPr lang="en-US" sz="1050" dirty="0"/>
          </a:p>
        </p:txBody>
      </p:sp>
      <p:sp>
        <p:nvSpPr>
          <p:cNvPr id="22" name="Text 20"/>
          <p:cNvSpPr/>
          <p:nvPr/>
        </p:nvSpPr>
        <p:spPr>
          <a:xfrm>
            <a:off x="6126480" y="3319272"/>
            <a:ext cx="5486400" cy="365760"/>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Señal: </a:t>
            </a:r>
            <a:r>
              <a:rPr lang="en-US" sz="1100" dirty="0">
                <a:solidFill>
                  <a:srgbClr val="333333"/>
                </a:solidFill>
                <a:latin typeface="Calibri" pitchFamily="34" charset="0"/>
                <a:ea typeface="Calibri" pitchFamily="34" charset="-122"/>
                <a:cs typeface="Calibri" pitchFamily="34" charset="-120"/>
              </a:rPr>
              <a:t>Proyectos a pérdida = problemas de pricing</a:t>
            </a:r>
            <a:endParaRPr lang="en-US" sz="1100" dirty="0"/>
          </a:p>
        </p:txBody>
      </p:sp>
      <p:sp>
        <p:nvSpPr>
          <p:cNvPr id="23" name="Shape 21"/>
          <p:cNvSpPr/>
          <p:nvPr/>
        </p:nvSpPr>
        <p:spPr>
          <a:xfrm>
            <a:off x="457200" y="3931920"/>
            <a:ext cx="11247120" cy="685800"/>
          </a:xfrm>
          <a:prstGeom prst="rect">
            <a:avLst/>
          </a:prstGeom>
          <a:solidFill>
            <a:srgbClr val="F2F2F2"/>
          </a:solidFill>
          <a:ln/>
        </p:spPr>
        <p:txBody>
          <a:bodyPr/>
          <a:lstStyle/>
          <a:p>
            <a:endParaRPr lang="es-PE"/>
          </a:p>
        </p:txBody>
      </p:sp>
      <p:sp>
        <p:nvSpPr>
          <p:cNvPr id="24" name="Shape 22"/>
          <p:cNvSpPr/>
          <p:nvPr/>
        </p:nvSpPr>
        <p:spPr>
          <a:xfrm>
            <a:off x="457200" y="3931920"/>
            <a:ext cx="91440" cy="685800"/>
          </a:xfrm>
          <a:prstGeom prst="rect">
            <a:avLst/>
          </a:prstGeom>
          <a:solidFill>
            <a:srgbClr val="D04A02"/>
          </a:solidFill>
          <a:ln/>
        </p:spPr>
        <p:txBody>
          <a:bodyPr/>
          <a:lstStyle/>
          <a:p>
            <a:endParaRPr lang="es-PE"/>
          </a:p>
        </p:txBody>
      </p:sp>
      <p:sp>
        <p:nvSpPr>
          <p:cNvPr id="25" name="Text 23"/>
          <p:cNvSpPr/>
          <p:nvPr/>
        </p:nvSpPr>
        <p:spPr>
          <a:xfrm>
            <a:off x="685800" y="4023360"/>
            <a:ext cx="1097280" cy="502920"/>
          </a:xfrm>
          <a:prstGeom prst="rect">
            <a:avLst/>
          </a:prstGeom>
          <a:noFill/>
          <a:ln/>
        </p:spPr>
        <p:txBody>
          <a:bodyPr wrap="square" lIns="0" tIns="0" rIns="0" bIns="0" rtlCol="0" anchor="ctr"/>
          <a:lstStyle/>
          <a:p>
            <a:pPr marL="0" indent="0" algn="ctr">
              <a:buNone/>
            </a:pPr>
            <a:r>
              <a:rPr lang="en-US" sz="2200" b="1" dirty="0">
                <a:solidFill>
                  <a:srgbClr val="D04A02"/>
                </a:solidFill>
                <a:latin typeface="Georgia" pitchFamily="34" charset="0"/>
                <a:ea typeface="Georgia" pitchFamily="34" charset="-122"/>
                <a:cs typeface="Georgia" pitchFamily="34" charset="-120"/>
              </a:rPr>
              <a:t>20 pts</a:t>
            </a:r>
            <a:endParaRPr lang="en-US" sz="2200" dirty="0"/>
          </a:p>
        </p:txBody>
      </p:sp>
      <p:sp>
        <p:nvSpPr>
          <p:cNvPr id="26" name="Text 24"/>
          <p:cNvSpPr/>
          <p:nvPr/>
        </p:nvSpPr>
        <p:spPr>
          <a:xfrm>
            <a:off x="1920240" y="4005072"/>
            <a:ext cx="3931920" cy="32004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Pérdidas recientes &gt; 2</a:t>
            </a:r>
            <a:endParaRPr lang="en-US" sz="1400" dirty="0"/>
          </a:p>
        </p:txBody>
      </p:sp>
      <p:sp>
        <p:nvSpPr>
          <p:cNvPr id="27" name="Text 25"/>
          <p:cNvSpPr/>
          <p:nvPr/>
        </p:nvSpPr>
        <p:spPr>
          <a:xfrm>
            <a:off x="1920240" y="4297680"/>
            <a:ext cx="3931920" cy="274320"/>
          </a:xfrm>
          <a:prstGeom prst="rect">
            <a:avLst/>
          </a:prstGeom>
          <a:noFill/>
          <a:ln/>
        </p:spPr>
        <p:txBody>
          <a:bodyPr wrap="square" lIns="0" tIns="0" rIns="0" bIns="0" rtlCol="0" anchor="ctr"/>
          <a:lstStyle/>
          <a:p>
            <a:pPr marL="0" indent="0">
              <a:buNone/>
            </a:pPr>
            <a:r>
              <a:rPr lang="en-US" sz="1050" i="1" dirty="0">
                <a:solidFill>
                  <a:srgbClr val="666666"/>
                </a:solidFill>
                <a:latin typeface="Calibri" pitchFamily="34" charset="0"/>
                <a:ea typeface="Calibri" pitchFamily="34" charset="-122"/>
                <a:cs typeface="Calibri" pitchFamily="34" charset="-120"/>
              </a:rPr>
              <a:t>Oportunidades LOST en FY25-26 &gt; 2</a:t>
            </a:r>
            <a:endParaRPr lang="en-US" sz="1050" dirty="0"/>
          </a:p>
        </p:txBody>
      </p:sp>
      <p:sp>
        <p:nvSpPr>
          <p:cNvPr id="28" name="Text 26"/>
          <p:cNvSpPr/>
          <p:nvPr/>
        </p:nvSpPr>
        <p:spPr>
          <a:xfrm>
            <a:off x="6126480" y="4096512"/>
            <a:ext cx="5486400" cy="365760"/>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Señal: </a:t>
            </a:r>
            <a:r>
              <a:rPr lang="en-US" sz="1100" dirty="0">
                <a:solidFill>
                  <a:srgbClr val="333333"/>
                </a:solidFill>
                <a:latin typeface="Calibri" pitchFamily="34" charset="0"/>
                <a:ea typeface="Calibri" pitchFamily="34" charset="-122"/>
                <a:cs typeface="Calibri" pitchFamily="34" charset="-120"/>
              </a:rPr>
              <a:t>Señal activa de evaluación de competencia</a:t>
            </a:r>
            <a:endParaRPr lang="en-US" sz="1100" dirty="0"/>
          </a:p>
        </p:txBody>
      </p:sp>
      <p:sp>
        <p:nvSpPr>
          <p:cNvPr id="29" name="Text 27"/>
          <p:cNvSpPr/>
          <p:nvPr/>
        </p:nvSpPr>
        <p:spPr>
          <a:xfrm>
            <a:off x="457200" y="5669280"/>
            <a:ext cx="11247120" cy="320040"/>
          </a:xfrm>
          <a:prstGeom prst="rect">
            <a:avLst/>
          </a:prstGeom>
          <a:noFill/>
          <a:ln/>
        </p:spPr>
        <p:txBody>
          <a:bodyPr wrap="square" lIns="0" tIns="0" rIns="0" bIns="0" rtlCol="0" anchor="ctr"/>
          <a:lstStyle/>
          <a:p>
            <a:pPr marL="0" indent="0" algn="ctr">
              <a:buNone/>
            </a:pPr>
            <a:r>
              <a:rPr lang="en-US" sz="1100" b="1" i="1" dirty="0">
                <a:solidFill>
                  <a:srgbClr val="333333"/>
                </a:solidFill>
                <a:latin typeface="Calibri" pitchFamily="34" charset="0"/>
                <a:ea typeface="Calibri" pitchFamily="34" charset="-122"/>
                <a:cs typeface="Calibri" pitchFamily="34" charset="-120"/>
              </a:rPr>
              <a:t>Score máximo = 100 pts. Niveles: ALTA ≥ 50 · MEDIA 30-49 · MONITOREAR 1-29 · ESTABLE 0.</a:t>
            </a:r>
            <a:endParaRPr lang="en-US" sz="1100" b="1" dirty="0"/>
          </a:p>
        </p:txBody>
      </p:sp>
      <p:sp>
        <p:nvSpPr>
          <p:cNvPr id="30" name="Text 28"/>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31" name="Text 29"/>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10/32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Churn Risk — Distribución de Alertas y Revenue Expuesto</a:t>
            </a:r>
            <a:endParaRPr lang="en-US" sz="2600" dirty="0"/>
          </a:p>
        </p:txBody>
      </p:sp>
      <p:sp>
        <p:nvSpPr>
          <p:cNvPr id="6" name="Shape 3"/>
          <p:cNvSpPr/>
          <p:nvPr/>
        </p:nvSpPr>
        <p:spPr>
          <a:xfrm>
            <a:off x="6400800" y="1600200"/>
            <a:ext cx="5303520" cy="914400"/>
          </a:xfrm>
          <a:prstGeom prst="rect">
            <a:avLst/>
          </a:prstGeom>
          <a:solidFill>
            <a:srgbClr val="F2F2F2"/>
          </a:solidFill>
          <a:ln/>
        </p:spPr>
        <p:txBody>
          <a:bodyPr/>
          <a:lstStyle/>
          <a:p>
            <a:endParaRPr lang="es-PE"/>
          </a:p>
        </p:txBody>
      </p:sp>
      <p:sp>
        <p:nvSpPr>
          <p:cNvPr id="7" name="Shape 4"/>
          <p:cNvSpPr/>
          <p:nvPr/>
        </p:nvSpPr>
        <p:spPr>
          <a:xfrm>
            <a:off x="6400800" y="1600200"/>
            <a:ext cx="91440" cy="914400"/>
          </a:xfrm>
          <a:prstGeom prst="rect">
            <a:avLst/>
          </a:prstGeom>
          <a:solidFill>
            <a:srgbClr val="C0392B"/>
          </a:solidFill>
          <a:ln/>
        </p:spPr>
        <p:txBody>
          <a:bodyPr/>
          <a:lstStyle/>
          <a:p>
            <a:endParaRPr lang="es-PE"/>
          </a:p>
        </p:txBody>
      </p:sp>
      <p:sp>
        <p:nvSpPr>
          <p:cNvPr id="8" name="Text 5"/>
          <p:cNvSpPr/>
          <p:nvPr/>
        </p:nvSpPr>
        <p:spPr>
          <a:xfrm>
            <a:off x="6583680" y="1691640"/>
            <a:ext cx="2743200" cy="365760"/>
          </a:xfrm>
          <a:prstGeom prst="rect">
            <a:avLst/>
          </a:prstGeom>
          <a:noFill/>
          <a:ln/>
        </p:spPr>
        <p:txBody>
          <a:bodyPr wrap="square" lIns="0" tIns="0" rIns="0" bIns="0" rtlCol="0" anchor="ctr"/>
          <a:lstStyle/>
          <a:p>
            <a:pPr marL="0" indent="0">
              <a:buNone/>
            </a:pPr>
            <a:r>
              <a:rPr lang="en-US" sz="1400" b="1" dirty="0">
                <a:solidFill>
                  <a:srgbClr val="C0392B"/>
                </a:solidFill>
                <a:latin typeface="Georgia" pitchFamily="34" charset="0"/>
                <a:ea typeface="Georgia" pitchFamily="34" charset="-122"/>
                <a:cs typeface="Georgia" pitchFamily="34" charset="-120"/>
              </a:rPr>
              <a:t>ALERTA ALTA</a:t>
            </a:r>
            <a:endParaRPr lang="en-US" sz="1400" dirty="0"/>
          </a:p>
        </p:txBody>
      </p:sp>
      <p:sp>
        <p:nvSpPr>
          <p:cNvPr id="9" name="Text 6"/>
          <p:cNvSpPr/>
          <p:nvPr/>
        </p:nvSpPr>
        <p:spPr>
          <a:xfrm>
            <a:off x="6583680" y="2011680"/>
            <a:ext cx="2743200" cy="2743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42 empresas · 4.2 %</a:t>
            </a:r>
            <a:endParaRPr lang="en-US" sz="1100" dirty="0"/>
          </a:p>
        </p:txBody>
      </p:sp>
      <p:sp>
        <p:nvSpPr>
          <p:cNvPr id="10" name="Text 7"/>
          <p:cNvSpPr/>
          <p:nvPr/>
        </p:nvSpPr>
        <p:spPr>
          <a:xfrm>
            <a:off x="9418320" y="1828800"/>
            <a:ext cx="2194560" cy="457200"/>
          </a:xfrm>
          <a:prstGeom prst="rect">
            <a:avLst/>
          </a:prstGeom>
          <a:noFill/>
          <a:ln/>
        </p:spPr>
        <p:txBody>
          <a:bodyPr wrap="square" lIns="0" tIns="0" rIns="0" bIns="0" rtlCol="0" anchor="ctr"/>
          <a:lstStyle/>
          <a:p>
            <a:pPr marL="0" indent="0" algn="r">
              <a:buNone/>
            </a:pPr>
            <a:r>
              <a:rPr lang="en-US" sz="1050" i="1" dirty="0">
                <a:solidFill>
                  <a:srgbClr val="666666"/>
                </a:solidFill>
                <a:latin typeface="Calibri" pitchFamily="34" charset="0"/>
                <a:ea typeface="Calibri" pitchFamily="34" charset="-122"/>
                <a:cs typeface="Calibri" pitchFamily="34" charset="-120"/>
              </a:rPr>
              <a:t>Partner interviene esta semana</a:t>
            </a:r>
            <a:endParaRPr lang="en-US" sz="1050" dirty="0"/>
          </a:p>
        </p:txBody>
      </p:sp>
      <p:sp>
        <p:nvSpPr>
          <p:cNvPr id="11" name="Shape 8"/>
          <p:cNvSpPr/>
          <p:nvPr/>
        </p:nvSpPr>
        <p:spPr>
          <a:xfrm>
            <a:off x="6400800" y="2606040"/>
            <a:ext cx="5303520" cy="914400"/>
          </a:xfrm>
          <a:prstGeom prst="rect">
            <a:avLst/>
          </a:prstGeom>
          <a:solidFill>
            <a:srgbClr val="F2F2F2"/>
          </a:solidFill>
          <a:ln/>
        </p:spPr>
        <p:txBody>
          <a:bodyPr/>
          <a:lstStyle/>
          <a:p>
            <a:endParaRPr lang="es-PE"/>
          </a:p>
        </p:txBody>
      </p:sp>
      <p:sp>
        <p:nvSpPr>
          <p:cNvPr id="13" name="Text 10"/>
          <p:cNvSpPr/>
          <p:nvPr/>
        </p:nvSpPr>
        <p:spPr>
          <a:xfrm>
            <a:off x="6583680" y="2697480"/>
            <a:ext cx="2743200" cy="365760"/>
          </a:xfrm>
          <a:prstGeom prst="rect">
            <a:avLst/>
          </a:prstGeom>
          <a:noFill/>
          <a:ln/>
        </p:spPr>
        <p:txBody>
          <a:bodyPr wrap="square" lIns="0" tIns="0" rIns="0" bIns="0" rtlCol="0" anchor="ctr"/>
          <a:lstStyle/>
          <a:p>
            <a:pPr marL="0" indent="0">
              <a:buNone/>
            </a:pPr>
            <a:r>
              <a:rPr lang="en-US" sz="1400" b="1" dirty="0">
                <a:solidFill>
                  <a:srgbClr val="4E8B9F"/>
                </a:solidFill>
                <a:latin typeface="Georgia" pitchFamily="34" charset="0"/>
              </a:rPr>
              <a:t>ALERTA MEDIA</a:t>
            </a:r>
          </a:p>
        </p:txBody>
      </p:sp>
      <p:sp>
        <p:nvSpPr>
          <p:cNvPr id="14" name="Text 11"/>
          <p:cNvSpPr/>
          <p:nvPr/>
        </p:nvSpPr>
        <p:spPr>
          <a:xfrm>
            <a:off x="6583680" y="3017520"/>
            <a:ext cx="2743200" cy="2743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144 empresas · 14.4 %</a:t>
            </a:r>
            <a:endParaRPr lang="en-US" sz="1100" dirty="0"/>
          </a:p>
        </p:txBody>
      </p:sp>
      <p:sp>
        <p:nvSpPr>
          <p:cNvPr id="15" name="Text 12"/>
          <p:cNvSpPr/>
          <p:nvPr/>
        </p:nvSpPr>
        <p:spPr>
          <a:xfrm>
            <a:off x="9418320" y="2834640"/>
            <a:ext cx="2194560" cy="457200"/>
          </a:xfrm>
          <a:prstGeom prst="rect">
            <a:avLst/>
          </a:prstGeom>
          <a:noFill/>
          <a:ln/>
        </p:spPr>
        <p:txBody>
          <a:bodyPr wrap="square" lIns="0" tIns="0" rIns="0" bIns="0" rtlCol="0" anchor="ctr"/>
          <a:lstStyle/>
          <a:p>
            <a:pPr marL="0" indent="0" algn="r">
              <a:buNone/>
            </a:pPr>
            <a:r>
              <a:rPr lang="en-US" sz="1050" i="1" dirty="0">
                <a:solidFill>
                  <a:srgbClr val="666666"/>
                </a:solidFill>
                <a:latin typeface="Calibri" pitchFamily="34" charset="0"/>
                <a:ea typeface="Calibri" pitchFamily="34" charset="-122"/>
                <a:cs typeface="Calibri" pitchFamily="34" charset="-120"/>
              </a:rPr>
              <a:t>Account Manager en 2 semanas</a:t>
            </a:r>
            <a:endParaRPr lang="en-US" sz="1050" dirty="0"/>
          </a:p>
        </p:txBody>
      </p:sp>
      <p:sp>
        <p:nvSpPr>
          <p:cNvPr id="16" name="Shape 13"/>
          <p:cNvSpPr/>
          <p:nvPr/>
        </p:nvSpPr>
        <p:spPr>
          <a:xfrm>
            <a:off x="6400800" y="3611880"/>
            <a:ext cx="5303520" cy="914400"/>
          </a:xfrm>
          <a:prstGeom prst="rect">
            <a:avLst/>
          </a:prstGeom>
          <a:solidFill>
            <a:srgbClr val="F2F2F2"/>
          </a:solidFill>
          <a:ln/>
        </p:spPr>
        <p:txBody>
          <a:bodyPr/>
          <a:lstStyle/>
          <a:p>
            <a:endParaRPr lang="es-PE"/>
          </a:p>
        </p:txBody>
      </p:sp>
      <p:sp>
        <p:nvSpPr>
          <p:cNvPr id="17" name="Shape 14"/>
          <p:cNvSpPr/>
          <p:nvPr/>
        </p:nvSpPr>
        <p:spPr>
          <a:xfrm>
            <a:off x="6400800" y="2606040"/>
            <a:ext cx="91440" cy="914400"/>
          </a:xfrm>
          <a:prstGeom prst="rect">
            <a:avLst/>
          </a:prstGeom>
          <a:solidFill>
            <a:srgbClr val="4E8B9F"/>
          </a:solidFill>
          <a:ln/>
        </p:spPr>
        <p:txBody>
          <a:bodyPr/>
          <a:lstStyle/>
          <a:p>
            <a:endParaRPr lang="es-PE"/>
          </a:p>
        </p:txBody>
      </p:sp>
      <p:sp>
        <p:nvSpPr>
          <p:cNvPr id="18" name="Text 15"/>
          <p:cNvSpPr/>
          <p:nvPr/>
        </p:nvSpPr>
        <p:spPr>
          <a:xfrm>
            <a:off x="6583680" y="3703320"/>
            <a:ext cx="2743200" cy="365760"/>
          </a:xfrm>
          <a:prstGeom prst="rect">
            <a:avLst/>
          </a:prstGeom>
          <a:noFill/>
          <a:ln/>
        </p:spPr>
        <p:txBody>
          <a:bodyPr wrap="square" lIns="0" tIns="0" rIns="0" bIns="0" rtlCol="0" anchor="ctr"/>
          <a:lstStyle/>
          <a:p>
            <a:pPr marL="0" indent="0">
              <a:buNone/>
            </a:pPr>
            <a:r>
              <a:rPr lang="en-US" sz="1400" b="1" dirty="0">
                <a:solidFill>
                  <a:srgbClr val="D4A843"/>
                </a:solidFill>
                <a:latin typeface="Georgia" pitchFamily="34" charset="0"/>
              </a:rPr>
              <a:t>MONITOREAR</a:t>
            </a:r>
          </a:p>
        </p:txBody>
      </p:sp>
      <p:sp>
        <p:nvSpPr>
          <p:cNvPr id="19" name="Text 16"/>
          <p:cNvSpPr/>
          <p:nvPr/>
        </p:nvSpPr>
        <p:spPr>
          <a:xfrm>
            <a:off x="6583680" y="4023360"/>
            <a:ext cx="2743200" cy="2743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458 empresas · 45.8 %</a:t>
            </a:r>
            <a:endParaRPr lang="en-US" sz="1100" dirty="0"/>
          </a:p>
        </p:txBody>
      </p:sp>
      <p:sp>
        <p:nvSpPr>
          <p:cNvPr id="20" name="Text 17"/>
          <p:cNvSpPr/>
          <p:nvPr/>
        </p:nvSpPr>
        <p:spPr>
          <a:xfrm>
            <a:off x="9418320" y="3840480"/>
            <a:ext cx="2194560" cy="457200"/>
          </a:xfrm>
          <a:prstGeom prst="rect">
            <a:avLst/>
          </a:prstGeom>
          <a:noFill/>
          <a:ln/>
        </p:spPr>
        <p:txBody>
          <a:bodyPr wrap="square" lIns="0" tIns="0" rIns="0" bIns="0" rtlCol="0" anchor="ctr"/>
          <a:lstStyle/>
          <a:p>
            <a:pPr marL="0" indent="0" algn="r">
              <a:buNone/>
            </a:pPr>
            <a:r>
              <a:rPr lang="en-US" sz="1050" i="1" dirty="0">
                <a:solidFill>
                  <a:srgbClr val="666666"/>
                </a:solidFill>
                <a:latin typeface="Calibri" pitchFamily="34" charset="0"/>
                <a:ea typeface="Calibri" pitchFamily="34" charset="-122"/>
                <a:cs typeface="Calibri" pitchFamily="34" charset="-120"/>
              </a:rPr>
              <a:t>Seguimiento trimestral</a:t>
            </a:r>
            <a:endParaRPr lang="en-US" sz="1050" dirty="0"/>
          </a:p>
        </p:txBody>
      </p:sp>
      <p:sp>
        <p:nvSpPr>
          <p:cNvPr id="21" name="Shape 18"/>
          <p:cNvSpPr/>
          <p:nvPr/>
        </p:nvSpPr>
        <p:spPr>
          <a:xfrm>
            <a:off x="6400800" y="4617720"/>
            <a:ext cx="5303520" cy="914400"/>
          </a:xfrm>
          <a:prstGeom prst="rect">
            <a:avLst/>
          </a:prstGeom>
          <a:solidFill>
            <a:srgbClr val="F2F2F2"/>
          </a:solidFill>
          <a:ln/>
        </p:spPr>
        <p:txBody>
          <a:bodyPr/>
          <a:lstStyle/>
          <a:p>
            <a:endParaRPr lang="es-PE"/>
          </a:p>
        </p:txBody>
      </p:sp>
      <p:sp>
        <p:nvSpPr>
          <p:cNvPr id="22" name="Shape 19"/>
          <p:cNvSpPr/>
          <p:nvPr/>
        </p:nvSpPr>
        <p:spPr>
          <a:xfrm>
            <a:off x="6400800" y="4617720"/>
            <a:ext cx="91440" cy="914400"/>
          </a:xfrm>
          <a:prstGeom prst="rect">
            <a:avLst/>
          </a:prstGeom>
          <a:solidFill>
            <a:srgbClr val="27AE60"/>
          </a:solidFill>
          <a:ln/>
        </p:spPr>
        <p:txBody>
          <a:bodyPr/>
          <a:lstStyle/>
          <a:p>
            <a:endParaRPr lang="es-PE"/>
          </a:p>
        </p:txBody>
      </p:sp>
      <p:sp>
        <p:nvSpPr>
          <p:cNvPr id="23" name="Text 20"/>
          <p:cNvSpPr/>
          <p:nvPr/>
        </p:nvSpPr>
        <p:spPr>
          <a:xfrm>
            <a:off x="6583680" y="4709160"/>
            <a:ext cx="2743200" cy="365760"/>
          </a:xfrm>
          <a:prstGeom prst="rect">
            <a:avLst/>
          </a:prstGeom>
          <a:noFill/>
          <a:ln/>
        </p:spPr>
        <p:txBody>
          <a:bodyPr wrap="square" lIns="0" tIns="0" rIns="0" bIns="0" rtlCol="0" anchor="ctr"/>
          <a:lstStyle/>
          <a:p>
            <a:pPr marL="0" indent="0">
              <a:buNone/>
            </a:pPr>
            <a:r>
              <a:rPr lang="en-US" sz="1400" b="1" dirty="0">
                <a:solidFill>
                  <a:srgbClr val="27AE60"/>
                </a:solidFill>
                <a:latin typeface="Georgia" pitchFamily="34" charset="0"/>
                <a:ea typeface="Georgia" pitchFamily="34" charset="-122"/>
                <a:cs typeface="Georgia" pitchFamily="34" charset="-120"/>
              </a:rPr>
              <a:t>ESTABLE</a:t>
            </a:r>
            <a:endParaRPr lang="en-US" sz="1400" dirty="0"/>
          </a:p>
        </p:txBody>
      </p:sp>
      <p:sp>
        <p:nvSpPr>
          <p:cNvPr id="24" name="Text 21"/>
          <p:cNvSpPr/>
          <p:nvPr/>
        </p:nvSpPr>
        <p:spPr>
          <a:xfrm>
            <a:off x="6583680" y="5029200"/>
            <a:ext cx="2743200" cy="2743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356 empresas · 35.6 %</a:t>
            </a:r>
            <a:endParaRPr lang="en-US" sz="1100" dirty="0"/>
          </a:p>
        </p:txBody>
      </p:sp>
      <p:sp>
        <p:nvSpPr>
          <p:cNvPr id="25" name="Text 22"/>
          <p:cNvSpPr/>
          <p:nvPr/>
        </p:nvSpPr>
        <p:spPr>
          <a:xfrm>
            <a:off x="9418320" y="4846320"/>
            <a:ext cx="2194560" cy="457200"/>
          </a:xfrm>
          <a:prstGeom prst="rect">
            <a:avLst/>
          </a:prstGeom>
          <a:noFill/>
          <a:ln/>
        </p:spPr>
        <p:txBody>
          <a:bodyPr wrap="square" lIns="0" tIns="0" rIns="0" bIns="0" rtlCol="0" anchor="ctr"/>
          <a:lstStyle/>
          <a:p>
            <a:pPr marL="0" indent="0" algn="r">
              <a:buNone/>
            </a:pPr>
            <a:r>
              <a:rPr lang="en-US" sz="1050" i="1" dirty="0">
                <a:solidFill>
                  <a:srgbClr val="666666"/>
                </a:solidFill>
                <a:latin typeface="Calibri" pitchFamily="34" charset="0"/>
                <a:ea typeface="Calibri" pitchFamily="34" charset="-122"/>
                <a:cs typeface="Calibri" pitchFamily="34" charset="-120"/>
              </a:rPr>
              <a:t>Mantener + upsell</a:t>
            </a:r>
            <a:endParaRPr lang="en-US" sz="1050" dirty="0"/>
          </a:p>
        </p:txBody>
      </p:sp>
      <p:sp>
        <p:nvSpPr>
          <p:cNvPr id="26" name="Shape 23"/>
          <p:cNvSpPr/>
          <p:nvPr/>
        </p:nvSpPr>
        <p:spPr>
          <a:xfrm>
            <a:off x="6400800" y="5669280"/>
            <a:ext cx="5303520" cy="457200"/>
          </a:xfrm>
          <a:prstGeom prst="rect">
            <a:avLst/>
          </a:prstGeom>
          <a:solidFill>
            <a:srgbClr val="FADBD8"/>
          </a:solidFill>
          <a:ln/>
        </p:spPr>
        <p:txBody>
          <a:bodyPr/>
          <a:lstStyle/>
          <a:p>
            <a:endParaRPr lang="es-PE"/>
          </a:p>
        </p:txBody>
      </p:sp>
      <p:sp>
        <p:nvSpPr>
          <p:cNvPr id="27" name="Text 24"/>
          <p:cNvSpPr/>
          <p:nvPr/>
        </p:nvSpPr>
        <p:spPr>
          <a:xfrm>
            <a:off x="6400800" y="5669280"/>
            <a:ext cx="5303520" cy="457200"/>
          </a:xfrm>
          <a:prstGeom prst="rect">
            <a:avLst/>
          </a:prstGeom>
          <a:noFill/>
          <a:ln/>
        </p:spPr>
        <p:txBody>
          <a:bodyPr wrap="square" lIns="0" tIns="0" rIns="0" bIns="0"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Revenue en riesgo (ALTA + MEDIA): S/. 30.5 M</a:t>
            </a:r>
            <a:endParaRPr lang="en-US" sz="1300" dirty="0"/>
          </a:p>
        </p:txBody>
      </p:sp>
      <p:sp>
        <p:nvSpPr>
          <p:cNvPr id="28" name="Text 25"/>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29" name="Text 26"/>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11/32</a:t>
            </a:r>
            <a:endParaRPr lang="en-US" sz="800" dirty="0"/>
          </a:p>
        </p:txBody>
      </p:sp>
      <p:pic>
        <p:nvPicPr>
          <p:cNvPr id="4098" name="Picture 2">
            <a:extLst>
              <a:ext uri="{FF2B5EF4-FFF2-40B4-BE49-F238E27FC236}">
                <a16:creationId xmlns:a16="http://schemas.microsoft.com/office/drawing/2014/main" id="{D354F649-CE11-257F-26FB-BCB5474E8C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3531" y="1538617"/>
            <a:ext cx="4216940" cy="4267823"/>
          </a:xfrm>
          <a:prstGeom prst="rect">
            <a:avLst/>
          </a:prstGeom>
          <a:noFill/>
          <a:extLst>
            <a:ext uri="{909E8E84-426E-40DD-AFC4-6F175D3DCCD1}">
              <a14:hiddenFill xmlns:a14="http://schemas.microsoft.com/office/drawing/2010/main">
                <a:solidFill>
                  <a:srgbClr val="FFFFFF"/>
                </a:solidFill>
              </a14:hiddenFill>
            </a:ext>
          </a:extLst>
        </p:spPr>
      </p:pic>
      <p:sp>
        <p:nvSpPr>
          <p:cNvPr id="12" name="Shape 9"/>
          <p:cNvSpPr/>
          <p:nvPr/>
        </p:nvSpPr>
        <p:spPr>
          <a:xfrm>
            <a:off x="6400800" y="3611880"/>
            <a:ext cx="91440" cy="914400"/>
          </a:xfrm>
          <a:prstGeom prst="rect">
            <a:avLst/>
          </a:prstGeom>
          <a:solidFill>
            <a:srgbClr val="D4A843"/>
          </a:solidFill>
          <a:ln/>
        </p:spPr>
        <p:txBody>
          <a:bodyPr/>
          <a:lstStyle/>
          <a:p>
            <a:endParaRPr lang="es-P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C0392B"/>
          </a:solidFill>
          <a:ln/>
        </p:spPr>
        <p:txBody>
          <a:bodyPr/>
          <a:lstStyle/>
          <a:p>
            <a:endParaRPr lang="es-PE"/>
          </a:p>
        </p:txBody>
      </p:sp>
      <p:sp>
        <p:nvSpPr>
          <p:cNvPr id="3" name="Text 1"/>
          <p:cNvSpPr/>
          <p:nvPr/>
        </p:nvSpPr>
        <p:spPr>
          <a:xfrm>
            <a:off x="457200" y="274320"/>
            <a:ext cx="1371600" cy="365760"/>
          </a:xfrm>
          <a:prstGeom prst="rect">
            <a:avLst/>
          </a:prstGeom>
          <a:noFill/>
          <a:ln/>
        </p:spPr>
        <p:txBody>
          <a:bodyPr wrap="square" lIns="0" tIns="0" rIns="0" bIns="0" rtlCol="0" anchor="ctr"/>
          <a:lstStyle/>
          <a:p>
            <a:pPr marL="0" indent="0">
              <a:buNone/>
            </a:pPr>
            <a:r>
              <a:rPr lang="en-US" sz="1400" b="1" dirty="0">
                <a:solidFill>
                  <a:srgbClr val="E04F16"/>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77240"/>
            <a:ext cx="10972800" cy="594360"/>
          </a:xfrm>
          <a:prstGeom prst="rect">
            <a:avLst/>
          </a:prstGeom>
          <a:noFill/>
          <a:ln/>
        </p:spPr>
        <p:txBody>
          <a:bodyPr wrap="square" lIns="0" tIns="0" rIns="0" bIns="0" rtlCol="0" anchor="ctr"/>
          <a:lstStyle/>
          <a:p>
            <a:pPr marL="0" indent="0">
              <a:buNone/>
            </a:pPr>
            <a:r>
              <a:rPr lang="en-US" sz="2800" b="1" dirty="0">
                <a:solidFill>
                  <a:srgbClr val="2D2D2D"/>
                </a:solidFill>
                <a:latin typeface="Georgia" pitchFamily="34" charset="0"/>
                <a:ea typeface="Georgia" pitchFamily="34" charset="-122"/>
                <a:cs typeface="Georgia" pitchFamily="34" charset="-120"/>
              </a:rPr>
              <a:t>Caso Práctico — Churn Risk en Acción</a:t>
            </a:r>
            <a:endParaRPr lang="en-US" sz="2800" dirty="0"/>
          </a:p>
        </p:txBody>
      </p:sp>
      <p:sp>
        <p:nvSpPr>
          <p:cNvPr id="5" name="Text 3"/>
          <p:cNvSpPr/>
          <p:nvPr/>
        </p:nvSpPr>
        <p:spPr>
          <a:xfrm>
            <a:off x="457200" y="1417320"/>
            <a:ext cx="10972800" cy="274320"/>
          </a:xfrm>
          <a:prstGeom prst="rect">
            <a:avLst/>
          </a:prstGeom>
          <a:noFill/>
          <a:ln/>
        </p:spPr>
        <p:txBody>
          <a:bodyPr wrap="square" lIns="0" tIns="0" rIns="0" bIns="0"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Cómo el modelo detecta riesgo de fuga y qué hacer al respecto — con empresas reales del portafolio.</a:t>
            </a:r>
            <a:endParaRPr lang="en-US" sz="1000" dirty="0"/>
          </a:p>
        </p:txBody>
      </p:sp>
      <p:sp>
        <p:nvSpPr>
          <p:cNvPr id="6" name="Shape 4"/>
          <p:cNvSpPr/>
          <p:nvPr/>
        </p:nvSpPr>
        <p:spPr>
          <a:xfrm>
            <a:off x="457200" y="1828800"/>
            <a:ext cx="5394960" cy="4114800"/>
          </a:xfrm>
          <a:prstGeom prst="rect">
            <a:avLst/>
          </a:prstGeom>
          <a:solidFill>
            <a:srgbClr val="FADBD8"/>
          </a:solidFill>
          <a:ln/>
        </p:spPr>
        <p:txBody>
          <a:bodyPr/>
          <a:lstStyle/>
          <a:p>
            <a:endParaRPr lang="es-PE"/>
          </a:p>
        </p:txBody>
      </p:sp>
      <p:sp>
        <p:nvSpPr>
          <p:cNvPr id="7" name="Shape 5"/>
          <p:cNvSpPr/>
          <p:nvPr/>
        </p:nvSpPr>
        <p:spPr>
          <a:xfrm>
            <a:off x="457200" y="1828800"/>
            <a:ext cx="54864" cy="4114800"/>
          </a:xfrm>
          <a:prstGeom prst="rect">
            <a:avLst/>
          </a:prstGeom>
          <a:solidFill>
            <a:srgbClr val="C0392B"/>
          </a:solidFill>
          <a:ln/>
        </p:spPr>
        <p:txBody>
          <a:bodyPr/>
          <a:lstStyle/>
          <a:p>
            <a:endParaRPr lang="es-PE"/>
          </a:p>
        </p:txBody>
      </p:sp>
      <p:sp>
        <p:nvSpPr>
          <p:cNvPr id="8" name="Shape 6"/>
          <p:cNvSpPr/>
          <p:nvPr/>
        </p:nvSpPr>
        <p:spPr>
          <a:xfrm>
            <a:off x="685800" y="1874520"/>
            <a:ext cx="1280160" cy="274320"/>
          </a:xfrm>
          <a:prstGeom prst="rect">
            <a:avLst/>
          </a:prstGeom>
          <a:solidFill>
            <a:srgbClr val="C0392B"/>
          </a:solidFill>
          <a:ln/>
        </p:spPr>
        <p:txBody>
          <a:bodyPr/>
          <a:lstStyle/>
          <a:p>
            <a:endParaRPr lang="es-PE"/>
          </a:p>
        </p:txBody>
      </p:sp>
      <p:sp>
        <p:nvSpPr>
          <p:cNvPr id="9" name="Text 7"/>
          <p:cNvSpPr/>
          <p:nvPr/>
        </p:nvSpPr>
        <p:spPr>
          <a:xfrm>
            <a:off x="685800" y="1874520"/>
            <a:ext cx="12801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ALERTA ALTA</a:t>
            </a:r>
            <a:endParaRPr lang="en-US" sz="800" dirty="0"/>
          </a:p>
        </p:txBody>
      </p:sp>
      <p:sp>
        <p:nvSpPr>
          <p:cNvPr id="10" name="Text 8"/>
          <p:cNvSpPr/>
          <p:nvPr/>
        </p:nvSpPr>
        <p:spPr>
          <a:xfrm>
            <a:off x="685800" y="2240280"/>
            <a:ext cx="4937760" cy="320040"/>
          </a:xfrm>
          <a:prstGeom prst="rect">
            <a:avLst/>
          </a:prstGeom>
          <a:noFill/>
          <a:ln/>
        </p:spPr>
        <p:txBody>
          <a:bodyPr wrap="square" lIns="0" tIns="0" rIns="0" bIns="0" rtlCol="0" anchor="ctr"/>
          <a:lstStyle/>
          <a:p>
            <a:r>
              <a:rPr lang="en-US" sz="1400" b="1" dirty="0">
                <a:solidFill>
                  <a:srgbClr val="2D2D2D"/>
                </a:solidFill>
                <a:latin typeface="Georgia" pitchFamily="34" charset="0"/>
                <a:ea typeface="Georgia" pitchFamily="34" charset="-122"/>
                <a:cs typeface="Georgia" pitchFamily="34" charset="-120"/>
              </a:rPr>
              <a:t>IPESA S.A.C.</a:t>
            </a:r>
            <a:endParaRPr lang="en-US" sz="1400" dirty="0"/>
          </a:p>
        </p:txBody>
      </p:sp>
      <p:sp>
        <p:nvSpPr>
          <p:cNvPr id="11" name="Text 9"/>
          <p:cNvSpPr/>
          <p:nvPr/>
        </p:nvSpPr>
        <p:spPr>
          <a:xfrm>
            <a:off x="685800" y="2560320"/>
            <a:ext cx="4937760" cy="22860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Cluster: QUALIFY | Score: 23.5 | Revenue: S/0K | Margin: 45% | 80 pts</a:t>
            </a:r>
            <a:endParaRPr lang="en-US" sz="900" dirty="0"/>
          </a:p>
        </p:txBody>
      </p:sp>
      <p:sp>
        <p:nvSpPr>
          <p:cNvPr id="12" name="Text 10"/>
          <p:cNvSpPr/>
          <p:nvPr/>
        </p:nvSpPr>
        <p:spPr>
          <a:xfrm>
            <a:off x="685800" y="2880360"/>
            <a:ext cx="4937760" cy="2926080"/>
          </a:xfrm>
          <a:prstGeom prst="rect">
            <a:avLst/>
          </a:prstGeom>
          <a:noFill/>
          <a:ln/>
        </p:spPr>
        <p:txBody>
          <a:bodyPr wrap="square" lIns="0" tIns="0" rIns="0" bIns="0" rtlCol="0" anchor="ctr"/>
          <a:lstStyle/>
          <a:p>
            <a:pPr marL="0" indent="0">
              <a:lnSpc>
                <a:spcPct val="115000"/>
              </a:lnSpc>
              <a:buNone/>
            </a:pPr>
            <a:r>
              <a:rPr lang="en-US" sz="900" b="1" dirty="0">
                <a:solidFill>
                  <a:srgbClr val="C0392B"/>
                </a:solidFill>
                <a:latin typeface="Calibri" pitchFamily="34" charset="0"/>
                <a:ea typeface="Calibri" pitchFamily="34" charset="-122"/>
                <a:cs typeface="Calibri" pitchFamily="34" charset="-120"/>
              </a:rPr>
              <a:t>Churn Score: 50 puntos (máximo nivel de alerta)</a:t>
            </a:r>
            <a:endParaRPr lang="en-US" sz="900" dirty="0"/>
          </a:p>
          <a:p>
            <a:pPr marL="0" indent="0">
              <a:lnSpc>
                <a:spcPct val="115000"/>
              </a:lnSpc>
              <a:buNone/>
            </a:pPr>
            <a:r>
              <a:rPr lang="en-US" sz="900" b="1" dirty="0">
                <a:solidFill>
                  <a:srgbClr val="333333"/>
                </a:solidFill>
                <a:latin typeface="Calibri" pitchFamily="34" charset="0"/>
                <a:ea typeface="Calibri" pitchFamily="34" charset="-122"/>
                <a:cs typeface="Calibri" pitchFamily="34" charset="-120"/>
              </a:rPr>
              <a:t>Factores activados:</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  • Caída de </a:t>
            </a:r>
            <a:r>
              <a:rPr lang="en-US" sz="900" dirty="0" err="1">
                <a:solidFill>
                  <a:srgbClr val="333333"/>
                </a:solidFill>
                <a:latin typeface="Calibri" pitchFamily="34" charset="0"/>
                <a:ea typeface="Calibri" pitchFamily="34" charset="-122"/>
                <a:cs typeface="Calibri" pitchFamily="34" charset="-120"/>
              </a:rPr>
              <a:t>ventas</a:t>
            </a:r>
            <a:r>
              <a:rPr lang="en-US" sz="900" dirty="0">
                <a:solidFill>
                  <a:srgbClr val="333333"/>
                </a:solidFill>
                <a:latin typeface="Calibri" pitchFamily="34" charset="0"/>
                <a:ea typeface="Calibri" pitchFamily="34" charset="-122"/>
                <a:cs typeface="Calibri" pitchFamily="34" charset="-120"/>
              </a:rPr>
              <a:t> &gt;20% entre FY </a:t>
            </a:r>
            <a:r>
              <a:rPr lang="en-US" sz="900" dirty="0" err="1">
                <a:solidFill>
                  <a:srgbClr val="333333"/>
                </a:solidFill>
                <a:latin typeface="Calibri" pitchFamily="34" charset="0"/>
                <a:ea typeface="Calibri" pitchFamily="34" charset="-122"/>
                <a:cs typeface="Calibri" pitchFamily="34" charset="-120"/>
              </a:rPr>
              <a:t>recientes</a:t>
            </a:r>
            <a:r>
              <a:rPr lang="en-US" sz="900" dirty="0">
                <a:solidFill>
                  <a:srgbClr val="333333"/>
                </a:solidFill>
                <a:latin typeface="Calibri" pitchFamily="34" charset="0"/>
                <a:ea typeface="Calibri" pitchFamily="34" charset="-122"/>
                <a:cs typeface="Calibri" pitchFamily="34" charset="-120"/>
              </a:rPr>
              <a:t>: 30 pts</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  •  Sin </a:t>
            </a:r>
            <a:r>
              <a:rPr lang="en-US" sz="900" dirty="0" err="1">
                <a:solidFill>
                  <a:srgbClr val="333333"/>
                </a:solidFill>
                <a:latin typeface="Calibri" pitchFamily="34" charset="0"/>
                <a:ea typeface="Calibri" pitchFamily="34" charset="-122"/>
                <a:cs typeface="Calibri" pitchFamily="34" charset="-120"/>
              </a:rPr>
              <a:t>actividad</a:t>
            </a:r>
            <a:r>
              <a:rPr lang="en-US" sz="900" dirty="0">
                <a:solidFill>
                  <a:srgbClr val="333333"/>
                </a:solidFill>
                <a:latin typeface="Calibri" pitchFamily="34" charset="0"/>
                <a:ea typeface="Calibri" pitchFamily="34" charset="-122"/>
                <a:cs typeface="Calibri" pitchFamily="34" charset="-120"/>
              </a:rPr>
              <a:t> FY25-26 : 25 pts</a:t>
            </a:r>
            <a:endParaRPr lang="en-US" sz="900" dirty="0"/>
          </a:p>
          <a:p>
            <a:pPr marL="0" indent="0">
              <a:lnSpc>
                <a:spcPct val="115000"/>
              </a:lnSpc>
              <a:buNone/>
            </a:pPr>
            <a:r>
              <a:rPr lang="en-US" sz="900" b="1" dirty="0" err="1">
                <a:solidFill>
                  <a:srgbClr val="333333"/>
                </a:solidFill>
                <a:latin typeface="Calibri" pitchFamily="34" charset="0"/>
                <a:ea typeface="Calibri" pitchFamily="34" charset="-122"/>
                <a:cs typeface="Calibri" pitchFamily="34" charset="-120"/>
              </a:rPr>
              <a:t>SubLoS</a:t>
            </a:r>
            <a:r>
              <a:rPr lang="en-US" sz="900" b="1" dirty="0">
                <a:solidFill>
                  <a:srgbClr val="333333"/>
                </a:solidFill>
                <a:latin typeface="Calibri" pitchFamily="34" charset="0"/>
                <a:ea typeface="Calibri" pitchFamily="34" charset="-122"/>
                <a:cs typeface="Calibri" pitchFamily="34" charset="-120"/>
              </a:rPr>
              <a:t> activas (7): </a:t>
            </a:r>
            <a:r>
              <a:rPr lang="en-US" sz="900" dirty="0">
                <a:solidFill>
                  <a:srgbClr val="333333"/>
                </a:solidFill>
                <a:latin typeface="Calibri" pitchFamily="34" charset="0"/>
                <a:ea typeface="Calibri" pitchFamily="34" charset="-122"/>
                <a:cs typeface="Calibri" pitchFamily="34" charset="-120"/>
              </a:rPr>
              <a:t>Advisory, CMAAS, Core Audit, Internal Adv, Legal, RAS, Tax</a:t>
            </a:r>
            <a:endParaRPr lang="en-US" sz="900" dirty="0"/>
          </a:p>
          <a:p>
            <a:pPr>
              <a:lnSpc>
                <a:spcPct val="115000"/>
              </a:lnSpc>
            </a:pPr>
            <a:r>
              <a:rPr lang="en-US" sz="900" b="1" dirty="0">
                <a:solidFill>
                  <a:srgbClr val="5B8BA0"/>
                </a:solidFill>
                <a:latin typeface="Calibri" pitchFamily="34" charset="0"/>
                <a:ea typeface="Calibri" pitchFamily="34" charset="-122"/>
                <a:cs typeface="Calibri" pitchFamily="34" charset="-120"/>
              </a:rPr>
              <a:t>Missing: </a:t>
            </a:r>
            <a:r>
              <a:rPr lang="en-US" sz="900" dirty="0">
                <a:solidFill>
                  <a:srgbClr val="333333"/>
                </a:solidFill>
                <a:latin typeface="Calibri" pitchFamily="34" charset="0"/>
                <a:ea typeface="Calibri" pitchFamily="34" charset="-122"/>
                <a:cs typeface="Calibri" pitchFamily="34" charset="-120"/>
              </a:rPr>
              <a:t>Advisory Consulting, CMAAS - AC, Deals, etc</a:t>
            </a:r>
          </a:p>
          <a:p>
            <a:pPr>
              <a:lnSpc>
                <a:spcPct val="115000"/>
              </a:lnSpc>
            </a:pPr>
            <a:r>
              <a:rPr lang="en-US" sz="900" b="1" dirty="0">
                <a:solidFill>
                  <a:srgbClr val="C0392B"/>
                </a:solidFill>
                <a:latin typeface="Calibri" pitchFamily="34" charset="0"/>
                <a:ea typeface="Calibri" pitchFamily="34" charset="-122"/>
                <a:cs typeface="Calibri" pitchFamily="34" charset="-120"/>
              </a:rPr>
              <a:t>ACCIÓN INMEDIATA:</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1. Partner llama al CFO de IPESA esta semana</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2. Diagnóstico: ¿por qué cayó el revenue X%+?</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3. Propuesta: advisory para #Servicio</a:t>
            </a:r>
            <a:endParaRPr lang="en-US" sz="900" dirty="0"/>
          </a:p>
        </p:txBody>
      </p:sp>
      <p:sp>
        <p:nvSpPr>
          <p:cNvPr id="13" name="Shape 11"/>
          <p:cNvSpPr/>
          <p:nvPr/>
        </p:nvSpPr>
        <p:spPr>
          <a:xfrm>
            <a:off x="6336792" y="1828800"/>
            <a:ext cx="5394960" cy="4114800"/>
          </a:xfrm>
          <a:prstGeom prst="rect">
            <a:avLst/>
          </a:prstGeom>
          <a:solidFill>
            <a:srgbClr val="FEF5E7"/>
          </a:solidFill>
          <a:ln/>
        </p:spPr>
        <p:txBody>
          <a:bodyPr/>
          <a:lstStyle/>
          <a:p>
            <a:endParaRPr lang="es-PE"/>
          </a:p>
        </p:txBody>
      </p:sp>
      <p:sp>
        <p:nvSpPr>
          <p:cNvPr id="14" name="Shape 12"/>
          <p:cNvSpPr/>
          <p:nvPr/>
        </p:nvSpPr>
        <p:spPr>
          <a:xfrm>
            <a:off x="6336792" y="1828800"/>
            <a:ext cx="54864" cy="4114800"/>
          </a:xfrm>
          <a:prstGeom prst="rect">
            <a:avLst/>
          </a:prstGeom>
          <a:solidFill>
            <a:srgbClr val="E67E22"/>
          </a:solidFill>
          <a:ln/>
        </p:spPr>
        <p:txBody>
          <a:bodyPr/>
          <a:lstStyle/>
          <a:p>
            <a:endParaRPr lang="es-PE"/>
          </a:p>
        </p:txBody>
      </p:sp>
      <p:sp>
        <p:nvSpPr>
          <p:cNvPr id="15" name="Shape 13"/>
          <p:cNvSpPr/>
          <p:nvPr/>
        </p:nvSpPr>
        <p:spPr>
          <a:xfrm>
            <a:off x="6565392" y="1874520"/>
            <a:ext cx="1280160" cy="274320"/>
          </a:xfrm>
          <a:prstGeom prst="rect">
            <a:avLst/>
          </a:prstGeom>
          <a:solidFill>
            <a:srgbClr val="E67E22"/>
          </a:solidFill>
          <a:ln/>
        </p:spPr>
        <p:txBody>
          <a:bodyPr/>
          <a:lstStyle/>
          <a:p>
            <a:endParaRPr lang="es-PE"/>
          </a:p>
        </p:txBody>
      </p:sp>
      <p:sp>
        <p:nvSpPr>
          <p:cNvPr id="16" name="Text 14"/>
          <p:cNvSpPr/>
          <p:nvPr/>
        </p:nvSpPr>
        <p:spPr>
          <a:xfrm>
            <a:off x="6565392" y="1874520"/>
            <a:ext cx="12801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ALERTA MEDIA</a:t>
            </a:r>
            <a:endParaRPr lang="en-US" sz="800" dirty="0"/>
          </a:p>
        </p:txBody>
      </p:sp>
      <p:sp>
        <p:nvSpPr>
          <p:cNvPr id="17" name="Text 15"/>
          <p:cNvSpPr/>
          <p:nvPr/>
        </p:nvSpPr>
        <p:spPr>
          <a:xfrm>
            <a:off x="6565392" y="2240280"/>
            <a:ext cx="4937760" cy="32004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BANCO CENTRAL DE RESERVA</a:t>
            </a:r>
            <a:endParaRPr lang="en-US" sz="1400" dirty="0"/>
          </a:p>
        </p:txBody>
      </p:sp>
      <p:sp>
        <p:nvSpPr>
          <p:cNvPr id="18" name="Text 16"/>
          <p:cNvSpPr/>
          <p:nvPr/>
        </p:nvSpPr>
        <p:spPr>
          <a:xfrm>
            <a:off x="6565392" y="2560320"/>
            <a:ext cx="4937760" cy="22860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Cluster: PROTECT &amp; GROW | Score: 42,3 | Revenue: S/.1.1M</a:t>
            </a:r>
            <a:endParaRPr lang="en-US" sz="900" dirty="0"/>
          </a:p>
        </p:txBody>
      </p:sp>
      <p:sp>
        <p:nvSpPr>
          <p:cNvPr id="19" name="Text 17"/>
          <p:cNvSpPr/>
          <p:nvPr/>
        </p:nvSpPr>
        <p:spPr>
          <a:xfrm>
            <a:off x="6565392" y="2880360"/>
            <a:ext cx="4937760" cy="2926080"/>
          </a:xfrm>
          <a:prstGeom prst="rect">
            <a:avLst/>
          </a:prstGeom>
          <a:noFill/>
          <a:ln/>
        </p:spPr>
        <p:txBody>
          <a:bodyPr wrap="square" lIns="0" tIns="0" rIns="0" bIns="0" rtlCol="0" anchor="ctr"/>
          <a:lstStyle/>
          <a:p>
            <a:pPr marL="0" indent="0">
              <a:lnSpc>
                <a:spcPct val="115000"/>
              </a:lnSpc>
              <a:buNone/>
            </a:pPr>
            <a:r>
              <a:rPr lang="en-US" sz="900" b="1" dirty="0">
                <a:solidFill>
                  <a:srgbClr val="E67E22"/>
                </a:solidFill>
                <a:latin typeface="Calibri" pitchFamily="34" charset="0"/>
                <a:ea typeface="Calibri" pitchFamily="34" charset="-122"/>
                <a:cs typeface="Calibri" pitchFamily="34" charset="-120"/>
              </a:rPr>
              <a:t>Churn Score: 20 puntos</a:t>
            </a:r>
            <a:endParaRPr lang="en-US" sz="900" dirty="0"/>
          </a:p>
          <a:p>
            <a:pPr marL="0" indent="0">
              <a:lnSpc>
                <a:spcPct val="115000"/>
              </a:lnSpc>
              <a:buNone/>
            </a:pPr>
            <a:r>
              <a:rPr lang="en-US" sz="900" b="1" dirty="0">
                <a:solidFill>
                  <a:srgbClr val="333333"/>
                </a:solidFill>
                <a:latin typeface="Calibri" pitchFamily="34" charset="0"/>
                <a:ea typeface="Calibri" pitchFamily="34" charset="-122"/>
                <a:cs typeface="Calibri" pitchFamily="34" charset="-120"/>
              </a:rPr>
              <a:t>Factores activados:</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  • Pérdidas recientes </a:t>
            </a:r>
            <a:r>
              <a:rPr lang="en-US" sz="900" dirty="0" err="1">
                <a:solidFill>
                  <a:srgbClr val="333333"/>
                </a:solidFill>
                <a:latin typeface="Calibri" pitchFamily="34" charset="0"/>
                <a:ea typeface="Calibri" pitchFamily="34" charset="-122"/>
                <a:cs typeface="Calibri" pitchFamily="34" charset="-120"/>
              </a:rPr>
              <a:t>en</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oportunidades</a:t>
            </a:r>
            <a:r>
              <a:rPr lang="en-US" sz="900" dirty="0">
                <a:solidFill>
                  <a:srgbClr val="333333"/>
                </a:solidFill>
                <a:latin typeface="Calibri" pitchFamily="34" charset="0"/>
                <a:ea typeface="Calibri" pitchFamily="34" charset="-122"/>
                <a:cs typeface="Calibri" pitchFamily="34" charset="-120"/>
              </a:rPr>
              <a:t>: 20 pts</a:t>
            </a:r>
            <a:endParaRPr lang="en-US" sz="900" dirty="0"/>
          </a:p>
          <a:p>
            <a:pPr marL="0" indent="0">
              <a:lnSpc>
                <a:spcPct val="115000"/>
              </a:lnSpc>
              <a:buNone/>
            </a:pPr>
            <a:r>
              <a:rPr lang="en-US" sz="900" b="1" dirty="0">
                <a:solidFill>
                  <a:srgbClr val="333333"/>
                </a:solidFill>
                <a:latin typeface="Calibri" pitchFamily="34" charset="0"/>
                <a:ea typeface="Calibri" pitchFamily="34" charset="-122"/>
                <a:cs typeface="Calibri" pitchFamily="34" charset="-120"/>
              </a:rPr>
              <a:t>SubLoS activas: </a:t>
            </a:r>
            <a:r>
              <a:rPr lang="en-US" sz="900" dirty="0">
                <a:solidFill>
                  <a:srgbClr val="333333"/>
                </a:solidFill>
                <a:latin typeface="Calibri" pitchFamily="34" charset="0"/>
                <a:ea typeface="Calibri" pitchFamily="34" charset="-122"/>
                <a:cs typeface="Calibri" pitchFamily="34" charset="-120"/>
              </a:rPr>
              <a:t>CMAAS, Core Audit, RAS</a:t>
            </a:r>
            <a:endParaRPr lang="en-US" sz="900" dirty="0"/>
          </a:p>
          <a:p>
            <a:pPr marL="0" indent="0">
              <a:lnSpc>
                <a:spcPct val="115000"/>
              </a:lnSpc>
              <a:buNone/>
            </a:pPr>
            <a:r>
              <a:rPr lang="en-US" sz="900" b="1" dirty="0">
                <a:solidFill>
                  <a:srgbClr val="5B8BA0"/>
                </a:solidFill>
                <a:latin typeface="Calibri" pitchFamily="34" charset="0"/>
                <a:ea typeface="Calibri" pitchFamily="34" charset="-122"/>
                <a:cs typeface="Calibri" pitchFamily="34" charset="-120"/>
              </a:rPr>
              <a:t>Missing: </a:t>
            </a:r>
            <a:r>
              <a:rPr lang="en-US" sz="900" dirty="0">
                <a:solidFill>
                  <a:srgbClr val="333333"/>
                </a:solidFill>
                <a:latin typeface="Calibri" pitchFamily="34" charset="0"/>
                <a:ea typeface="Calibri" pitchFamily="34" charset="-122"/>
                <a:cs typeface="Calibri" pitchFamily="34" charset="-120"/>
              </a:rPr>
              <a:t>Advisory Consulting, CMAAS - AC, </a:t>
            </a:r>
            <a:r>
              <a:rPr lang="en-US" sz="900" dirty="0" err="1">
                <a:solidFill>
                  <a:srgbClr val="333333"/>
                </a:solidFill>
                <a:latin typeface="Calibri" pitchFamily="34" charset="0"/>
                <a:ea typeface="Calibri" pitchFamily="34" charset="-122"/>
                <a:cs typeface="Calibri" pitchFamily="34" charset="-120"/>
              </a:rPr>
              <a:t>Deals,etc</a:t>
            </a:r>
            <a:endParaRPr lang="en-US" sz="900" dirty="0">
              <a:solidFill>
                <a:srgbClr val="333333"/>
              </a:solidFill>
              <a:latin typeface="Calibri" pitchFamily="34" charset="0"/>
              <a:ea typeface="Calibri" pitchFamily="34" charset="-122"/>
              <a:cs typeface="Calibri" pitchFamily="34" charset="-120"/>
            </a:endParaRPr>
          </a:p>
          <a:p>
            <a:pPr marL="0" indent="0">
              <a:lnSpc>
                <a:spcPct val="115000"/>
              </a:lnSpc>
              <a:buNone/>
            </a:pPr>
            <a:r>
              <a:rPr lang="en-US" sz="900" b="1" dirty="0">
                <a:solidFill>
                  <a:srgbClr val="E67E22"/>
                </a:solidFill>
                <a:latin typeface="Calibri" pitchFamily="34" charset="0"/>
                <a:ea typeface="Calibri" pitchFamily="34" charset="-122"/>
                <a:cs typeface="Calibri" pitchFamily="34" charset="-120"/>
              </a:rPr>
              <a:t>ACCIÓN RECOMENDADA:</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1. Entender por qué se perdieron oportunidades</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2. Reforzar Assurance como servicio ancla</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3. Proponer Tax y Advisory como extensión natural</a:t>
            </a:r>
            <a:endParaRPr lang="en-US" sz="900" dirty="0"/>
          </a:p>
          <a:p>
            <a:pPr marL="0" indent="0">
              <a:lnSpc>
                <a:spcPct val="115000"/>
              </a:lnSpc>
              <a:buNone/>
            </a:pPr>
            <a:r>
              <a:rPr lang="en-US" sz="900" dirty="0">
                <a:solidFill>
                  <a:srgbClr val="333333"/>
                </a:solidFill>
                <a:latin typeface="Calibri" pitchFamily="34" charset="0"/>
                <a:ea typeface="Calibri" pitchFamily="34" charset="-122"/>
                <a:cs typeface="Calibri" pitchFamily="34" charset="-120"/>
              </a:rPr>
              <a:t>4. Asignar Account Manager senior para el sector público</a:t>
            </a:r>
            <a:endParaRPr lang="en-US" sz="900" dirty="0"/>
          </a:p>
        </p:txBody>
      </p:sp>
      <p:sp>
        <p:nvSpPr>
          <p:cNvPr id="20" name="Text 18"/>
          <p:cNvSpPr/>
          <p:nvPr/>
        </p:nvSpPr>
        <p:spPr>
          <a:xfrm>
            <a:off x="457200" y="6446520"/>
            <a:ext cx="4572000" cy="274320"/>
          </a:xfrm>
          <a:prstGeom prst="rect">
            <a:avLst/>
          </a:prstGeom>
          <a:noFill/>
          <a:ln/>
        </p:spPr>
        <p:txBody>
          <a:bodyPr wrap="square"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a:t>
            </a:r>
            <a:endParaRPr lang="en-US" sz="800" dirty="0"/>
          </a:p>
        </p:txBody>
      </p:sp>
      <p:sp>
        <p:nvSpPr>
          <p:cNvPr id="21" name="Text 19"/>
          <p:cNvSpPr/>
          <p:nvPr/>
        </p:nvSpPr>
        <p:spPr>
          <a:xfrm>
            <a:off x="10972800" y="6446520"/>
            <a:ext cx="914400" cy="274320"/>
          </a:xfrm>
          <a:prstGeom prst="rect">
            <a:avLst/>
          </a:prstGeom>
          <a:noFill/>
          <a:ln/>
        </p:spPr>
        <p:txBody>
          <a:bodyPr wrap="square"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29/36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E04F16"/>
          </a:solidFill>
          <a:ln/>
        </p:spPr>
        <p:txBody>
          <a:bodyPr/>
          <a:lstStyle/>
          <a:p>
            <a:endParaRPr lang="es-PE"/>
          </a:p>
        </p:txBody>
      </p:sp>
      <p:sp>
        <p:nvSpPr>
          <p:cNvPr id="3" name="Text 1"/>
          <p:cNvSpPr/>
          <p:nvPr/>
        </p:nvSpPr>
        <p:spPr>
          <a:xfrm>
            <a:off x="457200" y="274320"/>
            <a:ext cx="1371600" cy="365760"/>
          </a:xfrm>
          <a:prstGeom prst="rect">
            <a:avLst/>
          </a:prstGeom>
          <a:noFill/>
          <a:ln/>
        </p:spPr>
        <p:txBody>
          <a:bodyPr wrap="square" lIns="0" tIns="0" rIns="0" bIns="0" rtlCol="0" anchor="ctr"/>
          <a:lstStyle/>
          <a:p>
            <a:pPr marL="0" indent="0">
              <a:buNone/>
            </a:pPr>
            <a:r>
              <a:rPr lang="en-US" sz="1400" b="1" dirty="0">
                <a:solidFill>
                  <a:srgbClr val="E04F16"/>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77240"/>
            <a:ext cx="10972800" cy="594360"/>
          </a:xfrm>
          <a:prstGeom prst="rect">
            <a:avLst/>
          </a:prstGeom>
          <a:noFill/>
          <a:ln/>
        </p:spPr>
        <p:txBody>
          <a:bodyPr wrap="square" lIns="0" tIns="0" rIns="0" bIns="0" rtlCol="0" anchor="ctr"/>
          <a:lstStyle/>
          <a:p>
            <a:pPr marL="0" indent="0">
              <a:buNone/>
            </a:pPr>
            <a:r>
              <a:rPr lang="en-US" sz="2800" b="1" dirty="0">
                <a:solidFill>
                  <a:srgbClr val="2D2D2D"/>
                </a:solidFill>
                <a:latin typeface="Georgia" pitchFamily="34" charset="0"/>
                <a:ea typeface="Georgia" pitchFamily="34" charset="-122"/>
                <a:cs typeface="Georgia" pitchFamily="34" charset="-120"/>
              </a:rPr>
              <a:t>Upsell Potential &amp; Share of Wallet — Concepto</a:t>
            </a:r>
            <a:endParaRPr lang="en-US" sz="2800" dirty="0"/>
          </a:p>
        </p:txBody>
      </p:sp>
      <p:sp>
        <p:nvSpPr>
          <p:cNvPr id="5" name="Shape 3"/>
          <p:cNvSpPr/>
          <p:nvPr/>
        </p:nvSpPr>
        <p:spPr>
          <a:xfrm>
            <a:off x="457200" y="1463040"/>
            <a:ext cx="5394960" cy="2194560"/>
          </a:xfrm>
          <a:prstGeom prst="rect">
            <a:avLst/>
          </a:prstGeom>
          <a:solidFill>
            <a:srgbClr val="EBF5FB"/>
          </a:solidFill>
          <a:ln/>
        </p:spPr>
        <p:txBody>
          <a:bodyPr/>
          <a:lstStyle/>
          <a:p>
            <a:endParaRPr lang="es-PE"/>
          </a:p>
        </p:txBody>
      </p:sp>
      <p:sp>
        <p:nvSpPr>
          <p:cNvPr id="6" name="Shape 4"/>
          <p:cNvSpPr/>
          <p:nvPr/>
        </p:nvSpPr>
        <p:spPr>
          <a:xfrm>
            <a:off x="457200" y="1463040"/>
            <a:ext cx="54864" cy="2194560"/>
          </a:xfrm>
          <a:prstGeom prst="rect">
            <a:avLst/>
          </a:prstGeom>
          <a:solidFill>
            <a:srgbClr val="2C5F8A"/>
          </a:solidFill>
          <a:ln/>
        </p:spPr>
        <p:txBody>
          <a:bodyPr/>
          <a:lstStyle/>
          <a:p>
            <a:endParaRPr lang="es-PE"/>
          </a:p>
        </p:txBody>
      </p:sp>
      <p:sp>
        <p:nvSpPr>
          <p:cNvPr id="7" name="Text 5"/>
          <p:cNvSpPr/>
          <p:nvPr/>
        </p:nvSpPr>
        <p:spPr>
          <a:xfrm>
            <a:off x="731520" y="1508760"/>
            <a:ext cx="4846320" cy="320040"/>
          </a:xfrm>
          <a:prstGeom prst="rect">
            <a:avLst/>
          </a:prstGeom>
          <a:noFill/>
          <a:ln/>
        </p:spPr>
        <p:txBody>
          <a:bodyPr wrap="square" lIns="0" tIns="0" rIns="0" bIns="0" rtlCol="0" anchor="ctr"/>
          <a:lstStyle/>
          <a:p>
            <a:pPr marL="0" indent="0">
              <a:buNone/>
            </a:pPr>
            <a:r>
              <a:rPr lang="en-US" sz="1400" b="1" dirty="0">
                <a:solidFill>
                  <a:srgbClr val="2C5F8A"/>
                </a:solidFill>
                <a:latin typeface="Georgia" pitchFamily="34" charset="0"/>
                <a:ea typeface="Georgia" pitchFamily="34" charset="-122"/>
                <a:cs typeface="Georgia" pitchFamily="34" charset="-120"/>
              </a:rPr>
              <a:t>Share of Wallet</a:t>
            </a:r>
            <a:endParaRPr lang="en-US" sz="1400" dirty="0"/>
          </a:p>
        </p:txBody>
      </p:sp>
      <p:sp>
        <p:nvSpPr>
          <p:cNvPr id="8" name="Text 6"/>
          <p:cNvSpPr/>
          <p:nvPr/>
        </p:nvSpPr>
        <p:spPr>
          <a:xfrm>
            <a:off x="731520" y="1874520"/>
            <a:ext cx="4846320" cy="1645920"/>
          </a:xfrm>
          <a:prstGeom prst="rect">
            <a:avLst/>
          </a:prstGeom>
          <a:noFill/>
          <a:ln/>
        </p:spPr>
        <p:txBody>
          <a:bodyPr wrap="square" lIns="0" tIns="0" rIns="0" bIns="0" rtlCol="0" anchor="ctr"/>
          <a:lstStyle/>
          <a:p>
            <a:pPr marL="0" indent="0">
              <a:lnSpc>
                <a:spcPct val="120000"/>
              </a:lnSpc>
              <a:buNone/>
            </a:pPr>
            <a:r>
              <a:rPr lang="en-US" sz="1000" b="1" dirty="0">
                <a:solidFill>
                  <a:srgbClr val="333333"/>
                </a:solidFill>
                <a:latin typeface="Calibri" pitchFamily="34" charset="0"/>
                <a:ea typeface="Calibri" pitchFamily="34" charset="-122"/>
                <a:cs typeface="Calibri" pitchFamily="34" charset="-120"/>
              </a:rPr>
              <a:t>¿Qué proporción del gasto total del cliente en consultoría captura PwC?</a:t>
            </a:r>
            <a:endParaRPr lang="en-US" sz="1000" dirty="0"/>
          </a:p>
          <a:p>
            <a:pPr marL="0" indent="0">
              <a:lnSpc>
                <a:spcPct val="120000"/>
              </a:lnSpc>
              <a:buNone/>
            </a:pPr>
            <a:r>
              <a:rPr lang="en-US" sz="1000" dirty="0">
                <a:solidFill>
                  <a:srgbClr val="333333"/>
                </a:solidFill>
                <a:latin typeface="Calibri" pitchFamily="34" charset="0"/>
                <a:ea typeface="Calibri" pitchFamily="34" charset="-122"/>
                <a:cs typeface="Calibri" pitchFamily="34" charset="-120"/>
              </a:rPr>
              <a:t>Si un cliente puede gastar S/.5M en servicios profesionales y PwC factura S/.2M, el Share of Wallet es 40%.</a:t>
            </a:r>
            <a:endParaRPr lang="en-US" sz="1000" dirty="0"/>
          </a:p>
          <a:p>
            <a:pPr marL="0" indent="0">
              <a:lnSpc>
                <a:spcPct val="120000"/>
              </a:lnSpc>
              <a:buNone/>
            </a:pPr>
            <a:r>
              <a:rPr lang="en-US" sz="1000" dirty="0">
                <a:solidFill>
                  <a:srgbClr val="333333"/>
                </a:solidFill>
                <a:latin typeface="Calibri" pitchFamily="34" charset="0"/>
                <a:ea typeface="Calibri" pitchFamily="34" charset="-122"/>
                <a:cs typeface="Calibri" pitchFamily="34" charset="-120"/>
              </a:rPr>
              <a:t>El gap de 60% (S/.3M) es la oportunidad de crecimiento. </a:t>
            </a:r>
            <a:endParaRPr lang="en-US" sz="1000" dirty="0"/>
          </a:p>
          <a:p>
            <a:pPr marL="0" indent="0">
              <a:lnSpc>
                <a:spcPct val="120000"/>
              </a:lnSpc>
              <a:buNone/>
            </a:pPr>
            <a:r>
              <a:rPr lang="en-US" sz="1000" dirty="0">
                <a:solidFill>
                  <a:srgbClr val="333333"/>
                </a:solidFill>
                <a:latin typeface="Calibri" pitchFamily="34" charset="0"/>
                <a:ea typeface="Calibri" pitchFamily="34" charset="-122"/>
                <a:cs typeface="Calibri" pitchFamily="34" charset="-120"/>
              </a:rPr>
              <a:t>Se aproxima midiendo: cuántas líneas de servicio (Sub-LoS) contrata vs cuántas podría contratar.</a:t>
            </a:r>
            <a:endParaRPr lang="en-US" sz="1000" dirty="0"/>
          </a:p>
        </p:txBody>
      </p:sp>
      <p:sp>
        <p:nvSpPr>
          <p:cNvPr id="9" name="Shape 7"/>
          <p:cNvSpPr/>
          <p:nvPr/>
        </p:nvSpPr>
        <p:spPr>
          <a:xfrm>
            <a:off x="6336792" y="1463040"/>
            <a:ext cx="5394960" cy="3291840"/>
          </a:xfrm>
          <a:prstGeom prst="rect">
            <a:avLst/>
          </a:prstGeom>
          <a:solidFill>
            <a:srgbClr val="FFF3ED"/>
          </a:solidFill>
          <a:ln/>
        </p:spPr>
        <p:txBody>
          <a:bodyPr/>
          <a:lstStyle/>
          <a:p>
            <a:endParaRPr lang="es-PE"/>
          </a:p>
        </p:txBody>
      </p:sp>
      <p:sp>
        <p:nvSpPr>
          <p:cNvPr id="10" name="Shape 8"/>
          <p:cNvSpPr/>
          <p:nvPr/>
        </p:nvSpPr>
        <p:spPr>
          <a:xfrm>
            <a:off x="6336792" y="1463040"/>
            <a:ext cx="54864" cy="2194560"/>
          </a:xfrm>
          <a:prstGeom prst="rect">
            <a:avLst/>
          </a:prstGeom>
          <a:solidFill>
            <a:srgbClr val="E04F16"/>
          </a:solidFill>
          <a:ln/>
        </p:spPr>
        <p:txBody>
          <a:bodyPr/>
          <a:lstStyle/>
          <a:p>
            <a:endParaRPr lang="es-PE"/>
          </a:p>
        </p:txBody>
      </p:sp>
      <p:sp>
        <p:nvSpPr>
          <p:cNvPr id="11" name="Text 9"/>
          <p:cNvSpPr/>
          <p:nvPr/>
        </p:nvSpPr>
        <p:spPr>
          <a:xfrm>
            <a:off x="6583680" y="1508760"/>
            <a:ext cx="4846320" cy="320040"/>
          </a:xfrm>
          <a:prstGeom prst="rect">
            <a:avLst/>
          </a:prstGeom>
          <a:noFill/>
          <a:ln/>
        </p:spPr>
        <p:txBody>
          <a:bodyPr wrap="square" lIns="0" tIns="0" rIns="0" bIns="0" rtlCol="0" anchor="ctr"/>
          <a:lstStyle/>
          <a:p>
            <a:pPr marL="0" indent="0">
              <a:buNone/>
            </a:pPr>
            <a:r>
              <a:rPr lang="en-US" sz="1400" b="1" dirty="0">
                <a:solidFill>
                  <a:srgbClr val="E04F16"/>
                </a:solidFill>
                <a:latin typeface="Georgia" pitchFamily="34" charset="0"/>
                <a:ea typeface="Georgia" pitchFamily="34" charset="-122"/>
                <a:cs typeface="Georgia" pitchFamily="34" charset="-120"/>
              </a:rPr>
              <a:t>Upsell Potential</a:t>
            </a:r>
            <a:endParaRPr lang="en-US" sz="1400" dirty="0"/>
          </a:p>
        </p:txBody>
      </p:sp>
      <p:sp>
        <p:nvSpPr>
          <p:cNvPr id="12" name="Text 10"/>
          <p:cNvSpPr/>
          <p:nvPr/>
        </p:nvSpPr>
        <p:spPr>
          <a:xfrm>
            <a:off x="6583680" y="1874520"/>
            <a:ext cx="4846320" cy="2743200"/>
          </a:xfrm>
          <a:prstGeom prst="rect">
            <a:avLst/>
          </a:prstGeom>
          <a:noFill/>
          <a:ln/>
        </p:spPr>
        <p:txBody>
          <a:bodyPr wrap="square" lIns="0" tIns="0" rIns="0" bIns="0" rtlCol="0" anchor="ctr"/>
          <a:lstStyle/>
          <a:p>
            <a:pPr>
              <a:lnSpc>
                <a:spcPct val="115000"/>
              </a:lnSpc>
            </a:pPr>
            <a:r>
              <a:rPr lang="es-ES" sz="950" b="1" dirty="0" err="1">
                <a:solidFill>
                  <a:srgbClr val="333333"/>
                </a:solidFill>
                <a:latin typeface="Calibri" pitchFamily="34" charset="0"/>
                <a:ea typeface="Calibri" pitchFamily="34" charset="-122"/>
                <a:cs typeface="Calibri" pitchFamily="34" charset="-120"/>
              </a:rPr>
              <a:t>Benchmark</a:t>
            </a:r>
            <a:r>
              <a:rPr lang="es-ES" sz="950" b="1" dirty="0">
                <a:solidFill>
                  <a:srgbClr val="333333"/>
                </a:solidFill>
                <a:latin typeface="Calibri" pitchFamily="34" charset="0"/>
                <a:ea typeface="Calibri" pitchFamily="34" charset="-122"/>
                <a:cs typeface="Calibri" pitchFamily="34" charset="-120"/>
              </a:rPr>
              <a:t> de Mercado: </a:t>
            </a:r>
            <a:r>
              <a:rPr lang="es-ES" sz="950" dirty="0">
                <a:solidFill>
                  <a:srgbClr val="333333"/>
                </a:solidFill>
                <a:latin typeface="Calibri" pitchFamily="34" charset="0"/>
                <a:ea typeface="Calibri" pitchFamily="34" charset="-122"/>
                <a:cs typeface="Calibri" pitchFamily="34" charset="-120"/>
              </a:rPr>
              <a:t>Se calcula el P75 (percentil 75) de </a:t>
            </a:r>
            <a:r>
              <a:rPr lang="es-ES" sz="950" dirty="0" err="1">
                <a:solidFill>
                  <a:srgbClr val="333333"/>
                </a:solidFill>
                <a:latin typeface="Calibri" pitchFamily="34" charset="0"/>
                <a:ea typeface="Calibri" pitchFamily="34" charset="-122"/>
                <a:cs typeface="Calibri" pitchFamily="34" charset="-120"/>
              </a:rPr>
              <a:t>Revenue</a:t>
            </a:r>
            <a:r>
              <a:rPr lang="es-ES" sz="950" dirty="0">
                <a:solidFill>
                  <a:srgbClr val="333333"/>
                </a:solidFill>
                <a:latin typeface="Calibri" pitchFamily="34" charset="0"/>
                <a:ea typeface="Calibri" pitchFamily="34" charset="-122"/>
                <a:cs typeface="Calibri" pitchFamily="34" charset="-120"/>
              </a:rPr>
              <a:t> por cada Clúster y por cada Sub-</a:t>
            </a:r>
            <a:r>
              <a:rPr lang="es-ES" sz="950" dirty="0" err="1">
                <a:solidFill>
                  <a:srgbClr val="333333"/>
                </a:solidFill>
                <a:latin typeface="Calibri" pitchFamily="34" charset="0"/>
                <a:ea typeface="Calibri" pitchFamily="34" charset="-122"/>
                <a:cs typeface="Calibri" pitchFamily="34" charset="-120"/>
              </a:rPr>
              <a:t>LoS</a:t>
            </a:r>
            <a:r>
              <a:rPr lang="es-ES" sz="950" dirty="0">
                <a:solidFill>
                  <a:srgbClr val="333333"/>
                </a:solidFill>
                <a:latin typeface="Calibri" pitchFamily="34" charset="0"/>
                <a:ea typeface="Calibri" pitchFamily="34" charset="-122"/>
                <a:cs typeface="Calibri" pitchFamily="34" charset="-120"/>
              </a:rPr>
              <a:t>, </a:t>
            </a:r>
            <a:r>
              <a:rPr lang="es-ES" sz="1000" dirty="0"/>
              <a:t>estableciendo una tarifa de referencia basada en el comportamiento real del mercado.</a:t>
            </a:r>
            <a:endParaRPr lang="es-ES" sz="950" b="1" dirty="0">
              <a:solidFill>
                <a:srgbClr val="333333"/>
              </a:solidFill>
              <a:latin typeface="Calibri" pitchFamily="34" charset="0"/>
              <a:ea typeface="Calibri" pitchFamily="34" charset="-122"/>
              <a:cs typeface="Calibri" pitchFamily="34" charset="-120"/>
            </a:endParaRPr>
          </a:p>
          <a:p>
            <a:pPr marL="0" indent="0">
              <a:lnSpc>
                <a:spcPct val="115000"/>
              </a:lnSpc>
              <a:buNone/>
            </a:pPr>
            <a:r>
              <a:rPr lang="es-ES" sz="950" b="1" dirty="0">
                <a:solidFill>
                  <a:srgbClr val="333333"/>
                </a:solidFill>
                <a:latin typeface="Calibri" pitchFamily="34" charset="0"/>
                <a:ea typeface="Calibri" pitchFamily="34" charset="-122"/>
                <a:cs typeface="Calibri" pitchFamily="34" charset="-120"/>
              </a:rPr>
              <a:t>Identificación de Brechas (Líneas Blancas): </a:t>
            </a:r>
            <a:r>
              <a:rPr lang="es-ES" sz="950" dirty="0">
                <a:solidFill>
                  <a:srgbClr val="333333"/>
                </a:solidFill>
                <a:latin typeface="Calibri" pitchFamily="34" charset="0"/>
                <a:ea typeface="Calibri" pitchFamily="34" charset="-122"/>
                <a:cs typeface="Calibri" pitchFamily="34" charset="-120"/>
              </a:rPr>
              <a:t>El algoritmo cruza el portafolio de la firma con el historial del cliente para identificar exactamente qué Sub-</a:t>
            </a:r>
            <a:r>
              <a:rPr lang="es-ES" sz="950" dirty="0" err="1">
                <a:solidFill>
                  <a:srgbClr val="333333"/>
                </a:solidFill>
                <a:latin typeface="Calibri" pitchFamily="34" charset="0"/>
                <a:ea typeface="Calibri" pitchFamily="34" charset="-122"/>
                <a:cs typeface="Calibri" pitchFamily="34" charset="-120"/>
              </a:rPr>
              <a:t>LoS</a:t>
            </a:r>
            <a:r>
              <a:rPr lang="es-ES" sz="950" dirty="0">
                <a:solidFill>
                  <a:srgbClr val="333333"/>
                </a:solidFill>
                <a:latin typeface="Calibri" pitchFamily="34" charset="0"/>
                <a:ea typeface="Calibri" pitchFamily="34" charset="-122"/>
                <a:cs typeface="Calibri" pitchFamily="34" charset="-120"/>
              </a:rPr>
              <a:t> aún no nos contrata.</a:t>
            </a:r>
          </a:p>
          <a:p>
            <a:pPr marL="0" indent="0">
              <a:lnSpc>
                <a:spcPct val="115000"/>
              </a:lnSpc>
              <a:buNone/>
            </a:pPr>
            <a:endParaRPr lang="es-ES" sz="950" b="1" dirty="0">
              <a:solidFill>
                <a:srgbClr val="333333"/>
              </a:solidFill>
              <a:latin typeface="Calibri" pitchFamily="34" charset="0"/>
              <a:ea typeface="Calibri" pitchFamily="34" charset="-122"/>
              <a:cs typeface="Calibri" pitchFamily="34" charset="-120"/>
            </a:endParaRPr>
          </a:p>
          <a:p>
            <a:pPr marL="0" indent="0">
              <a:lnSpc>
                <a:spcPct val="115000"/>
              </a:lnSpc>
              <a:buNone/>
            </a:pPr>
            <a:r>
              <a:rPr lang="es-ES" sz="950" b="1" dirty="0">
                <a:solidFill>
                  <a:srgbClr val="333333"/>
                </a:solidFill>
                <a:latin typeface="Calibri" pitchFamily="34" charset="0"/>
                <a:ea typeface="Calibri" pitchFamily="34" charset="-122"/>
                <a:cs typeface="Calibri" pitchFamily="34" charset="-120"/>
              </a:rPr>
              <a:t>Cálculo de </a:t>
            </a:r>
            <a:r>
              <a:rPr lang="es-ES" sz="950" b="1" dirty="0" err="1">
                <a:solidFill>
                  <a:srgbClr val="333333"/>
                </a:solidFill>
                <a:latin typeface="Calibri" pitchFamily="34" charset="0"/>
                <a:ea typeface="Calibri" pitchFamily="34" charset="-122"/>
                <a:cs typeface="Calibri" pitchFamily="34" charset="-120"/>
              </a:rPr>
              <a:t>Upsell</a:t>
            </a:r>
            <a:r>
              <a:rPr lang="es-ES" sz="950" b="1" dirty="0">
                <a:solidFill>
                  <a:srgbClr val="333333"/>
                </a:solidFill>
                <a:latin typeface="Calibri" pitchFamily="34" charset="0"/>
                <a:ea typeface="Calibri" pitchFamily="34" charset="-122"/>
                <a:cs typeface="Calibri" pitchFamily="34" charset="-120"/>
              </a:rPr>
              <a:t> </a:t>
            </a:r>
            <a:r>
              <a:rPr lang="es-ES" sz="950" b="1" dirty="0" err="1">
                <a:solidFill>
                  <a:srgbClr val="333333"/>
                </a:solidFill>
                <a:latin typeface="Calibri" pitchFamily="34" charset="0"/>
                <a:ea typeface="Calibri" pitchFamily="34" charset="-122"/>
                <a:cs typeface="Calibri" pitchFamily="34" charset="-120"/>
              </a:rPr>
              <a:t>Revenue</a:t>
            </a:r>
            <a:r>
              <a:rPr lang="es-ES" sz="950" b="1" dirty="0">
                <a:solidFill>
                  <a:srgbClr val="333333"/>
                </a:solidFill>
                <a:latin typeface="Calibri" pitchFamily="34" charset="0"/>
                <a:ea typeface="Calibri" pitchFamily="34" charset="-122"/>
                <a:cs typeface="Calibri" pitchFamily="34" charset="-120"/>
              </a:rPr>
              <a:t>: </a:t>
            </a:r>
            <a:r>
              <a:rPr lang="es-ES" sz="950" dirty="0">
                <a:solidFill>
                  <a:srgbClr val="333333"/>
                </a:solidFill>
                <a:latin typeface="Calibri" pitchFamily="34" charset="0"/>
                <a:ea typeface="Calibri" pitchFamily="34" charset="-122"/>
                <a:cs typeface="Calibri" pitchFamily="34" charset="-120"/>
              </a:rPr>
              <a:t>Se suma el valor P75 de los servicios faltantes específicos de cada cliente y se le aplica un Factor de Captura del 50% (para proyectar una meta comercial realista, asumiendo competencia y ciclos de venta).</a:t>
            </a:r>
          </a:p>
          <a:p>
            <a:pPr marL="0" indent="0">
              <a:lnSpc>
                <a:spcPct val="115000"/>
              </a:lnSpc>
              <a:buNone/>
            </a:pPr>
            <a:endParaRPr lang="es-ES" sz="950" b="1" dirty="0">
              <a:solidFill>
                <a:srgbClr val="333333"/>
              </a:solidFill>
              <a:latin typeface="Calibri" pitchFamily="34" charset="0"/>
              <a:ea typeface="Calibri" pitchFamily="34" charset="-122"/>
              <a:cs typeface="Calibri" pitchFamily="34" charset="-120"/>
            </a:endParaRPr>
          </a:p>
          <a:p>
            <a:pPr marL="0" indent="0">
              <a:lnSpc>
                <a:spcPct val="115000"/>
              </a:lnSpc>
              <a:buNone/>
            </a:pPr>
            <a:r>
              <a:rPr lang="es-ES" sz="950" b="1" dirty="0">
                <a:solidFill>
                  <a:srgbClr val="333333"/>
                </a:solidFill>
                <a:latin typeface="Calibri" pitchFamily="34" charset="0"/>
                <a:ea typeface="Calibri" pitchFamily="34" charset="-122"/>
                <a:cs typeface="Calibri" pitchFamily="34" charset="-120"/>
              </a:rPr>
              <a:t>Cálculo de </a:t>
            </a:r>
            <a:r>
              <a:rPr lang="es-ES" sz="950" b="1" dirty="0" err="1">
                <a:solidFill>
                  <a:srgbClr val="333333"/>
                </a:solidFill>
                <a:latin typeface="Calibri" pitchFamily="34" charset="0"/>
                <a:ea typeface="Calibri" pitchFamily="34" charset="-122"/>
                <a:cs typeface="Calibri" pitchFamily="34" charset="-120"/>
              </a:rPr>
              <a:t>Upsell</a:t>
            </a:r>
            <a:r>
              <a:rPr lang="es-ES" sz="950" b="1" dirty="0">
                <a:solidFill>
                  <a:srgbClr val="333333"/>
                </a:solidFill>
                <a:latin typeface="Calibri" pitchFamily="34" charset="0"/>
                <a:ea typeface="Calibri" pitchFamily="34" charset="-122"/>
                <a:cs typeface="Calibri" pitchFamily="34" charset="-120"/>
              </a:rPr>
              <a:t> </a:t>
            </a:r>
            <a:r>
              <a:rPr lang="es-ES" sz="950" b="1" dirty="0" err="1">
                <a:solidFill>
                  <a:srgbClr val="333333"/>
                </a:solidFill>
                <a:latin typeface="Calibri" pitchFamily="34" charset="0"/>
                <a:ea typeface="Calibri" pitchFamily="34" charset="-122"/>
                <a:cs typeface="Calibri" pitchFamily="34" charset="-120"/>
              </a:rPr>
              <a:t>Margin</a:t>
            </a:r>
            <a:r>
              <a:rPr lang="es-ES" sz="950" b="1" dirty="0">
                <a:solidFill>
                  <a:srgbClr val="333333"/>
                </a:solidFill>
                <a:latin typeface="Calibri" pitchFamily="34" charset="0"/>
                <a:ea typeface="Calibri" pitchFamily="34" charset="-122"/>
                <a:cs typeface="Calibri" pitchFamily="34" charset="-120"/>
              </a:rPr>
              <a:t>: </a:t>
            </a:r>
            <a:r>
              <a:rPr lang="es-ES" sz="950" dirty="0">
                <a:solidFill>
                  <a:srgbClr val="333333"/>
                </a:solidFill>
                <a:latin typeface="Calibri" pitchFamily="34" charset="0"/>
                <a:ea typeface="Calibri" pitchFamily="34" charset="-122"/>
                <a:cs typeface="Calibri" pitchFamily="34" charset="-120"/>
              </a:rPr>
              <a:t>Se multiplica el </a:t>
            </a:r>
            <a:r>
              <a:rPr lang="es-ES" sz="950" dirty="0" err="1">
                <a:solidFill>
                  <a:srgbClr val="333333"/>
                </a:solidFill>
                <a:latin typeface="Calibri" pitchFamily="34" charset="0"/>
                <a:ea typeface="Calibri" pitchFamily="34" charset="-122"/>
                <a:cs typeface="Calibri" pitchFamily="34" charset="-120"/>
              </a:rPr>
              <a:t>Upsell</a:t>
            </a:r>
            <a:r>
              <a:rPr lang="es-ES" sz="950" dirty="0">
                <a:solidFill>
                  <a:srgbClr val="333333"/>
                </a:solidFill>
                <a:latin typeface="Calibri" pitchFamily="34" charset="0"/>
                <a:ea typeface="Calibri" pitchFamily="34" charset="-122"/>
                <a:cs typeface="Calibri" pitchFamily="34" charset="-120"/>
              </a:rPr>
              <a:t> </a:t>
            </a:r>
            <a:r>
              <a:rPr lang="es-ES" sz="950" dirty="0" err="1">
                <a:solidFill>
                  <a:srgbClr val="333333"/>
                </a:solidFill>
                <a:latin typeface="Calibri" pitchFamily="34" charset="0"/>
                <a:ea typeface="Calibri" pitchFamily="34" charset="-122"/>
                <a:cs typeface="Calibri" pitchFamily="34" charset="-120"/>
              </a:rPr>
              <a:t>Revenue</a:t>
            </a:r>
            <a:r>
              <a:rPr lang="es-ES" sz="950" dirty="0">
                <a:solidFill>
                  <a:srgbClr val="333333"/>
                </a:solidFill>
                <a:latin typeface="Calibri" pitchFamily="34" charset="0"/>
                <a:ea typeface="Calibri" pitchFamily="34" charset="-122"/>
                <a:cs typeface="Calibri" pitchFamily="34" charset="-120"/>
              </a:rPr>
              <a:t> obtenido por el Margen Promedio histórico (%) del clúster al que pertenece la empresa, proyectando así la utilidad neta esperada</a:t>
            </a:r>
            <a:r>
              <a:rPr lang="es-ES" sz="950" b="1" dirty="0">
                <a:solidFill>
                  <a:srgbClr val="333333"/>
                </a:solidFill>
                <a:latin typeface="Calibri" pitchFamily="34" charset="0"/>
                <a:ea typeface="Calibri" pitchFamily="34" charset="-122"/>
                <a:cs typeface="Calibri" pitchFamily="34" charset="-120"/>
              </a:rPr>
              <a:t>.</a:t>
            </a:r>
            <a:endParaRPr lang="en-US" sz="950" dirty="0"/>
          </a:p>
        </p:txBody>
      </p:sp>
      <p:sp>
        <p:nvSpPr>
          <p:cNvPr id="13" name="Shape 11"/>
          <p:cNvSpPr/>
          <p:nvPr/>
        </p:nvSpPr>
        <p:spPr>
          <a:xfrm>
            <a:off x="457200" y="3840480"/>
            <a:ext cx="5394960" cy="914400"/>
          </a:xfrm>
          <a:prstGeom prst="rect">
            <a:avLst/>
          </a:prstGeom>
          <a:solidFill>
            <a:srgbClr val="FFF3ED"/>
          </a:solidFill>
          <a:ln/>
        </p:spPr>
        <p:txBody>
          <a:bodyPr/>
          <a:lstStyle/>
          <a:p>
            <a:endParaRPr lang="es-PE"/>
          </a:p>
        </p:txBody>
      </p:sp>
      <p:sp>
        <p:nvSpPr>
          <p:cNvPr id="14" name="Shape 12"/>
          <p:cNvSpPr/>
          <p:nvPr/>
        </p:nvSpPr>
        <p:spPr>
          <a:xfrm>
            <a:off x="457200" y="3840480"/>
            <a:ext cx="5394960" cy="54864"/>
          </a:xfrm>
          <a:prstGeom prst="rect">
            <a:avLst/>
          </a:prstGeom>
          <a:solidFill>
            <a:srgbClr val="E04F16"/>
          </a:solidFill>
          <a:ln/>
        </p:spPr>
        <p:txBody>
          <a:bodyPr/>
          <a:lstStyle/>
          <a:p>
            <a:endParaRPr lang="es-PE"/>
          </a:p>
        </p:txBody>
      </p:sp>
      <p:sp>
        <p:nvSpPr>
          <p:cNvPr id="15" name="Text 13"/>
          <p:cNvSpPr/>
          <p:nvPr/>
        </p:nvSpPr>
        <p:spPr>
          <a:xfrm>
            <a:off x="640080" y="3931920"/>
            <a:ext cx="2743200" cy="457200"/>
          </a:xfrm>
          <a:prstGeom prst="rect">
            <a:avLst/>
          </a:prstGeom>
          <a:noFill/>
          <a:ln/>
        </p:spPr>
        <p:txBody>
          <a:bodyPr wrap="square" lIns="0" tIns="0" rIns="0" bIns="0" rtlCol="0" anchor="ctr"/>
          <a:lstStyle/>
          <a:p>
            <a:pPr marL="0" indent="0">
              <a:buNone/>
            </a:pPr>
            <a:r>
              <a:rPr lang="en-US" sz="3000" b="1" dirty="0">
                <a:solidFill>
                  <a:srgbClr val="E04F16"/>
                </a:solidFill>
                <a:latin typeface="Georgia" pitchFamily="34" charset="0"/>
                <a:ea typeface="Georgia" pitchFamily="34" charset="-122"/>
                <a:cs typeface="Georgia" pitchFamily="34" charset="-120"/>
              </a:rPr>
              <a:t>S/. 226.5M</a:t>
            </a:r>
            <a:endParaRPr lang="en-US" sz="3000" dirty="0"/>
          </a:p>
        </p:txBody>
      </p:sp>
      <p:sp>
        <p:nvSpPr>
          <p:cNvPr id="16" name="Text 14"/>
          <p:cNvSpPr/>
          <p:nvPr/>
        </p:nvSpPr>
        <p:spPr>
          <a:xfrm>
            <a:off x="640080" y="4389120"/>
            <a:ext cx="5029200" cy="228600"/>
          </a:xfrm>
          <a:prstGeom prst="rect">
            <a:avLst/>
          </a:prstGeom>
          <a:noFill/>
          <a:ln/>
        </p:spPr>
        <p:txBody>
          <a:bodyPr wrap="square" lIns="0" tIns="0" rIns="0" bIns="0" rtlCol="0" anchor="ctr"/>
          <a:lstStyle/>
          <a:p>
            <a:r>
              <a:rPr lang="es-PE" sz="1100" dirty="0" err="1"/>
              <a:t>Upsell</a:t>
            </a:r>
            <a:r>
              <a:rPr lang="es-PE" sz="1100" dirty="0"/>
              <a:t> </a:t>
            </a:r>
            <a:r>
              <a:rPr lang="es-PE" sz="1100" dirty="0" err="1"/>
              <a:t>Revenue</a:t>
            </a:r>
            <a:r>
              <a:rPr lang="es-PE" sz="1100" dirty="0"/>
              <a:t> "Core" (P&amp;G + </a:t>
            </a:r>
            <a:r>
              <a:rPr lang="es-PE" sz="1100" dirty="0" err="1"/>
              <a:t>Acc</a:t>
            </a:r>
            <a:r>
              <a:rPr lang="es-PE" sz="1100" dirty="0"/>
              <a:t> + </a:t>
            </a:r>
            <a:r>
              <a:rPr lang="es-PE" sz="1100" dirty="0" err="1"/>
              <a:t>Exp</a:t>
            </a:r>
            <a:r>
              <a:rPr lang="es-PE" sz="1100" dirty="0"/>
              <a:t>)</a:t>
            </a:r>
            <a:endParaRPr lang="en-US" sz="1100" dirty="0"/>
          </a:p>
        </p:txBody>
      </p:sp>
      <p:graphicFrame>
        <p:nvGraphicFramePr>
          <p:cNvPr id="21" name="Table 0"/>
          <p:cNvGraphicFramePr>
            <a:graphicFrameLocks noGrp="1"/>
          </p:cNvGraphicFramePr>
          <p:nvPr/>
        </p:nvGraphicFramePr>
        <p:xfrm>
          <a:off x="457200" y="4937760"/>
          <a:ext cx="11274552" cy="1371600"/>
        </p:xfrm>
        <a:graphic>
          <a:graphicData uri="http://schemas.openxmlformats.org/drawingml/2006/table">
            <a:tbl>
              <a:tblPr/>
              <a:tblGrid>
                <a:gridCol w="36576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130552">
                  <a:extLst>
                    <a:ext uri="{9D8B030D-6E8A-4147-A177-3AD203B41FA5}">
                      <a16:colId xmlns:a16="http://schemas.microsoft.com/office/drawing/2014/main" val="20003"/>
                    </a:ext>
                  </a:extLst>
                </a:gridCol>
              </a:tblGrid>
              <a:tr h="22860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Cluster</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D2D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Upsell Revenue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D2D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Upsell Margin</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D2D2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N° con Gap</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D2D2D"/>
                    </a:solidFill>
                  </a:tcPr>
                </a:tc>
                <a:extLst>
                  <a:ext uri="{0D108BD9-81ED-4DB2-BD59-A6C34878D82A}">
                    <a16:rowId xmlns:a16="http://schemas.microsoft.com/office/drawing/2014/main" val="10000"/>
                  </a:ext>
                </a:extLst>
              </a:tr>
              <a:tr h="228600">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EXPAND</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S/.90.4M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S/.45.7M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234</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QUALIFY</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S/.74.0M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S/.15.1M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321</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ACCELERATE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S/.42.4M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S/.18.9M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117</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ACTIVATE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S/.10.4M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S/.2.9M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183</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PROTECT &amp; GROW</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S/.5.5M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r">
                        <a:buNone/>
                      </a:pPr>
                      <a:r>
                        <a:rPr lang="en-US" sz="900" dirty="0">
                          <a:solidFill>
                            <a:srgbClr val="000000"/>
                          </a:solidFill>
                          <a:latin typeface="Calibri" pitchFamily="34" charset="0"/>
                          <a:ea typeface="Calibri" pitchFamily="34" charset="-122"/>
                          <a:cs typeface="Calibri" pitchFamily="34" charset="-120"/>
                        </a:rPr>
                        <a:t>S/.2.2M</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2" name="Text 19"/>
          <p:cNvSpPr/>
          <p:nvPr/>
        </p:nvSpPr>
        <p:spPr>
          <a:xfrm>
            <a:off x="457200" y="6446520"/>
            <a:ext cx="4572000" cy="274320"/>
          </a:xfrm>
          <a:prstGeom prst="rect">
            <a:avLst/>
          </a:prstGeom>
          <a:noFill/>
          <a:ln/>
        </p:spPr>
        <p:txBody>
          <a:bodyPr wrap="square"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a:t>
            </a:r>
            <a:endParaRPr lang="en-US" sz="800" dirty="0"/>
          </a:p>
        </p:txBody>
      </p:sp>
      <p:sp>
        <p:nvSpPr>
          <p:cNvPr id="23" name="Text 20"/>
          <p:cNvSpPr/>
          <p:nvPr/>
        </p:nvSpPr>
        <p:spPr>
          <a:xfrm>
            <a:off x="10972800" y="6446520"/>
            <a:ext cx="914400" cy="274320"/>
          </a:xfrm>
          <a:prstGeom prst="rect">
            <a:avLst/>
          </a:prstGeom>
          <a:noFill/>
          <a:ln/>
        </p:spPr>
        <p:txBody>
          <a:bodyPr wrap="square"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9/36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Upsell Potential — Gap Analysis P75 por Cluster</a:t>
            </a:r>
            <a:endParaRPr lang="en-US" sz="2600" dirty="0"/>
          </a:p>
        </p:txBody>
      </p:sp>
      <p:sp>
        <p:nvSpPr>
          <p:cNvPr id="5" name="Shape 3"/>
          <p:cNvSpPr/>
          <p:nvPr/>
        </p:nvSpPr>
        <p:spPr>
          <a:xfrm>
            <a:off x="457200" y="1554480"/>
            <a:ext cx="11247120" cy="1097280"/>
          </a:xfrm>
          <a:prstGeom prst="rect">
            <a:avLst/>
          </a:prstGeom>
          <a:solidFill>
            <a:srgbClr val="FFF3ED"/>
          </a:solidFill>
          <a:ln/>
        </p:spPr>
        <p:txBody>
          <a:bodyPr/>
          <a:lstStyle/>
          <a:p>
            <a:endParaRPr lang="es-PE"/>
          </a:p>
        </p:txBody>
      </p:sp>
      <p:sp>
        <p:nvSpPr>
          <p:cNvPr id="6" name="Text 4"/>
          <p:cNvSpPr/>
          <p:nvPr/>
        </p:nvSpPr>
        <p:spPr>
          <a:xfrm>
            <a:off x="685800" y="1645920"/>
            <a:ext cx="10881360" cy="914400"/>
          </a:xfrm>
          <a:prstGeom prst="rect">
            <a:avLst/>
          </a:prstGeom>
          <a:noFill/>
          <a:ln/>
        </p:spPr>
        <p:txBody>
          <a:bodyPr wrap="square" lIns="0" tIns="0" rIns="0" bIns="0" rtlCol="0" anchor="ctr"/>
          <a:lstStyle/>
          <a:p>
            <a:pPr marL="0" indent="0">
              <a:lnSpc>
                <a:spcPct val="125000"/>
              </a:lnSpc>
              <a:buNone/>
            </a:pPr>
            <a:r>
              <a:rPr lang="en-US" sz="1150" b="1" dirty="0">
                <a:solidFill>
                  <a:srgbClr val="333333"/>
                </a:solidFill>
                <a:latin typeface="Calibri" pitchFamily="34" charset="0"/>
                <a:ea typeface="Calibri" pitchFamily="34" charset="-122"/>
                <a:cs typeface="Calibri" pitchFamily="34" charset="-120"/>
              </a:rPr>
              <a:t>Metodología · </a:t>
            </a:r>
            <a:r>
              <a:rPr lang="en-US" sz="1150" dirty="0">
                <a:solidFill>
                  <a:srgbClr val="333333"/>
                </a:solidFill>
                <a:latin typeface="Calibri" pitchFamily="34" charset="0"/>
                <a:ea typeface="Calibri" pitchFamily="34" charset="-122"/>
                <a:cs typeface="Calibri" pitchFamily="34" charset="-120"/>
              </a:rPr>
              <a:t>Por cada (cluster × Sub-LoS), se calcula el P75 del revenue entre las empresas que SÍ contratan esa Sub-LoS. Ese P75 se imputa como upsell potential a cada empresa del cluster que NO la contrata. </a:t>
            </a:r>
            <a:r>
              <a:rPr lang="en-US" sz="1150" i="1" dirty="0">
                <a:solidFill>
                  <a:srgbClr val="333333"/>
                </a:solidFill>
                <a:latin typeface="Calibri" pitchFamily="34" charset="0"/>
                <a:ea typeface="Calibri" pitchFamily="34" charset="-122"/>
                <a:cs typeface="Calibri" pitchFamily="34" charset="-120"/>
              </a:rPr>
              <a:t>Lógica por cluster — no por empresa — </a:t>
            </a:r>
            <a:r>
              <a:rPr lang="en-US" sz="1150" dirty="0">
                <a:solidFill>
                  <a:srgbClr val="333333"/>
                </a:solidFill>
                <a:latin typeface="Calibri" pitchFamily="34" charset="0"/>
                <a:ea typeface="Calibri" pitchFamily="34" charset="-122"/>
                <a:cs typeface="Calibri" pitchFamily="34" charset="-120"/>
              </a:rPr>
              <a:t>para evitar sobre/sub-estimar según tamaño.</a:t>
            </a:r>
            <a:endParaRPr lang="en-US" sz="1150" dirty="0"/>
          </a:p>
        </p:txBody>
      </p:sp>
      <p:sp>
        <p:nvSpPr>
          <p:cNvPr id="8" name="Shape 5"/>
          <p:cNvSpPr/>
          <p:nvPr/>
        </p:nvSpPr>
        <p:spPr>
          <a:xfrm>
            <a:off x="457200" y="5669280"/>
            <a:ext cx="11247120" cy="685800"/>
          </a:xfrm>
          <a:prstGeom prst="rect">
            <a:avLst/>
          </a:prstGeom>
          <a:solidFill>
            <a:srgbClr val="D5F5E3"/>
          </a:solidFill>
          <a:ln/>
        </p:spPr>
        <p:txBody>
          <a:bodyPr/>
          <a:lstStyle/>
          <a:p>
            <a:endParaRPr lang="es-PE"/>
          </a:p>
        </p:txBody>
      </p:sp>
      <p:sp>
        <p:nvSpPr>
          <p:cNvPr id="9" name="Text 6"/>
          <p:cNvSpPr/>
          <p:nvPr/>
        </p:nvSpPr>
        <p:spPr>
          <a:xfrm>
            <a:off x="457200" y="5669280"/>
            <a:ext cx="11247120" cy="685800"/>
          </a:xfrm>
          <a:prstGeom prst="rect">
            <a:avLst/>
          </a:prstGeom>
          <a:noFill/>
          <a:ln/>
        </p:spPr>
        <p:txBody>
          <a:bodyPr wrap="square" lIns="0" tIns="0" rIns="0" bIns="0" rtlCol="0" anchor="ctr"/>
          <a:lstStyle/>
          <a:p>
            <a:pPr marL="0" indent="0" algn="ctr">
              <a:buNone/>
            </a:pPr>
            <a:r>
              <a:rPr lang="en-US" sz="1200" b="1" dirty="0">
                <a:solidFill>
                  <a:srgbClr val="27AE60"/>
                </a:solidFill>
                <a:latin typeface="Georgia" pitchFamily="34" charset="0"/>
                <a:ea typeface="Georgia" pitchFamily="34" charset="-122"/>
                <a:cs typeface="Georgia" pitchFamily="34" charset="-120"/>
              </a:rPr>
              <a:t>71 % del upsell margin (S/. 114.6 M de S/. 160.9 M) se concentra en EXPAND + ACCELERATE · 325 cuentas = sweet spot de cross-sell</a:t>
            </a:r>
            <a:endParaRPr lang="en-US" sz="1200" dirty="0"/>
          </a:p>
        </p:txBody>
      </p:sp>
      <p:sp>
        <p:nvSpPr>
          <p:cNvPr id="10" name="Text 7"/>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11" name="Text 8"/>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12/32</a:t>
            </a:r>
            <a:endParaRPr lang="en-US" sz="800" dirty="0"/>
          </a:p>
        </p:txBody>
      </p:sp>
      <p:pic>
        <p:nvPicPr>
          <p:cNvPr id="17" name="Imagen 16">
            <a:extLst>
              <a:ext uri="{FF2B5EF4-FFF2-40B4-BE49-F238E27FC236}">
                <a16:creationId xmlns:a16="http://schemas.microsoft.com/office/drawing/2014/main" id="{CEB9D04D-EF42-56B5-5AD5-A6AF64CB61BA}"/>
              </a:ext>
            </a:extLst>
          </p:cNvPr>
          <p:cNvPicPr>
            <a:picLocks noChangeAspect="1"/>
          </p:cNvPicPr>
          <p:nvPr/>
        </p:nvPicPr>
        <p:blipFill>
          <a:blip r:embed="rId3"/>
          <a:stretch>
            <a:fillRect/>
          </a:stretch>
        </p:blipFill>
        <p:spPr>
          <a:xfrm>
            <a:off x="202503" y="3099340"/>
            <a:ext cx="11786994" cy="22138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Upsell — Distribución de Potencial por Cluster</a:t>
            </a:r>
            <a:endParaRPr lang="en-US" sz="2600" dirty="0"/>
          </a:p>
        </p:txBody>
      </p:sp>
      <p:sp>
        <p:nvSpPr>
          <p:cNvPr id="6" name="Text 3"/>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7" name="Text 4"/>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13/32</a:t>
            </a:r>
            <a:endParaRPr lang="en-US" sz="800" dirty="0"/>
          </a:p>
        </p:txBody>
      </p:sp>
      <p:pic>
        <p:nvPicPr>
          <p:cNvPr id="7172" name="Picture 4">
            <a:extLst>
              <a:ext uri="{FF2B5EF4-FFF2-40B4-BE49-F238E27FC236}">
                <a16:creationId xmlns:a16="http://schemas.microsoft.com/office/drawing/2014/main" id="{ED452135-C9DD-0F89-472F-7B8F145711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075" y="1525888"/>
            <a:ext cx="9303799" cy="46005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E04F16"/>
          </a:solidFill>
          <a:ln/>
        </p:spPr>
        <p:txBody>
          <a:bodyPr/>
          <a:lstStyle/>
          <a:p>
            <a:endParaRPr lang="es-PE"/>
          </a:p>
        </p:txBody>
      </p:sp>
      <p:sp>
        <p:nvSpPr>
          <p:cNvPr id="3" name="Text 1"/>
          <p:cNvSpPr/>
          <p:nvPr/>
        </p:nvSpPr>
        <p:spPr>
          <a:xfrm>
            <a:off x="457200" y="274320"/>
            <a:ext cx="1371600" cy="365760"/>
          </a:xfrm>
          <a:prstGeom prst="rect">
            <a:avLst/>
          </a:prstGeom>
          <a:noFill/>
          <a:ln/>
        </p:spPr>
        <p:txBody>
          <a:bodyPr wrap="square" lIns="0" tIns="0" rIns="0" bIns="0" rtlCol="0" anchor="ctr"/>
          <a:lstStyle/>
          <a:p>
            <a:pPr marL="0" indent="0">
              <a:buNone/>
            </a:pPr>
            <a:r>
              <a:rPr lang="en-US" sz="1400" b="1" dirty="0">
                <a:solidFill>
                  <a:srgbClr val="E04F16"/>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7724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Caso Práctico — Upsell Potential: ENGIE Energía</a:t>
            </a:r>
            <a:endParaRPr lang="en-US" sz="2600" dirty="0"/>
          </a:p>
        </p:txBody>
      </p:sp>
      <p:sp>
        <p:nvSpPr>
          <p:cNvPr id="5" name="Text 3"/>
          <p:cNvSpPr/>
          <p:nvPr/>
        </p:nvSpPr>
        <p:spPr>
          <a:xfrm>
            <a:off x="457200" y="1417320"/>
            <a:ext cx="10972800" cy="274320"/>
          </a:xfrm>
          <a:prstGeom prst="rect">
            <a:avLst/>
          </a:prstGeom>
          <a:noFill/>
          <a:ln/>
        </p:spPr>
        <p:txBody>
          <a:bodyPr wrap="square" lIns="0" tIns="0" rIns="0" bIns="0"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Cómo el Gap Analysis identifica S/.1.7M de revenue potencial en una sola cuenta.</a:t>
            </a:r>
            <a:endParaRPr lang="en-US" sz="1000" dirty="0"/>
          </a:p>
        </p:txBody>
      </p:sp>
      <p:sp>
        <p:nvSpPr>
          <p:cNvPr id="6" name="Shape 4"/>
          <p:cNvSpPr/>
          <p:nvPr/>
        </p:nvSpPr>
        <p:spPr>
          <a:xfrm>
            <a:off x="457200" y="1828800"/>
            <a:ext cx="11274552" cy="1371600"/>
          </a:xfrm>
          <a:prstGeom prst="rect">
            <a:avLst/>
          </a:prstGeom>
          <a:solidFill>
            <a:srgbClr val="FFF3ED"/>
          </a:solidFill>
          <a:ln/>
        </p:spPr>
        <p:txBody>
          <a:bodyPr/>
          <a:lstStyle/>
          <a:p>
            <a:endParaRPr lang="es-PE"/>
          </a:p>
        </p:txBody>
      </p:sp>
      <p:sp>
        <p:nvSpPr>
          <p:cNvPr id="7" name="Shape 5"/>
          <p:cNvSpPr/>
          <p:nvPr/>
        </p:nvSpPr>
        <p:spPr>
          <a:xfrm>
            <a:off x="457200" y="1828800"/>
            <a:ext cx="54864" cy="1371600"/>
          </a:xfrm>
          <a:prstGeom prst="rect">
            <a:avLst/>
          </a:prstGeom>
          <a:solidFill>
            <a:srgbClr val="E04F16"/>
          </a:solidFill>
          <a:ln/>
        </p:spPr>
        <p:txBody>
          <a:bodyPr/>
          <a:lstStyle/>
          <a:p>
            <a:endParaRPr lang="es-PE"/>
          </a:p>
        </p:txBody>
      </p:sp>
      <p:sp>
        <p:nvSpPr>
          <p:cNvPr id="8" name="Text 6"/>
          <p:cNvSpPr/>
          <p:nvPr/>
        </p:nvSpPr>
        <p:spPr>
          <a:xfrm>
            <a:off x="685800" y="1874520"/>
            <a:ext cx="4572000" cy="365760"/>
          </a:xfrm>
          <a:prstGeom prst="rect">
            <a:avLst/>
          </a:prstGeom>
          <a:noFill/>
          <a:ln/>
        </p:spPr>
        <p:txBody>
          <a:bodyPr wrap="square" lIns="0" tIns="0" rIns="0" bIns="0" rtlCol="0" anchor="ctr"/>
          <a:lstStyle/>
          <a:p>
            <a:pPr marL="0" indent="0">
              <a:buNone/>
            </a:pPr>
            <a:r>
              <a:rPr lang="en-US" sz="1600" b="1" dirty="0">
                <a:solidFill>
                  <a:srgbClr val="2D2D2D"/>
                </a:solidFill>
                <a:latin typeface="Georgia" pitchFamily="34" charset="0"/>
                <a:ea typeface="Georgia" pitchFamily="34" charset="-122"/>
                <a:cs typeface="Georgia" pitchFamily="34" charset="-120"/>
              </a:rPr>
              <a:t>ENGIE ENERGÍA PERÚ</a:t>
            </a:r>
            <a:endParaRPr lang="en-US" sz="1600" dirty="0"/>
          </a:p>
        </p:txBody>
      </p:sp>
      <p:sp>
        <p:nvSpPr>
          <p:cNvPr id="9" name="Text 7"/>
          <p:cNvSpPr/>
          <p:nvPr/>
        </p:nvSpPr>
        <p:spPr>
          <a:xfrm>
            <a:off x="685800" y="2240280"/>
            <a:ext cx="10789920" cy="22860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Cluster: PROTECT &amp; GROW | Score: 60 | Revenue: S/.1.67M | Margin: 44%</a:t>
            </a:r>
            <a:endParaRPr lang="en-US" sz="1000" dirty="0"/>
          </a:p>
        </p:txBody>
      </p:sp>
      <p:sp>
        <p:nvSpPr>
          <p:cNvPr id="10" name="Text 8"/>
          <p:cNvSpPr/>
          <p:nvPr/>
        </p:nvSpPr>
        <p:spPr>
          <a:xfrm>
            <a:off x="685800" y="2514600"/>
            <a:ext cx="2743200" cy="182880"/>
          </a:xfrm>
          <a:prstGeom prst="rect">
            <a:avLst/>
          </a:prstGeom>
          <a:noFill/>
          <a:ln/>
        </p:spPr>
        <p:txBody>
          <a:bodyPr wrap="square" lIns="0" tIns="0" rIns="0" bIns="0"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SubLoS ACTIVAS (6):</a:t>
            </a:r>
            <a:endParaRPr lang="en-US" sz="900" dirty="0"/>
          </a:p>
        </p:txBody>
      </p:sp>
      <p:sp>
        <p:nvSpPr>
          <p:cNvPr id="11" name="Text 9"/>
          <p:cNvSpPr/>
          <p:nvPr/>
        </p:nvSpPr>
        <p:spPr>
          <a:xfrm>
            <a:off x="2103120" y="2514600"/>
            <a:ext cx="8229600" cy="18288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Advisory Consulting, CMAAS, Deals, Legal, Other Tax, Tax</a:t>
            </a:r>
            <a:endParaRPr lang="en-US" sz="900" dirty="0"/>
          </a:p>
        </p:txBody>
      </p:sp>
      <p:sp>
        <p:nvSpPr>
          <p:cNvPr id="12" name="Text 10"/>
          <p:cNvSpPr/>
          <p:nvPr/>
        </p:nvSpPr>
        <p:spPr>
          <a:xfrm>
            <a:off x="685800" y="2743200"/>
            <a:ext cx="1371600" cy="182880"/>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MISSING:</a:t>
            </a:r>
            <a:endParaRPr lang="en-US" sz="900" dirty="0"/>
          </a:p>
        </p:txBody>
      </p:sp>
      <p:sp>
        <p:nvSpPr>
          <p:cNvPr id="13" name="Text 11"/>
          <p:cNvSpPr/>
          <p:nvPr/>
        </p:nvSpPr>
        <p:spPr>
          <a:xfrm>
            <a:off x="2103120" y="2743200"/>
            <a:ext cx="9418320" cy="182880"/>
          </a:xfrm>
          <a:prstGeom prst="rect">
            <a:avLst/>
          </a:prstGeom>
          <a:noFill/>
          <a:ln/>
        </p:spPr>
        <p:txBody>
          <a:bodyPr wrap="square" lIns="0" tIns="0" rIns="0" bIns="0" rtlCol="0" anchor="ctr"/>
          <a:lstStyle/>
          <a:p>
            <a:pPr marL="0" indent="0">
              <a:buNone/>
            </a:pPr>
            <a:r>
              <a:rPr lang="en-US" sz="900" dirty="0">
                <a:solidFill>
                  <a:srgbClr val="C0392B"/>
                </a:solidFill>
                <a:latin typeface="Calibri" pitchFamily="34" charset="0"/>
                <a:ea typeface="Calibri" pitchFamily="34" charset="-122"/>
                <a:cs typeface="Calibri" pitchFamily="34" charset="-120"/>
              </a:rPr>
              <a:t>Assurance (Core Audit, RAS, CMAA, etc)</a:t>
            </a:r>
            <a:endParaRPr lang="en-US" sz="900" dirty="0"/>
          </a:p>
        </p:txBody>
      </p:sp>
      <p:sp>
        <p:nvSpPr>
          <p:cNvPr id="14" name="Text 12"/>
          <p:cNvSpPr/>
          <p:nvPr/>
        </p:nvSpPr>
        <p:spPr>
          <a:xfrm>
            <a:off x="457200" y="3383280"/>
            <a:ext cx="2743200" cy="320040"/>
          </a:xfrm>
          <a:prstGeom prst="rect">
            <a:avLst/>
          </a:prstGeom>
          <a:noFill/>
          <a:ln/>
        </p:spPr>
        <p:txBody>
          <a:bodyPr wrap="square" lIns="0" tIns="0" rIns="0" bIns="0" rtlCol="0" anchor="ctr"/>
          <a:lstStyle/>
          <a:p>
            <a:pPr marL="0" indent="0">
              <a:buNone/>
            </a:pPr>
            <a:r>
              <a:rPr lang="en-US" sz="1400" b="1" dirty="0">
                <a:solidFill>
                  <a:srgbClr val="2D2D2D"/>
                </a:solidFill>
                <a:latin typeface="Georgia" pitchFamily="34" charset="0"/>
                <a:ea typeface="Georgia" pitchFamily="34" charset="-122"/>
                <a:cs typeface="Georgia" pitchFamily="34" charset="-120"/>
              </a:rPr>
              <a:t>Gap Analysis:</a:t>
            </a:r>
            <a:endParaRPr lang="en-US" sz="1400" dirty="0"/>
          </a:p>
        </p:txBody>
      </p:sp>
      <p:sp>
        <p:nvSpPr>
          <p:cNvPr id="15" name="Shape 13"/>
          <p:cNvSpPr/>
          <p:nvPr/>
        </p:nvSpPr>
        <p:spPr>
          <a:xfrm>
            <a:off x="457200" y="3749040"/>
            <a:ext cx="2560320" cy="1645920"/>
          </a:xfrm>
          <a:prstGeom prst="rect">
            <a:avLst/>
          </a:prstGeom>
          <a:solidFill>
            <a:srgbClr val="F2F2F2"/>
          </a:solidFill>
          <a:ln/>
        </p:spPr>
        <p:txBody>
          <a:bodyPr/>
          <a:lstStyle/>
          <a:p>
            <a:endParaRPr lang="es-PE"/>
          </a:p>
        </p:txBody>
      </p:sp>
      <p:sp>
        <p:nvSpPr>
          <p:cNvPr id="16" name="Shape 14"/>
          <p:cNvSpPr/>
          <p:nvPr/>
        </p:nvSpPr>
        <p:spPr>
          <a:xfrm>
            <a:off x="457200" y="3749040"/>
            <a:ext cx="2560320" cy="54864"/>
          </a:xfrm>
          <a:prstGeom prst="rect">
            <a:avLst/>
          </a:prstGeom>
          <a:solidFill>
            <a:srgbClr val="E04F16"/>
          </a:solidFill>
          <a:ln/>
        </p:spPr>
        <p:txBody>
          <a:bodyPr/>
          <a:lstStyle/>
          <a:p>
            <a:endParaRPr lang="es-PE"/>
          </a:p>
        </p:txBody>
      </p:sp>
      <p:sp>
        <p:nvSpPr>
          <p:cNvPr id="17" name="Text 15"/>
          <p:cNvSpPr/>
          <p:nvPr/>
        </p:nvSpPr>
        <p:spPr>
          <a:xfrm>
            <a:off x="548640" y="3840480"/>
            <a:ext cx="365760" cy="274320"/>
          </a:xfrm>
          <a:prstGeom prst="rect">
            <a:avLst/>
          </a:prstGeom>
          <a:noFill/>
          <a:ln/>
        </p:spPr>
        <p:txBody>
          <a:bodyPr wrap="square" lIns="0" tIns="0" rIns="0" bIns="0" rtlCol="0" anchor="ctr"/>
          <a:lstStyle/>
          <a:p>
            <a:pPr marL="0" indent="0">
              <a:buNone/>
            </a:pPr>
            <a:r>
              <a:rPr lang="en-US" sz="1400" b="1" dirty="0">
                <a:solidFill>
                  <a:srgbClr val="E04F16"/>
                </a:solidFill>
                <a:latin typeface="Georgia" pitchFamily="34" charset="0"/>
                <a:ea typeface="Georgia" pitchFamily="34" charset="-122"/>
                <a:cs typeface="Georgia" pitchFamily="34" charset="-120"/>
              </a:rPr>
              <a:t>01</a:t>
            </a:r>
            <a:endParaRPr lang="en-US" sz="1400" dirty="0"/>
          </a:p>
        </p:txBody>
      </p:sp>
      <p:sp>
        <p:nvSpPr>
          <p:cNvPr id="18" name="Text 16"/>
          <p:cNvSpPr/>
          <p:nvPr/>
        </p:nvSpPr>
        <p:spPr>
          <a:xfrm>
            <a:off x="914400" y="3840480"/>
            <a:ext cx="2011680" cy="274320"/>
          </a:xfrm>
          <a:prstGeom prst="rect">
            <a:avLst/>
          </a:prstGeom>
          <a:noFill/>
          <a:ln/>
        </p:spPr>
        <p:txBody>
          <a:bodyPr wrap="square" lIns="0" tIns="0" rIns="0" bIns="0" rtlCol="0" anchor="ctr"/>
          <a:lstStyle/>
          <a:p>
            <a:pPr marL="0" indent="0">
              <a:buNone/>
            </a:pPr>
            <a:r>
              <a:rPr lang="en-US" sz="1000" b="1" dirty="0">
                <a:solidFill>
                  <a:srgbClr val="2D2D2D"/>
                </a:solidFill>
                <a:latin typeface="Georgia" pitchFamily="34" charset="0"/>
                <a:ea typeface="Georgia" pitchFamily="34" charset="-122"/>
                <a:cs typeface="Georgia" pitchFamily="34" charset="-120"/>
              </a:rPr>
              <a:t>Revenue Actual</a:t>
            </a:r>
            <a:endParaRPr lang="en-US" sz="1000" dirty="0"/>
          </a:p>
        </p:txBody>
      </p:sp>
      <p:sp>
        <p:nvSpPr>
          <p:cNvPr id="19" name="Text 17"/>
          <p:cNvSpPr/>
          <p:nvPr/>
        </p:nvSpPr>
        <p:spPr>
          <a:xfrm>
            <a:off x="548640" y="4160520"/>
            <a:ext cx="2377440" cy="365760"/>
          </a:xfrm>
          <a:prstGeom prst="rect">
            <a:avLst/>
          </a:prstGeom>
          <a:noFill/>
          <a:ln/>
        </p:spPr>
        <p:txBody>
          <a:bodyPr wrap="square" lIns="0" tIns="0" rIns="0" bIns="0" rtlCol="0" anchor="ctr"/>
          <a:lstStyle/>
          <a:p>
            <a:pPr marL="0" indent="0">
              <a:buNone/>
            </a:pPr>
            <a:r>
              <a:rPr lang="en-US" sz="2000" b="1" dirty="0">
                <a:solidFill>
                  <a:srgbClr val="E04F16"/>
                </a:solidFill>
                <a:latin typeface="Georgia" pitchFamily="34" charset="0"/>
                <a:ea typeface="Georgia" pitchFamily="34" charset="-122"/>
                <a:cs typeface="Georgia" pitchFamily="34" charset="-120"/>
              </a:rPr>
              <a:t>S/.1.67M</a:t>
            </a:r>
            <a:endParaRPr lang="en-US" sz="2000" dirty="0"/>
          </a:p>
        </p:txBody>
      </p:sp>
      <p:sp>
        <p:nvSpPr>
          <p:cNvPr id="20" name="Text 18"/>
          <p:cNvSpPr/>
          <p:nvPr/>
        </p:nvSpPr>
        <p:spPr>
          <a:xfrm>
            <a:off x="548640" y="4572000"/>
            <a:ext cx="2377440" cy="7315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Lo que ENGIE paga hoy a PwC por 6 SubLoS</a:t>
            </a:r>
            <a:endParaRPr lang="en-US" sz="800" dirty="0"/>
          </a:p>
        </p:txBody>
      </p:sp>
      <p:sp>
        <p:nvSpPr>
          <p:cNvPr id="21" name="Shape 19"/>
          <p:cNvSpPr/>
          <p:nvPr/>
        </p:nvSpPr>
        <p:spPr>
          <a:xfrm>
            <a:off x="3291840" y="3749040"/>
            <a:ext cx="2560320" cy="1645920"/>
          </a:xfrm>
          <a:prstGeom prst="rect">
            <a:avLst/>
          </a:prstGeom>
          <a:solidFill>
            <a:srgbClr val="F2F2F2"/>
          </a:solidFill>
          <a:ln/>
        </p:spPr>
        <p:txBody>
          <a:bodyPr/>
          <a:lstStyle/>
          <a:p>
            <a:endParaRPr lang="es-PE"/>
          </a:p>
        </p:txBody>
      </p:sp>
      <p:sp>
        <p:nvSpPr>
          <p:cNvPr id="22" name="Shape 20"/>
          <p:cNvSpPr/>
          <p:nvPr/>
        </p:nvSpPr>
        <p:spPr>
          <a:xfrm>
            <a:off x="3291840" y="3749040"/>
            <a:ext cx="2560320" cy="54864"/>
          </a:xfrm>
          <a:prstGeom prst="rect">
            <a:avLst/>
          </a:prstGeom>
          <a:solidFill>
            <a:srgbClr val="D4A843"/>
          </a:solidFill>
          <a:ln/>
        </p:spPr>
        <p:txBody>
          <a:bodyPr/>
          <a:lstStyle/>
          <a:p>
            <a:endParaRPr lang="es-PE"/>
          </a:p>
        </p:txBody>
      </p:sp>
      <p:sp>
        <p:nvSpPr>
          <p:cNvPr id="23" name="Text 21"/>
          <p:cNvSpPr/>
          <p:nvPr/>
        </p:nvSpPr>
        <p:spPr>
          <a:xfrm>
            <a:off x="3383280" y="3840480"/>
            <a:ext cx="365760" cy="274320"/>
          </a:xfrm>
          <a:prstGeom prst="rect">
            <a:avLst/>
          </a:prstGeom>
          <a:noFill/>
          <a:ln/>
        </p:spPr>
        <p:txBody>
          <a:bodyPr wrap="square" lIns="0" tIns="0" rIns="0" bIns="0" rtlCol="0" anchor="ctr"/>
          <a:lstStyle/>
          <a:p>
            <a:pPr marL="0" indent="0">
              <a:buNone/>
            </a:pPr>
            <a:r>
              <a:rPr lang="en-US" sz="1400" b="1" dirty="0">
                <a:solidFill>
                  <a:srgbClr val="D4A843"/>
                </a:solidFill>
                <a:latin typeface="Georgia" pitchFamily="34" charset="0"/>
                <a:ea typeface="Georgia" pitchFamily="34" charset="-122"/>
                <a:cs typeface="Georgia" pitchFamily="34" charset="-120"/>
              </a:rPr>
              <a:t>02</a:t>
            </a:r>
            <a:endParaRPr lang="en-US" sz="1400" dirty="0"/>
          </a:p>
        </p:txBody>
      </p:sp>
      <p:sp>
        <p:nvSpPr>
          <p:cNvPr id="24" name="Text 22"/>
          <p:cNvSpPr/>
          <p:nvPr/>
        </p:nvSpPr>
        <p:spPr>
          <a:xfrm>
            <a:off x="3749040" y="3840480"/>
            <a:ext cx="2011680" cy="274320"/>
          </a:xfrm>
          <a:prstGeom prst="rect">
            <a:avLst/>
          </a:prstGeom>
          <a:noFill/>
          <a:ln/>
        </p:spPr>
        <p:txBody>
          <a:bodyPr wrap="square" lIns="0" tIns="0" rIns="0" bIns="0" rtlCol="0" anchor="ctr"/>
          <a:lstStyle/>
          <a:p>
            <a:pPr marL="0" indent="0">
              <a:buNone/>
            </a:pPr>
            <a:r>
              <a:rPr lang="en-US" sz="1000" b="1" dirty="0">
                <a:solidFill>
                  <a:srgbClr val="2D2D2D"/>
                </a:solidFill>
                <a:latin typeface="Georgia" pitchFamily="34" charset="0"/>
                <a:ea typeface="Georgia" pitchFamily="34" charset="-122"/>
                <a:cs typeface="Georgia" pitchFamily="34" charset="-120"/>
              </a:rPr>
              <a:t>Benchmark P75 Cluster</a:t>
            </a:r>
            <a:endParaRPr lang="en-US" sz="1000" dirty="0"/>
          </a:p>
        </p:txBody>
      </p:sp>
      <p:sp>
        <p:nvSpPr>
          <p:cNvPr id="25" name="Text 23"/>
          <p:cNvSpPr/>
          <p:nvPr/>
        </p:nvSpPr>
        <p:spPr>
          <a:xfrm>
            <a:off x="3383280" y="4160520"/>
            <a:ext cx="2377440" cy="365760"/>
          </a:xfrm>
          <a:prstGeom prst="rect">
            <a:avLst/>
          </a:prstGeom>
          <a:noFill/>
          <a:ln/>
        </p:spPr>
        <p:txBody>
          <a:bodyPr wrap="square" lIns="0" tIns="0" rIns="0" bIns="0" rtlCol="0" anchor="ctr"/>
          <a:lstStyle/>
          <a:p>
            <a:pPr marL="0" indent="0">
              <a:buNone/>
            </a:pPr>
            <a:r>
              <a:rPr lang="en-US" sz="2000" b="1" dirty="0">
                <a:solidFill>
                  <a:srgbClr val="D4A843"/>
                </a:solidFill>
                <a:latin typeface="Georgia" pitchFamily="34" charset="0"/>
                <a:ea typeface="Georgia" pitchFamily="34" charset="-122"/>
                <a:cs typeface="Georgia" pitchFamily="34" charset="-120"/>
              </a:rPr>
              <a:t>S/.3.40M</a:t>
            </a:r>
            <a:endParaRPr lang="en-US" sz="2000" dirty="0"/>
          </a:p>
        </p:txBody>
      </p:sp>
      <p:sp>
        <p:nvSpPr>
          <p:cNvPr id="26" name="Text 24"/>
          <p:cNvSpPr/>
          <p:nvPr/>
        </p:nvSpPr>
        <p:spPr>
          <a:xfrm>
            <a:off x="3383280" y="4572000"/>
            <a:ext cx="2377440" cy="7315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La </a:t>
            </a:r>
            <a:r>
              <a:rPr lang="en-US" sz="800" dirty="0" err="1">
                <a:solidFill>
                  <a:srgbClr val="666666"/>
                </a:solidFill>
                <a:latin typeface="Calibri" pitchFamily="34" charset="0"/>
                <a:ea typeface="Calibri" pitchFamily="34" charset="-122"/>
                <a:cs typeface="Calibri" pitchFamily="34" charset="-120"/>
              </a:rPr>
              <a:t>suma</a:t>
            </a:r>
            <a:r>
              <a:rPr lang="en-US" sz="800" dirty="0">
                <a:solidFill>
                  <a:srgbClr val="666666"/>
                </a:solidFill>
                <a:latin typeface="Calibri" pitchFamily="34" charset="0"/>
                <a:ea typeface="Calibri" pitchFamily="34" charset="-122"/>
                <a:cs typeface="Calibri" pitchFamily="34" charset="-120"/>
              </a:rPr>
              <a:t> del Benchmark P75 </a:t>
            </a:r>
            <a:r>
              <a:rPr lang="en-US" sz="800" dirty="0" err="1">
                <a:solidFill>
                  <a:srgbClr val="666666"/>
                </a:solidFill>
                <a:latin typeface="Calibri" pitchFamily="34" charset="0"/>
                <a:ea typeface="Calibri" pitchFamily="34" charset="-122"/>
                <a:cs typeface="Calibri" pitchFamily="34" charset="-120"/>
              </a:rPr>
              <a:t>por</a:t>
            </a:r>
            <a:r>
              <a:rPr lang="en-US" sz="800" dirty="0">
                <a:solidFill>
                  <a:srgbClr val="666666"/>
                </a:solidFill>
                <a:latin typeface="Calibri" pitchFamily="34" charset="0"/>
                <a:ea typeface="Calibri" pitchFamily="34" charset="-122"/>
                <a:cs typeface="Calibri" pitchFamily="34" charset="-120"/>
              </a:rPr>
              <a:t> Cluster – Missing </a:t>
            </a:r>
            <a:r>
              <a:rPr lang="en-US" sz="800" dirty="0" err="1">
                <a:solidFill>
                  <a:srgbClr val="666666"/>
                </a:solidFill>
                <a:latin typeface="Calibri" pitchFamily="34" charset="0"/>
                <a:ea typeface="Calibri" pitchFamily="34" charset="-122"/>
                <a:cs typeface="Calibri" pitchFamily="34" charset="-120"/>
              </a:rPr>
              <a:t>Sub_Los</a:t>
            </a:r>
            <a:r>
              <a:rPr lang="en-US" sz="800" dirty="0">
                <a:solidFill>
                  <a:srgbClr val="666666"/>
                </a:solidFill>
                <a:latin typeface="Calibri" pitchFamily="34" charset="0"/>
                <a:ea typeface="Calibri" pitchFamily="34" charset="-122"/>
                <a:cs typeface="Calibri" pitchFamily="34" charset="-120"/>
              </a:rPr>
              <a:t> </a:t>
            </a:r>
            <a:endParaRPr lang="en-US" sz="800" dirty="0"/>
          </a:p>
        </p:txBody>
      </p:sp>
      <p:sp>
        <p:nvSpPr>
          <p:cNvPr id="27" name="Shape 25"/>
          <p:cNvSpPr/>
          <p:nvPr/>
        </p:nvSpPr>
        <p:spPr>
          <a:xfrm>
            <a:off x="6126480" y="3749040"/>
            <a:ext cx="2560320" cy="1645920"/>
          </a:xfrm>
          <a:prstGeom prst="rect">
            <a:avLst/>
          </a:prstGeom>
          <a:solidFill>
            <a:srgbClr val="F2F2F2"/>
          </a:solidFill>
          <a:ln/>
        </p:spPr>
        <p:txBody>
          <a:bodyPr/>
          <a:lstStyle/>
          <a:p>
            <a:endParaRPr lang="es-PE"/>
          </a:p>
        </p:txBody>
      </p:sp>
      <p:sp>
        <p:nvSpPr>
          <p:cNvPr id="28" name="Shape 26"/>
          <p:cNvSpPr/>
          <p:nvPr/>
        </p:nvSpPr>
        <p:spPr>
          <a:xfrm>
            <a:off x="6126480" y="3749040"/>
            <a:ext cx="2560320" cy="54864"/>
          </a:xfrm>
          <a:prstGeom prst="rect">
            <a:avLst/>
          </a:prstGeom>
          <a:solidFill>
            <a:srgbClr val="C0392B"/>
          </a:solidFill>
          <a:ln/>
        </p:spPr>
        <p:txBody>
          <a:bodyPr/>
          <a:lstStyle/>
          <a:p>
            <a:endParaRPr lang="es-PE"/>
          </a:p>
        </p:txBody>
      </p:sp>
      <p:sp>
        <p:nvSpPr>
          <p:cNvPr id="29" name="Text 27"/>
          <p:cNvSpPr/>
          <p:nvPr/>
        </p:nvSpPr>
        <p:spPr>
          <a:xfrm>
            <a:off x="6217920" y="3840480"/>
            <a:ext cx="365760" cy="274320"/>
          </a:xfrm>
          <a:prstGeom prst="rect">
            <a:avLst/>
          </a:prstGeom>
          <a:noFill/>
          <a:ln/>
        </p:spPr>
        <p:txBody>
          <a:bodyPr wrap="square" lIns="0" tIns="0" rIns="0" bIns="0" rtlCol="0" anchor="ctr"/>
          <a:lstStyle/>
          <a:p>
            <a:pPr marL="0" indent="0">
              <a:buNone/>
            </a:pPr>
            <a:r>
              <a:rPr lang="en-US" sz="1400" b="1" dirty="0">
                <a:solidFill>
                  <a:srgbClr val="C0392B"/>
                </a:solidFill>
                <a:latin typeface="Georgia" pitchFamily="34" charset="0"/>
                <a:ea typeface="Georgia" pitchFamily="34" charset="-122"/>
                <a:cs typeface="Georgia" pitchFamily="34" charset="-120"/>
              </a:rPr>
              <a:t>03</a:t>
            </a:r>
            <a:endParaRPr lang="en-US" sz="1400" dirty="0"/>
          </a:p>
        </p:txBody>
      </p:sp>
      <p:sp>
        <p:nvSpPr>
          <p:cNvPr id="30" name="Text 28"/>
          <p:cNvSpPr/>
          <p:nvPr/>
        </p:nvSpPr>
        <p:spPr>
          <a:xfrm>
            <a:off x="6583680" y="3840480"/>
            <a:ext cx="2011680" cy="274320"/>
          </a:xfrm>
          <a:prstGeom prst="rect">
            <a:avLst/>
          </a:prstGeom>
          <a:noFill/>
          <a:ln/>
        </p:spPr>
        <p:txBody>
          <a:bodyPr wrap="square" lIns="0" tIns="0" rIns="0" bIns="0" rtlCol="0" anchor="ctr"/>
          <a:lstStyle/>
          <a:p>
            <a:pPr marL="0" indent="0">
              <a:buNone/>
            </a:pPr>
            <a:r>
              <a:rPr lang="en-US" sz="1000" b="1" dirty="0">
                <a:solidFill>
                  <a:srgbClr val="2D2D2D"/>
                </a:solidFill>
                <a:latin typeface="Georgia" pitchFamily="34" charset="0"/>
                <a:ea typeface="Georgia" pitchFamily="34" charset="-122"/>
                <a:cs typeface="Georgia" pitchFamily="34" charset="-120"/>
              </a:rPr>
              <a:t>Gap de Revenue</a:t>
            </a:r>
            <a:endParaRPr lang="en-US" sz="1000" dirty="0"/>
          </a:p>
        </p:txBody>
      </p:sp>
      <p:sp>
        <p:nvSpPr>
          <p:cNvPr id="31" name="Text 29"/>
          <p:cNvSpPr/>
          <p:nvPr/>
        </p:nvSpPr>
        <p:spPr>
          <a:xfrm>
            <a:off x="6217920" y="4160520"/>
            <a:ext cx="2377440" cy="365760"/>
          </a:xfrm>
          <a:prstGeom prst="rect">
            <a:avLst/>
          </a:prstGeom>
          <a:noFill/>
          <a:ln/>
        </p:spPr>
        <p:txBody>
          <a:bodyPr wrap="square" lIns="0" tIns="0" rIns="0" bIns="0" rtlCol="0" anchor="ctr"/>
          <a:lstStyle/>
          <a:p>
            <a:pPr marL="0" indent="0">
              <a:buNone/>
            </a:pPr>
            <a:r>
              <a:rPr lang="en-US" sz="2000" b="1" dirty="0">
                <a:solidFill>
                  <a:srgbClr val="C0392B"/>
                </a:solidFill>
                <a:latin typeface="Georgia" pitchFamily="34" charset="0"/>
                <a:ea typeface="Georgia" pitchFamily="34" charset="-122"/>
                <a:cs typeface="Georgia" pitchFamily="34" charset="-120"/>
              </a:rPr>
              <a:t>S/.1.70M</a:t>
            </a:r>
            <a:endParaRPr lang="en-US" sz="2000" dirty="0"/>
          </a:p>
        </p:txBody>
      </p:sp>
      <p:sp>
        <p:nvSpPr>
          <p:cNvPr id="32" name="Text 30"/>
          <p:cNvSpPr/>
          <p:nvPr/>
        </p:nvSpPr>
        <p:spPr>
          <a:xfrm>
            <a:off x="6217920" y="4572000"/>
            <a:ext cx="2377440" cy="7315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Diferencia: lo que ENGIE podría pagar si contratara </a:t>
            </a:r>
            <a:r>
              <a:rPr lang="en-US" sz="800" dirty="0" err="1">
                <a:solidFill>
                  <a:srgbClr val="666666"/>
                </a:solidFill>
                <a:latin typeface="Calibri" pitchFamily="34" charset="0"/>
                <a:ea typeface="Calibri" pitchFamily="34" charset="-122"/>
                <a:cs typeface="Calibri" pitchFamily="34" charset="-120"/>
              </a:rPr>
              <a:t>más</a:t>
            </a:r>
            <a:r>
              <a:rPr lang="en-US" sz="800" dirty="0">
                <a:solidFill>
                  <a:srgbClr val="666666"/>
                </a:solidFill>
                <a:latin typeface="Calibri" pitchFamily="34" charset="0"/>
                <a:ea typeface="Calibri" pitchFamily="34" charset="-122"/>
                <a:cs typeface="Calibri" pitchFamily="34" charset="-120"/>
              </a:rPr>
              <a:t> </a:t>
            </a:r>
            <a:r>
              <a:rPr lang="en-US" sz="800" dirty="0" err="1">
                <a:solidFill>
                  <a:srgbClr val="666666"/>
                </a:solidFill>
                <a:latin typeface="Calibri" pitchFamily="34" charset="0"/>
                <a:ea typeface="Calibri" pitchFamily="34" charset="-122"/>
                <a:cs typeface="Calibri" pitchFamily="34" charset="-120"/>
              </a:rPr>
              <a:t>servicios</a:t>
            </a:r>
            <a:r>
              <a:rPr lang="en-US" sz="800" dirty="0">
                <a:solidFill>
                  <a:srgbClr val="666666"/>
                </a:solidFill>
                <a:latin typeface="Calibri" pitchFamily="34" charset="0"/>
                <a:ea typeface="Calibri" pitchFamily="34" charset="-122"/>
                <a:cs typeface="Calibri" pitchFamily="34" charset="-120"/>
              </a:rPr>
              <a:t> (Factor de </a:t>
            </a:r>
            <a:r>
              <a:rPr lang="en-US" sz="800" dirty="0" err="1">
                <a:solidFill>
                  <a:srgbClr val="666666"/>
                </a:solidFill>
                <a:latin typeface="Calibri" pitchFamily="34" charset="0"/>
                <a:ea typeface="Calibri" pitchFamily="34" charset="-122"/>
                <a:cs typeface="Calibri" pitchFamily="34" charset="-120"/>
              </a:rPr>
              <a:t>Captura</a:t>
            </a:r>
            <a:r>
              <a:rPr lang="en-US" sz="800" dirty="0">
                <a:solidFill>
                  <a:srgbClr val="666666"/>
                </a:solidFill>
                <a:latin typeface="Calibri" pitchFamily="34" charset="0"/>
                <a:ea typeface="Calibri" pitchFamily="34" charset="-122"/>
                <a:cs typeface="Calibri" pitchFamily="34" charset="-120"/>
              </a:rPr>
              <a:t>: Media del Benchmark P75)</a:t>
            </a:r>
            <a:endParaRPr lang="en-US" sz="800" dirty="0"/>
          </a:p>
        </p:txBody>
      </p:sp>
      <p:sp>
        <p:nvSpPr>
          <p:cNvPr id="33" name="Shape 31"/>
          <p:cNvSpPr/>
          <p:nvPr/>
        </p:nvSpPr>
        <p:spPr>
          <a:xfrm>
            <a:off x="8961120" y="3749040"/>
            <a:ext cx="2560320" cy="1645920"/>
          </a:xfrm>
          <a:prstGeom prst="rect">
            <a:avLst/>
          </a:prstGeom>
          <a:solidFill>
            <a:srgbClr val="F2F2F2"/>
          </a:solidFill>
          <a:ln/>
        </p:spPr>
        <p:txBody>
          <a:bodyPr/>
          <a:lstStyle/>
          <a:p>
            <a:endParaRPr lang="es-PE"/>
          </a:p>
        </p:txBody>
      </p:sp>
      <p:sp>
        <p:nvSpPr>
          <p:cNvPr id="34" name="Shape 32"/>
          <p:cNvSpPr/>
          <p:nvPr/>
        </p:nvSpPr>
        <p:spPr>
          <a:xfrm>
            <a:off x="8961120" y="3749040"/>
            <a:ext cx="2560320" cy="54864"/>
          </a:xfrm>
          <a:prstGeom prst="rect">
            <a:avLst/>
          </a:prstGeom>
          <a:solidFill>
            <a:srgbClr val="5B8BA0"/>
          </a:solidFill>
          <a:ln/>
        </p:spPr>
        <p:txBody>
          <a:bodyPr/>
          <a:lstStyle/>
          <a:p>
            <a:endParaRPr lang="es-PE"/>
          </a:p>
        </p:txBody>
      </p:sp>
      <p:sp>
        <p:nvSpPr>
          <p:cNvPr id="35" name="Text 33"/>
          <p:cNvSpPr/>
          <p:nvPr/>
        </p:nvSpPr>
        <p:spPr>
          <a:xfrm>
            <a:off x="9052560" y="3840480"/>
            <a:ext cx="365760" cy="274320"/>
          </a:xfrm>
          <a:prstGeom prst="rect">
            <a:avLst/>
          </a:prstGeom>
          <a:noFill/>
          <a:ln/>
        </p:spPr>
        <p:txBody>
          <a:bodyPr wrap="square" lIns="0" tIns="0" rIns="0" bIns="0" rtlCol="0" anchor="ctr"/>
          <a:lstStyle/>
          <a:p>
            <a:pPr marL="0" indent="0">
              <a:buNone/>
            </a:pPr>
            <a:r>
              <a:rPr lang="en-US" sz="1400" b="1" dirty="0">
                <a:solidFill>
                  <a:srgbClr val="5B8BA0"/>
                </a:solidFill>
                <a:latin typeface="Georgia" pitchFamily="34" charset="0"/>
                <a:ea typeface="Georgia" pitchFamily="34" charset="-122"/>
                <a:cs typeface="Georgia" pitchFamily="34" charset="-120"/>
              </a:rPr>
              <a:t>04</a:t>
            </a:r>
            <a:endParaRPr lang="en-US" sz="1400" dirty="0"/>
          </a:p>
        </p:txBody>
      </p:sp>
      <p:sp>
        <p:nvSpPr>
          <p:cNvPr id="36" name="Text 34"/>
          <p:cNvSpPr/>
          <p:nvPr/>
        </p:nvSpPr>
        <p:spPr>
          <a:xfrm>
            <a:off x="9418320" y="3840480"/>
            <a:ext cx="2011680" cy="274320"/>
          </a:xfrm>
          <a:prstGeom prst="rect">
            <a:avLst/>
          </a:prstGeom>
          <a:noFill/>
          <a:ln/>
        </p:spPr>
        <p:txBody>
          <a:bodyPr wrap="square" lIns="0" tIns="0" rIns="0" bIns="0" rtlCol="0" anchor="ctr"/>
          <a:lstStyle/>
          <a:p>
            <a:pPr marL="0" indent="0">
              <a:buNone/>
            </a:pPr>
            <a:r>
              <a:rPr lang="en-US" sz="1000" b="1" dirty="0">
                <a:solidFill>
                  <a:srgbClr val="2D2D2D"/>
                </a:solidFill>
                <a:latin typeface="Georgia" pitchFamily="34" charset="0"/>
                <a:ea typeface="Georgia" pitchFamily="34" charset="-122"/>
                <a:cs typeface="Georgia" pitchFamily="34" charset="-120"/>
              </a:rPr>
              <a:t>Missing: Assurance</a:t>
            </a:r>
            <a:endParaRPr lang="en-US" sz="1000" dirty="0"/>
          </a:p>
        </p:txBody>
      </p:sp>
      <p:sp>
        <p:nvSpPr>
          <p:cNvPr id="37" name="Text 35"/>
          <p:cNvSpPr/>
          <p:nvPr/>
        </p:nvSpPr>
        <p:spPr>
          <a:xfrm>
            <a:off x="9052560" y="4160520"/>
            <a:ext cx="2377440" cy="365760"/>
          </a:xfrm>
          <a:prstGeom prst="rect">
            <a:avLst/>
          </a:prstGeom>
          <a:noFill/>
          <a:ln/>
        </p:spPr>
        <p:txBody>
          <a:bodyPr wrap="square" lIns="0" tIns="0" rIns="0" bIns="0" rtlCol="0" anchor="ctr"/>
          <a:lstStyle/>
          <a:p>
            <a:pPr marL="0" indent="0">
              <a:buNone/>
            </a:pPr>
            <a:r>
              <a:rPr lang="en-US" sz="1600" b="1" dirty="0">
                <a:solidFill>
                  <a:srgbClr val="5B8BA0"/>
                </a:solidFill>
                <a:latin typeface="Georgia" pitchFamily="34" charset="0"/>
              </a:rPr>
              <a:t>CONTRATADO ✅</a:t>
            </a:r>
            <a:endParaRPr lang="en-US" sz="1600" dirty="0"/>
          </a:p>
        </p:txBody>
      </p:sp>
      <p:sp>
        <p:nvSpPr>
          <p:cNvPr id="38" name="Text 36"/>
          <p:cNvSpPr/>
          <p:nvPr/>
        </p:nvSpPr>
        <p:spPr>
          <a:xfrm>
            <a:off x="9052560" y="4572000"/>
            <a:ext cx="2377440" cy="7315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ENGIE es empresa regulada del sector energético → auditoría obligatoria. (Core-Audit </a:t>
            </a:r>
            <a:r>
              <a:rPr lang="en-US" sz="800" dirty="0" err="1">
                <a:solidFill>
                  <a:srgbClr val="666666"/>
                </a:solidFill>
                <a:latin typeface="Calibri" pitchFamily="34" charset="0"/>
                <a:ea typeface="Calibri" pitchFamily="34" charset="-122"/>
                <a:cs typeface="Calibri" pitchFamily="34" charset="-120"/>
              </a:rPr>
              <a:t>Empleado</a:t>
            </a:r>
            <a:r>
              <a:rPr lang="en-US" sz="800" dirty="0">
                <a:solidFill>
                  <a:srgbClr val="666666"/>
                </a:solidFill>
                <a:latin typeface="Calibri" pitchFamily="34" charset="0"/>
                <a:ea typeface="Calibri" pitchFamily="34" charset="-122"/>
                <a:cs typeface="Calibri" pitchFamily="34" charset="-120"/>
              </a:rPr>
              <a:t>)</a:t>
            </a:r>
            <a:endParaRPr lang="en-US" sz="800" dirty="0"/>
          </a:p>
        </p:txBody>
      </p:sp>
      <p:sp>
        <p:nvSpPr>
          <p:cNvPr id="39" name="Shape 37"/>
          <p:cNvSpPr/>
          <p:nvPr/>
        </p:nvSpPr>
        <p:spPr>
          <a:xfrm>
            <a:off x="457200" y="5577840"/>
            <a:ext cx="11274552" cy="640080"/>
          </a:xfrm>
          <a:prstGeom prst="rect">
            <a:avLst/>
          </a:prstGeom>
          <a:solidFill>
            <a:srgbClr val="FFF3ED"/>
          </a:solidFill>
          <a:ln/>
        </p:spPr>
        <p:txBody>
          <a:bodyPr/>
          <a:lstStyle/>
          <a:p>
            <a:endParaRPr lang="es-PE"/>
          </a:p>
        </p:txBody>
      </p:sp>
      <p:sp>
        <p:nvSpPr>
          <p:cNvPr id="40" name="Shape 38"/>
          <p:cNvSpPr/>
          <p:nvPr/>
        </p:nvSpPr>
        <p:spPr>
          <a:xfrm>
            <a:off x="457200" y="5577840"/>
            <a:ext cx="54864" cy="640080"/>
          </a:xfrm>
          <a:prstGeom prst="rect">
            <a:avLst/>
          </a:prstGeom>
          <a:solidFill>
            <a:srgbClr val="E04F16"/>
          </a:solidFill>
          <a:ln/>
        </p:spPr>
        <p:txBody>
          <a:bodyPr/>
          <a:lstStyle/>
          <a:p>
            <a:endParaRPr lang="es-PE"/>
          </a:p>
        </p:txBody>
      </p:sp>
      <p:sp>
        <p:nvSpPr>
          <p:cNvPr id="41" name="Text 39"/>
          <p:cNvSpPr/>
          <p:nvPr/>
        </p:nvSpPr>
        <p:spPr>
          <a:xfrm>
            <a:off x="685800" y="5623560"/>
            <a:ext cx="10789920" cy="548640"/>
          </a:xfrm>
          <a:prstGeom prst="rect">
            <a:avLst/>
          </a:prstGeom>
          <a:noFill/>
          <a:ln/>
        </p:spPr>
        <p:txBody>
          <a:bodyPr wrap="square" lIns="0" tIns="0" rIns="0" bIns="0" rtlCol="0" anchor="ctr"/>
          <a:lstStyle/>
          <a:p>
            <a:pPr marL="0" indent="0">
              <a:buNone/>
            </a:pPr>
            <a:r>
              <a:rPr lang="en-US" sz="900" b="1" dirty="0">
                <a:solidFill>
                  <a:srgbClr val="E04F16"/>
                </a:solidFill>
                <a:latin typeface="Calibri" pitchFamily="34" charset="0"/>
                <a:ea typeface="Calibri" pitchFamily="34" charset="-122"/>
                <a:cs typeface="Calibri" pitchFamily="34" charset="-120"/>
              </a:rPr>
              <a:t>NEXT BEST ACTION: </a:t>
            </a:r>
            <a:r>
              <a:rPr lang="en-US" sz="900" dirty="0">
                <a:solidFill>
                  <a:srgbClr val="333333"/>
                </a:solidFill>
                <a:latin typeface="Calibri" pitchFamily="34" charset="0"/>
                <a:ea typeface="Calibri" pitchFamily="34" charset="-122"/>
                <a:cs typeface="Calibri" pitchFamily="34" charset="-120"/>
              </a:rPr>
              <a:t>Proponer auditoría externa (Assurance) a ENGIE. Como empresa regulada del sector energético, requiere auditor externo. Si PwC ya le da Advisory, Tax, Deals y Legal — la confianza ya está construida. El Partner de Assurance debe agendar reunión con el CFO y el Comité de Auditoría.</a:t>
            </a:r>
            <a:endParaRPr lang="en-US" sz="900" dirty="0"/>
          </a:p>
        </p:txBody>
      </p:sp>
      <p:sp>
        <p:nvSpPr>
          <p:cNvPr id="42" name="Text 40"/>
          <p:cNvSpPr/>
          <p:nvPr/>
        </p:nvSpPr>
        <p:spPr>
          <a:xfrm>
            <a:off x="457200" y="6446520"/>
            <a:ext cx="4572000" cy="274320"/>
          </a:xfrm>
          <a:prstGeom prst="rect">
            <a:avLst/>
          </a:prstGeom>
          <a:noFill/>
          <a:ln/>
        </p:spPr>
        <p:txBody>
          <a:bodyPr wrap="square"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a:t>
            </a:r>
            <a:endParaRPr lang="en-US" sz="800" dirty="0"/>
          </a:p>
        </p:txBody>
      </p:sp>
      <p:sp>
        <p:nvSpPr>
          <p:cNvPr id="43" name="Text 41"/>
          <p:cNvSpPr/>
          <p:nvPr/>
        </p:nvSpPr>
        <p:spPr>
          <a:xfrm>
            <a:off x="10972800" y="6446520"/>
            <a:ext cx="914400" cy="274320"/>
          </a:xfrm>
          <a:prstGeom prst="rect">
            <a:avLst/>
          </a:prstGeom>
          <a:noFill/>
          <a:ln/>
        </p:spPr>
        <p:txBody>
          <a:bodyPr wrap="square"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30/36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E04F16"/>
          </a:solidFill>
          <a:ln/>
        </p:spPr>
        <p:txBody>
          <a:bodyPr/>
          <a:lstStyle/>
          <a:p>
            <a:endParaRPr lang="es-PE"/>
          </a:p>
        </p:txBody>
      </p:sp>
      <p:sp>
        <p:nvSpPr>
          <p:cNvPr id="3" name="Text 1"/>
          <p:cNvSpPr/>
          <p:nvPr/>
        </p:nvSpPr>
        <p:spPr>
          <a:xfrm>
            <a:off x="457200" y="274320"/>
            <a:ext cx="1371600" cy="365760"/>
          </a:xfrm>
          <a:prstGeom prst="rect">
            <a:avLst/>
          </a:prstGeom>
          <a:noFill/>
          <a:ln/>
        </p:spPr>
        <p:txBody>
          <a:bodyPr wrap="square" lIns="0" tIns="0" rIns="0" bIns="0" rtlCol="0" anchor="ctr"/>
          <a:lstStyle/>
          <a:p>
            <a:pPr marL="0" indent="0">
              <a:buNone/>
            </a:pPr>
            <a:r>
              <a:rPr lang="en-US" sz="1400" b="1" dirty="0">
                <a:solidFill>
                  <a:srgbClr val="E04F16"/>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77240"/>
            <a:ext cx="10972800" cy="594360"/>
          </a:xfrm>
          <a:prstGeom prst="rect">
            <a:avLst/>
          </a:prstGeom>
          <a:noFill/>
          <a:ln/>
        </p:spPr>
        <p:txBody>
          <a:bodyPr wrap="square" lIns="0" tIns="0" rIns="0" bIns="0" rtlCol="0" anchor="ctr"/>
          <a:lstStyle/>
          <a:p>
            <a:pPr marL="0" indent="0">
              <a:buNone/>
            </a:pPr>
            <a:r>
              <a:rPr lang="en-US" sz="2800" b="1" dirty="0">
                <a:solidFill>
                  <a:srgbClr val="2D2D2D"/>
                </a:solidFill>
                <a:latin typeface="Georgia" pitchFamily="34" charset="0"/>
                <a:ea typeface="Georgia" pitchFamily="34" charset="-122"/>
                <a:cs typeface="Georgia" pitchFamily="34" charset="-120"/>
              </a:rPr>
              <a:t>Caso Práctico — Share of Wallet: Scotiabank</a:t>
            </a:r>
            <a:endParaRPr lang="en-US" sz="2800" dirty="0"/>
          </a:p>
        </p:txBody>
      </p:sp>
      <p:sp>
        <p:nvSpPr>
          <p:cNvPr id="5" name="Text 3"/>
          <p:cNvSpPr/>
          <p:nvPr/>
        </p:nvSpPr>
        <p:spPr>
          <a:xfrm>
            <a:off x="457200" y="1417320"/>
            <a:ext cx="10972800" cy="274320"/>
          </a:xfrm>
          <a:prstGeom prst="rect">
            <a:avLst/>
          </a:prstGeom>
          <a:noFill/>
          <a:ln/>
        </p:spPr>
        <p:txBody>
          <a:bodyPr wrap="square" lIns="0" tIns="0" rIns="0" bIns="0"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Un cliente que factura S/.2.6M pero solo contrata 4 de 20 Sub-LoS. La oportunidad está en el gap.</a:t>
            </a:r>
            <a:endParaRPr lang="en-US" sz="1000" dirty="0"/>
          </a:p>
        </p:txBody>
      </p:sp>
      <p:sp>
        <p:nvSpPr>
          <p:cNvPr id="6" name="Shape 4"/>
          <p:cNvSpPr/>
          <p:nvPr/>
        </p:nvSpPr>
        <p:spPr>
          <a:xfrm>
            <a:off x="457200" y="1828800"/>
            <a:ext cx="11274552" cy="1280160"/>
          </a:xfrm>
          <a:prstGeom prst="rect">
            <a:avLst/>
          </a:prstGeom>
          <a:solidFill>
            <a:srgbClr val="EBF5FB"/>
          </a:solidFill>
          <a:ln/>
        </p:spPr>
        <p:txBody>
          <a:bodyPr/>
          <a:lstStyle/>
          <a:p>
            <a:endParaRPr lang="es-PE"/>
          </a:p>
        </p:txBody>
      </p:sp>
      <p:sp>
        <p:nvSpPr>
          <p:cNvPr id="7" name="Shape 5"/>
          <p:cNvSpPr/>
          <p:nvPr/>
        </p:nvSpPr>
        <p:spPr>
          <a:xfrm>
            <a:off x="457200" y="1828800"/>
            <a:ext cx="54864" cy="1280160"/>
          </a:xfrm>
          <a:prstGeom prst="rect">
            <a:avLst/>
          </a:prstGeom>
          <a:solidFill>
            <a:srgbClr val="2C5F8A"/>
          </a:solidFill>
          <a:ln/>
        </p:spPr>
        <p:txBody>
          <a:bodyPr/>
          <a:lstStyle/>
          <a:p>
            <a:endParaRPr lang="es-PE"/>
          </a:p>
        </p:txBody>
      </p:sp>
      <p:sp>
        <p:nvSpPr>
          <p:cNvPr id="8" name="Text 6"/>
          <p:cNvSpPr/>
          <p:nvPr/>
        </p:nvSpPr>
        <p:spPr>
          <a:xfrm>
            <a:off x="685800" y="1874520"/>
            <a:ext cx="4572000" cy="365760"/>
          </a:xfrm>
          <a:prstGeom prst="rect">
            <a:avLst/>
          </a:prstGeom>
          <a:noFill/>
          <a:ln/>
        </p:spPr>
        <p:txBody>
          <a:bodyPr wrap="square" lIns="0" tIns="0" rIns="0" bIns="0" rtlCol="0" anchor="ctr"/>
          <a:lstStyle/>
          <a:p>
            <a:pPr marL="0" indent="0">
              <a:buNone/>
            </a:pPr>
            <a:r>
              <a:rPr lang="en-US" sz="1600" b="1" dirty="0">
                <a:solidFill>
                  <a:srgbClr val="2D2D2D"/>
                </a:solidFill>
                <a:latin typeface="Georgia" pitchFamily="34" charset="0"/>
                <a:ea typeface="Georgia" pitchFamily="34" charset="-122"/>
                <a:cs typeface="Georgia" pitchFamily="34" charset="-120"/>
              </a:rPr>
              <a:t>SCOTIABANK PERU S.A.A.</a:t>
            </a:r>
            <a:endParaRPr lang="en-US" sz="1600" dirty="0"/>
          </a:p>
        </p:txBody>
      </p:sp>
      <p:sp>
        <p:nvSpPr>
          <p:cNvPr id="9" name="Text 7"/>
          <p:cNvSpPr/>
          <p:nvPr/>
        </p:nvSpPr>
        <p:spPr>
          <a:xfrm>
            <a:off x="685800" y="2240280"/>
            <a:ext cx="10789920" cy="22860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Cluster: PROTECT &amp; GROW | Score: 82 | Revenue: S/.2,6M | Churn: ALERTA MEDIA</a:t>
            </a:r>
            <a:endParaRPr lang="en-US" sz="1000" dirty="0"/>
          </a:p>
        </p:txBody>
      </p:sp>
      <p:sp>
        <p:nvSpPr>
          <p:cNvPr id="10" name="Text 8"/>
          <p:cNvSpPr/>
          <p:nvPr/>
        </p:nvSpPr>
        <p:spPr>
          <a:xfrm>
            <a:off x="685800" y="2514600"/>
            <a:ext cx="10789920" cy="502920"/>
          </a:xfrm>
          <a:prstGeom prst="rect">
            <a:avLst/>
          </a:prstGeom>
          <a:noFill/>
          <a:ln/>
        </p:spPr>
        <p:txBody>
          <a:bodyPr wrap="square" lIns="0" tIns="0" rIns="0" bIns="0" rtlCol="0" anchor="ctr"/>
          <a:lstStyle/>
          <a:p>
            <a:pPr marL="0" indent="0">
              <a:buNone/>
            </a:pPr>
            <a:r>
              <a:rPr lang="en-US" sz="900" b="1" dirty="0" err="1">
                <a:solidFill>
                  <a:srgbClr val="27AE60"/>
                </a:solidFill>
                <a:latin typeface="Calibri" pitchFamily="34" charset="0"/>
                <a:ea typeface="Calibri" pitchFamily="34" charset="-122"/>
                <a:cs typeface="Calibri" pitchFamily="34" charset="-120"/>
              </a:rPr>
              <a:t>SubLoS</a:t>
            </a:r>
            <a:r>
              <a:rPr lang="en-US" sz="900" b="1" dirty="0">
                <a:solidFill>
                  <a:srgbClr val="27AE60"/>
                </a:solidFill>
                <a:latin typeface="Calibri" pitchFamily="34" charset="0"/>
                <a:ea typeface="Calibri" pitchFamily="34" charset="-122"/>
                <a:cs typeface="Calibri" pitchFamily="34" charset="-120"/>
              </a:rPr>
              <a:t> </a:t>
            </a:r>
            <a:r>
              <a:rPr lang="en-US" sz="900" b="1" dirty="0" err="1">
                <a:solidFill>
                  <a:srgbClr val="27AE60"/>
                </a:solidFill>
                <a:latin typeface="Calibri" pitchFamily="34" charset="0"/>
                <a:ea typeface="Calibri" pitchFamily="34" charset="-122"/>
                <a:cs typeface="Calibri" pitchFamily="34" charset="-120"/>
              </a:rPr>
              <a:t>activas</a:t>
            </a:r>
            <a:r>
              <a:rPr lang="en-US" sz="900" b="1" dirty="0">
                <a:solidFill>
                  <a:srgbClr val="27AE60"/>
                </a:solidFill>
                <a:latin typeface="Calibri" pitchFamily="34" charset="0"/>
                <a:ea typeface="Calibri" pitchFamily="34" charset="-122"/>
                <a:cs typeface="Calibri" pitchFamily="34" charset="-120"/>
              </a:rPr>
              <a:t>: </a:t>
            </a:r>
            <a:r>
              <a:rPr lang="en-US" sz="900" dirty="0">
                <a:solidFill>
                  <a:srgbClr val="333333"/>
                </a:solidFill>
                <a:latin typeface="Calibri" pitchFamily="34" charset="0"/>
                <a:ea typeface="Calibri" pitchFamily="34" charset="-122"/>
                <a:cs typeface="Calibri" pitchFamily="34" charset="-120"/>
              </a:rPr>
              <a:t>CMAAS, Internal Advisory, Legal, Tax</a:t>
            </a:r>
            <a:endParaRPr lang="en-US" sz="900" dirty="0"/>
          </a:p>
          <a:p>
            <a:pPr marL="0" indent="0">
              <a:buNone/>
            </a:pPr>
            <a:r>
              <a:rPr lang="en-US" sz="900" b="1" dirty="0" err="1">
                <a:solidFill>
                  <a:srgbClr val="C0392B"/>
                </a:solidFill>
                <a:latin typeface="Calibri" pitchFamily="34" charset="0"/>
                <a:ea typeface="Calibri" pitchFamily="34" charset="-122"/>
                <a:cs typeface="Calibri" pitchFamily="34" charset="-120"/>
              </a:rPr>
              <a:t>SubLoS</a:t>
            </a:r>
            <a:r>
              <a:rPr lang="en-US" sz="900" b="1" dirty="0">
                <a:solidFill>
                  <a:srgbClr val="C0392B"/>
                </a:solidFill>
                <a:latin typeface="Calibri" pitchFamily="34" charset="0"/>
                <a:ea typeface="Calibri" pitchFamily="34" charset="-122"/>
                <a:cs typeface="Calibri" pitchFamily="34" charset="-120"/>
              </a:rPr>
              <a:t> FALTANTES: </a:t>
            </a:r>
            <a:r>
              <a:rPr lang="en-US" sz="900" dirty="0">
                <a:solidFill>
                  <a:srgbClr val="333333"/>
                </a:solidFill>
                <a:latin typeface="Calibri" pitchFamily="34" charset="0"/>
                <a:ea typeface="Calibri" pitchFamily="34" charset="-122"/>
                <a:cs typeface="Calibri" pitchFamily="34" charset="-120"/>
              </a:rPr>
              <a:t>Core Audit, RAS, Advisory Consulting, Deals, Strategy Consulting, Technology Consulting, Other Tax</a:t>
            </a:r>
            <a:endParaRPr lang="en-US" sz="900" dirty="0"/>
          </a:p>
        </p:txBody>
      </p:sp>
      <p:sp>
        <p:nvSpPr>
          <p:cNvPr id="11" name="Text 9"/>
          <p:cNvSpPr/>
          <p:nvPr/>
        </p:nvSpPr>
        <p:spPr>
          <a:xfrm>
            <a:off x="457200" y="3291840"/>
            <a:ext cx="5486400" cy="274320"/>
          </a:xfrm>
          <a:prstGeom prst="rect">
            <a:avLst/>
          </a:prstGeom>
          <a:noFill/>
          <a:ln/>
        </p:spPr>
        <p:txBody>
          <a:bodyPr wrap="square" lIns="0" tIns="0" rIns="0" bIns="0" rtlCol="0" anchor="ctr"/>
          <a:lstStyle/>
          <a:p>
            <a:pPr marL="0" indent="0">
              <a:buNone/>
            </a:pPr>
            <a:r>
              <a:rPr lang="en-US" sz="1100" b="1" dirty="0">
                <a:solidFill>
                  <a:srgbClr val="2D2D2D"/>
                </a:solidFill>
                <a:latin typeface="Georgia" pitchFamily="34" charset="0"/>
                <a:ea typeface="Georgia" pitchFamily="34" charset="-122"/>
                <a:cs typeface="Georgia" pitchFamily="34" charset="-120"/>
              </a:rPr>
              <a:t>Las 11 Sub-LoS de PwC — Scotiabank hoy usa solo 4:</a:t>
            </a:r>
            <a:endParaRPr lang="en-US" sz="1100" dirty="0"/>
          </a:p>
        </p:txBody>
      </p:sp>
      <p:sp>
        <p:nvSpPr>
          <p:cNvPr id="12" name="Shape 10"/>
          <p:cNvSpPr/>
          <p:nvPr/>
        </p:nvSpPr>
        <p:spPr>
          <a:xfrm>
            <a:off x="457200" y="3657600"/>
            <a:ext cx="1737360" cy="457200"/>
          </a:xfrm>
          <a:prstGeom prst="rect">
            <a:avLst/>
          </a:prstGeom>
          <a:solidFill>
            <a:srgbClr val="D5F5E3"/>
          </a:solidFill>
          <a:ln/>
        </p:spPr>
        <p:txBody>
          <a:bodyPr/>
          <a:lstStyle/>
          <a:p>
            <a:endParaRPr lang="es-PE"/>
          </a:p>
        </p:txBody>
      </p:sp>
      <p:sp>
        <p:nvSpPr>
          <p:cNvPr id="13" name="Shape 11"/>
          <p:cNvSpPr/>
          <p:nvPr/>
        </p:nvSpPr>
        <p:spPr>
          <a:xfrm>
            <a:off x="457200" y="3657600"/>
            <a:ext cx="1737360" cy="45720"/>
          </a:xfrm>
          <a:prstGeom prst="rect">
            <a:avLst/>
          </a:prstGeom>
          <a:solidFill>
            <a:srgbClr val="27AE60"/>
          </a:solidFill>
          <a:ln/>
        </p:spPr>
        <p:txBody>
          <a:bodyPr/>
          <a:lstStyle/>
          <a:p>
            <a:endParaRPr lang="es-PE"/>
          </a:p>
        </p:txBody>
      </p:sp>
      <p:sp>
        <p:nvSpPr>
          <p:cNvPr id="14" name="Text 12"/>
          <p:cNvSpPr/>
          <p:nvPr/>
        </p:nvSpPr>
        <p:spPr>
          <a:xfrm>
            <a:off x="457200" y="373075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CMAAS</a:t>
            </a:r>
            <a:endParaRPr lang="en-US" sz="900" dirty="0"/>
          </a:p>
        </p:txBody>
      </p:sp>
      <p:sp>
        <p:nvSpPr>
          <p:cNvPr id="15" name="Text 13"/>
          <p:cNvSpPr/>
          <p:nvPr/>
        </p:nvSpPr>
        <p:spPr>
          <a:xfrm>
            <a:off x="457200" y="3913632"/>
            <a:ext cx="1737360" cy="164592"/>
          </a:xfrm>
          <a:prstGeom prst="rect">
            <a:avLst/>
          </a:prstGeom>
          <a:noFill/>
          <a:ln/>
        </p:spPr>
        <p:txBody>
          <a:bodyPr wrap="square" lIns="0" tIns="0" rIns="0" bIns="0" rtlCol="0" anchor="ctr"/>
          <a:lstStyle/>
          <a:p>
            <a:pPr marL="0" indent="0" algn="ctr">
              <a:buNone/>
            </a:pPr>
            <a:r>
              <a:rPr lang="en-US" sz="700" dirty="0">
                <a:solidFill>
                  <a:srgbClr val="27AE60"/>
                </a:solidFill>
                <a:latin typeface="Calibri" pitchFamily="34" charset="0"/>
                <a:ea typeface="Calibri" pitchFamily="34" charset="-122"/>
                <a:cs typeface="Calibri" pitchFamily="34" charset="-120"/>
              </a:rPr>
              <a:t>ACTIVA</a:t>
            </a:r>
            <a:endParaRPr lang="en-US" sz="700" dirty="0"/>
          </a:p>
        </p:txBody>
      </p:sp>
      <p:sp>
        <p:nvSpPr>
          <p:cNvPr id="16" name="Shape 14"/>
          <p:cNvSpPr/>
          <p:nvPr/>
        </p:nvSpPr>
        <p:spPr>
          <a:xfrm>
            <a:off x="2377440" y="3657600"/>
            <a:ext cx="1737360" cy="457200"/>
          </a:xfrm>
          <a:prstGeom prst="rect">
            <a:avLst/>
          </a:prstGeom>
          <a:solidFill>
            <a:srgbClr val="D5F5E3"/>
          </a:solidFill>
          <a:ln/>
        </p:spPr>
        <p:txBody>
          <a:bodyPr/>
          <a:lstStyle/>
          <a:p>
            <a:endParaRPr lang="es-PE"/>
          </a:p>
        </p:txBody>
      </p:sp>
      <p:sp>
        <p:nvSpPr>
          <p:cNvPr id="17" name="Shape 15"/>
          <p:cNvSpPr/>
          <p:nvPr/>
        </p:nvSpPr>
        <p:spPr>
          <a:xfrm>
            <a:off x="2377440" y="3657600"/>
            <a:ext cx="1737360" cy="45720"/>
          </a:xfrm>
          <a:prstGeom prst="rect">
            <a:avLst/>
          </a:prstGeom>
          <a:solidFill>
            <a:srgbClr val="27AE60"/>
          </a:solidFill>
          <a:ln/>
        </p:spPr>
        <p:txBody>
          <a:bodyPr/>
          <a:lstStyle/>
          <a:p>
            <a:endParaRPr lang="es-PE"/>
          </a:p>
        </p:txBody>
      </p:sp>
      <p:sp>
        <p:nvSpPr>
          <p:cNvPr id="18" name="Text 16"/>
          <p:cNvSpPr/>
          <p:nvPr/>
        </p:nvSpPr>
        <p:spPr>
          <a:xfrm>
            <a:off x="2377440" y="373075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Internal Adv.</a:t>
            </a:r>
            <a:endParaRPr lang="en-US" sz="900" dirty="0"/>
          </a:p>
        </p:txBody>
      </p:sp>
      <p:sp>
        <p:nvSpPr>
          <p:cNvPr id="19" name="Text 17"/>
          <p:cNvSpPr/>
          <p:nvPr/>
        </p:nvSpPr>
        <p:spPr>
          <a:xfrm>
            <a:off x="2377440" y="3913632"/>
            <a:ext cx="1737360" cy="164592"/>
          </a:xfrm>
          <a:prstGeom prst="rect">
            <a:avLst/>
          </a:prstGeom>
          <a:noFill/>
          <a:ln/>
        </p:spPr>
        <p:txBody>
          <a:bodyPr wrap="square" lIns="0" tIns="0" rIns="0" bIns="0" rtlCol="0" anchor="ctr"/>
          <a:lstStyle/>
          <a:p>
            <a:pPr marL="0" indent="0" algn="ctr">
              <a:buNone/>
            </a:pPr>
            <a:r>
              <a:rPr lang="en-US" sz="700" dirty="0">
                <a:solidFill>
                  <a:srgbClr val="27AE60"/>
                </a:solidFill>
                <a:latin typeface="Calibri" pitchFamily="34" charset="0"/>
                <a:ea typeface="Calibri" pitchFamily="34" charset="-122"/>
                <a:cs typeface="Calibri" pitchFamily="34" charset="-120"/>
              </a:rPr>
              <a:t>ACTIVA</a:t>
            </a:r>
            <a:endParaRPr lang="en-US" sz="700" dirty="0"/>
          </a:p>
        </p:txBody>
      </p:sp>
      <p:sp>
        <p:nvSpPr>
          <p:cNvPr id="20" name="Shape 18"/>
          <p:cNvSpPr/>
          <p:nvPr/>
        </p:nvSpPr>
        <p:spPr>
          <a:xfrm>
            <a:off x="4297680" y="3657600"/>
            <a:ext cx="1737360" cy="457200"/>
          </a:xfrm>
          <a:prstGeom prst="rect">
            <a:avLst/>
          </a:prstGeom>
          <a:solidFill>
            <a:srgbClr val="D5F5E3"/>
          </a:solidFill>
          <a:ln/>
        </p:spPr>
        <p:txBody>
          <a:bodyPr/>
          <a:lstStyle/>
          <a:p>
            <a:endParaRPr lang="es-PE"/>
          </a:p>
        </p:txBody>
      </p:sp>
      <p:sp>
        <p:nvSpPr>
          <p:cNvPr id="21" name="Shape 19"/>
          <p:cNvSpPr/>
          <p:nvPr/>
        </p:nvSpPr>
        <p:spPr>
          <a:xfrm>
            <a:off x="4297680" y="3657600"/>
            <a:ext cx="1737360" cy="45720"/>
          </a:xfrm>
          <a:prstGeom prst="rect">
            <a:avLst/>
          </a:prstGeom>
          <a:solidFill>
            <a:srgbClr val="27AE60"/>
          </a:solidFill>
          <a:ln/>
        </p:spPr>
        <p:txBody>
          <a:bodyPr/>
          <a:lstStyle/>
          <a:p>
            <a:endParaRPr lang="es-PE"/>
          </a:p>
        </p:txBody>
      </p:sp>
      <p:sp>
        <p:nvSpPr>
          <p:cNvPr id="22" name="Text 20"/>
          <p:cNvSpPr/>
          <p:nvPr/>
        </p:nvSpPr>
        <p:spPr>
          <a:xfrm>
            <a:off x="4297680" y="373075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Legal</a:t>
            </a:r>
            <a:endParaRPr lang="en-US" sz="900" dirty="0"/>
          </a:p>
        </p:txBody>
      </p:sp>
      <p:sp>
        <p:nvSpPr>
          <p:cNvPr id="23" name="Text 21"/>
          <p:cNvSpPr/>
          <p:nvPr/>
        </p:nvSpPr>
        <p:spPr>
          <a:xfrm>
            <a:off x="4297680" y="3913632"/>
            <a:ext cx="1737360" cy="164592"/>
          </a:xfrm>
          <a:prstGeom prst="rect">
            <a:avLst/>
          </a:prstGeom>
          <a:noFill/>
          <a:ln/>
        </p:spPr>
        <p:txBody>
          <a:bodyPr wrap="square" lIns="0" tIns="0" rIns="0" bIns="0" rtlCol="0" anchor="ctr"/>
          <a:lstStyle/>
          <a:p>
            <a:pPr marL="0" indent="0" algn="ctr">
              <a:buNone/>
            </a:pPr>
            <a:r>
              <a:rPr lang="en-US" sz="700" dirty="0">
                <a:solidFill>
                  <a:srgbClr val="27AE60"/>
                </a:solidFill>
                <a:latin typeface="Calibri" pitchFamily="34" charset="0"/>
                <a:ea typeface="Calibri" pitchFamily="34" charset="-122"/>
                <a:cs typeface="Calibri" pitchFamily="34" charset="-120"/>
              </a:rPr>
              <a:t>ACTIVA</a:t>
            </a:r>
            <a:endParaRPr lang="en-US" sz="700" dirty="0"/>
          </a:p>
        </p:txBody>
      </p:sp>
      <p:sp>
        <p:nvSpPr>
          <p:cNvPr id="24" name="Shape 22"/>
          <p:cNvSpPr/>
          <p:nvPr/>
        </p:nvSpPr>
        <p:spPr>
          <a:xfrm>
            <a:off x="6217920" y="3657600"/>
            <a:ext cx="1737360" cy="457200"/>
          </a:xfrm>
          <a:prstGeom prst="rect">
            <a:avLst/>
          </a:prstGeom>
          <a:solidFill>
            <a:srgbClr val="D5F5E3"/>
          </a:solidFill>
          <a:ln/>
        </p:spPr>
        <p:txBody>
          <a:bodyPr/>
          <a:lstStyle/>
          <a:p>
            <a:endParaRPr lang="es-PE"/>
          </a:p>
        </p:txBody>
      </p:sp>
      <p:sp>
        <p:nvSpPr>
          <p:cNvPr id="25" name="Shape 23"/>
          <p:cNvSpPr/>
          <p:nvPr/>
        </p:nvSpPr>
        <p:spPr>
          <a:xfrm>
            <a:off x="6217920" y="3657600"/>
            <a:ext cx="1737360" cy="45720"/>
          </a:xfrm>
          <a:prstGeom prst="rect">
            <a:avLst/>
          </a:prstGeom>
          <a:solidFill>
            <a:srgbClr val="27AE60"/>
          </a:solidFill>
          <a:ln/>
        </p:spPr>
        <p:txBody>
          <a:bodyPr/>
          <a:lstStyle/>
          <a:p>
            <a:endParaRPr lang="es-PE"/>
          </a:p>
        </p:txBody>
      </p:sp>
      <p:sp>
        <p:nvSpPr>
          <p:cNvPr id="26" name="Text 24"/>
          <p:cNvSpPr/>
          <p:nvPr/>
        </p:nvSpPr>
        <p:spPr>
          <a:xfrm>
            <a:off x="6217920" y="373075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Tax</a:t>
            </a:r>
            <a:endParaRPr lang="en-US" sz="900" dirty="0"/>
          </a:p>
        </p:txBody>
      </p:sp>
      <p:sp>
        <p:nvSpPr>
          <p:cNvPr id="27" name="Text 25"/>
          <p:cNvSpPr/>
          <p:nvPr/>
        </p:nvSpPr>
        <p:spPr>
          <a:xfrm>
            <a:off x="6217920" y="3913632"/>
            <a:ext cx="1737360" cy="164592"/>
          </a:xfrm>
          <a:prstGeom prst="rect">
            <a:avLst/>
          </a:prstGeom>
          <a:noFill/>
          <a:ln/>
        </p:spPr>
        <p:txBody>
          <a:bodyPr wrap="square" lIns="0" tIns="0" rIns="0" bIns="0" rtlCol="0" anchor="ctr"/>
          <a:lstStyle/>
          <a:p>
            <a:pPr marL="0" indent="0" algn="ctr">
              <a:buNone/>
            </a:pPr>
            <a:r>
              <a:rPr lang="en-US" sz="700" dirty="0">
                <a:solidFill>
                  <a:srgbClr val="27AE60"/>
                </a:solidFill>
                <a:latin typeface="Calibri" pitchFamily="34" charset="0"/>
                <a:ea typeface="Calibri" pitchFamily="34" charset="-122"/>
                <a:cs typeface="Calibri" pitchFamily="34" charset="-120"/>
              </a:rPr>
              <a:t>ACTIVA</a:t>
            </a:r>
            <a:endParaRPr lang="en-US" sz="700" dirty="0"/>
          </a:p>
        </p:txBody>
      </p:sp>
      <p:sp>
        <p:nvSpPr>
          <p:cNvPr id="28" name="Shape 26"/>
          <p:cNvSpPr/>
          <p:nvPr/>
        </p:nvSpPr>
        <p:spPr>
          <a:xfrm>
            <a:off x="8138160" y="3657600"/>
            <a:ext cx="1737360" cy="457200"/>
          </a:xfrm>
          <a:prstGeom prst="rect">
            <a:avLst/>
          </a:prstGeom>
          <a:solidFill>
            <a:srgbClr val="FADBD8"/>
          </a:solidFill>
          <a:ln/>
        </p:spPr>
        <p:txBody>
          <a:bodyPr/>
          <a:lstStyle/>
          <a:p>
            <a:endParaRPr lang="es-PE"/>
          </a:p>
        </p:txBody>
      </p:sp>
      <p:sp>
        <p:nvSpPr>
          <p:cNvPr id="29" name="Shape 27"/>
          <p:cNvSpPr/>
          <p:nvPr/>
        </p:nvSpPr>
        <p:spPr>
          <a:xfrm>
            <a:off x="8138160" y="3657600"/>
            <a:ext cx="1737360" cy="45720"/>
          </a:xfrm>
          <a:prstGeom prst="rect">
            <a:avLst/>
          </a:prstGeom>
          <a:solidFill>
            <a:srgbClr val="C0392B"/>
          </a:solidFill>
          <a:ln/>
        </p:spPr>
        <p:txBody>
          <a:bodyPr/>
          <a:lstStyle/>
          <a:p>
            <a:endParaRPr lang="es-PE"/>
          </a:p>
        </p:txBody>
      </p:sp>
      <p:sp>
        <p:nvSpPr>
          <p:cNvPr id="30" name="Text 28"/>
          <p:cNvSpPr/>
          <p:nvPr/>
        </p:nvSpPr>
        <p:spPr>
          <a:xfrm>
            <a:off x="8138160" y="373075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Core Audit</a:t>
            </a:r>
            <a:endParaRPr lang="en-US" sz="900" dirty="0"/>
          </a:p>
        </p:txBody>
      </p:sp>
      <p:sp>
        <p:nvSpPr>
          <p:cNvPr id="31" name="Text 29"/>
          <p:cNvSpPr/>
          <p:nvPr/>
        </p:nvSpPr>
        <p:spPr>
          <a:xfrm>
            <a:off x="8138160" y="3913632"/>
            <a:ext cx="1737360" cy="164592"/>
          </a:xfrm>
          <a:prstGeom prst="rect">
            <a:avLst/>
          </a:prstGeom>
          <a:noFill/>
          <a:ln/>
        </p:spPr>
        <p:txBody>
          <a:bodyPr wrap="square" lIns="0" tIns="0" rIns="0" bIns="0" rtlCol="0" anchor="ctr"/>
          <a:lstStyle/>
          <a:p>
            <a:pPr marL="0" indent="0" algn="ctr">
              <a:buNone/>
            </a:pPr>
            <a:r>
              <a:rPr lang="en-US" sz="700" dirty="0">
                <a:solidFill>
                  <a:srgbClr val="C0392B"/>
                </a:solidFill>
                <a:latin typeface="Calibri" pitchFamily="34" charset="0"/>
                <a:ea typeface="Calibri" pitchFamily="34" charset="-122"/>
                <a:cs typeface="Calibri" pitchFamily="34" charset="-120"/>
              </a:rPr>
              <a:t>FALTANTE</a:t>
            </a:r>
            <a:endParaRPr lang="en-US" sz="700" dirty="0"/>
          </a:p>
        </p:txBody>
      </p:sp>
      <p:sp>
        <p:nvSpPr>
          <p:cNvPr id="32" name="Shape 30"/>
          <p:cNvSpPr/>
          <p:nvPr/>
        </p:nvSpPr>
        <p:spPr>
          <a:xfrm>
            <a:off x="10058400" y="3657600"/>
            <a:ext cx="1737360" cy="457200"/>
          </a:xfrm>
          <a:prstGeom prst="rect">
            <a:avLst/>
          </a:prstGeom>
          <a:solidFill>
            <a:srgbClr val="FADBD8"/>
          </a:solidFill>
          <a:ln/>
        </p:spPr>
        <p:txBody>
          <a:bodyPr/>
          <a:lstStyle/>
          <a:p>
            <a:endParaRPr lang="es-PE"/>
          </a:p>
        </p:txBody>
      </p:sp>
      <p:sp>
        <p:nvSpPr>
          <p:cNvPr id="33" name="Shape 31"/>
          <p:cNvSpPr/>
          <p:nvPr/>
        </p:nvSpPr>
        <p:spPr>
          <a:xfrm>
            <a:off x="10058400" y="3657600"/>
            <a:ext cx="1737360" cy="45720"/>
          </a:xfrm>
          <a:prstGeom prst="rect">
            <a:avLst/>
          </a:prstGeom>
          <a:solidFill>
            <a:srgbClr val="C0392B"/>
          </a:solidFill>
          <a:ln/>
        </p:spPr>
        <p:txBody>
          <a:bodyPr/>
          <a:lstStyle/>
          <a:p>
            <a:endParaRPr lang="es-PE"/>
          </a:p>
        </p:txBody>
      </p:sp>
      <p:sp>
        <p:nvSpPr>
          <p:cNvPr id="34" name="Text 32"/>
          <p:cNvSpPr/>
          <p:nvPr/>
        </p:nvSpPr>
        <p:spPr>
          <a:xfrm>
            <a:off x="10058400" y="373075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RAS</a:t>
            </a:r>
            <a:endParaRPr lang="en-US" sz="900" dirty="0"/>
          </a:p>
        </p:txBody>
      </p:sp>
      <p:sp>
        <p:nvSpPr>
          <p:cNvPr id="35" name="Text 33"/>
          <p:cNvSpPr/>
          <p:nvPr/>
        </p:nvSpPr>
        <p:spPr>
          <a:xfrm>
            <a:off x="10058400" y="3913632"/>
            <a:ext cx="1737360" cy="164592"/>
          </a:xfrm>
          <a:prstGeom prst="rect">
            <a:avLst/>
          </a:prstGeom>
          <a:noFill/>
          <a:ln/>
        </p:spPr>
        <p:txBody>
          <a:bodyPr wrap="square" lIns="0" tIns="0" rIns="0" bIns="0" rtlCol="0" anchor="ctr"/>
          <a:lstStyle/>
          <a:p>
            <a:pPr marL="0" indent="0" algn="ctr">
              <a:buNone/>
            </a:pPr>
            <a:r>
              <a:rPr lang="en-US" sz="700" dirty="0">
                <a:solidFill>
                  <a:srgbClr val="C0392B"/>
                </a:solidFill>
                <a:latin typeface="Calibri" pitchFamily="34" charset="0"/>
                <a:ea typeface="Calibri" pitchFamily="34" charset="-122"/>
                <a:cs typeface="Calibri" pitchFamily="34" charset="-120"/>
              </a:rPr>
              <a:t>FALTANTE</a:t>
            </a:r>
            <a:endParaRPr lang="en-US" sz="700" dirty="0"/>
          </a:p>
        </p:txBody>
      </p:sp>
      <p:sp>
        <p:nvSpPr>
          <p:cNvPr id="36" name="Shape 34"/>
          <p:cNvSpPr/>
          <p:nvPr/>
        </p:nvSpPr>
        <p:spPr>
          <a:xfrm>
            <a:off x="457200" y="4251960"/>
            <a:ext cx="1737360" cy="457200"/>
          </a:xfrm>
          <a:prstGeom prst="rect">
            <a:avLst/>
          </a:prstGeom>
          <a:solidFill>
            <a:srgbClr val="FADBD8"/>
          </a:solidFill>
          <a:ln/>
        </p:spPr>
        <p:txBody>
          <a:bodyPr/>
          <a:lstStyle/>
          <a:p>
            <a:endParaRPr lang="es-PE"/>
          </a:p>
        </p:txBody>
      </p:sp>
      <p:sp>
        <p:nvSpPr>
          <p:cNvPr id="37" name="Shape 35"/>
          <p:cNvSpPr/>
          <p:nvPr/>
        </p:nvSpPr>
        <p:spPr>
          <a:xfrm>
            <a:off x="457200" y="4251960"/>
            <a:ext cx="1737360" cy="45720"/>
          </a:xfrm>
          <a:prstGeom prst="rect">
            <a:avLst/>
          </a:prstGeom>
          <a:solidFill>
            <a:srgbClr val="C0392B"/>
          </a:solidFill>
          <a:ln/>
        </p:spPr>
        <p:txBody>
          <a:bodyPr/>
          <a:lstStyle/>
          <a:p>
            <a:endParaRPr lang="es-PE"/>
          </a:p>
        </p:txBody>
      </p:sp>
      <p:sp>
        <p:nvSpPr>
          <p:cNvPr id="38" name="Text 36"/>
          <p:cNvSpPr/>
          <p:nvPr/>
        </p:nvSpPr>
        <p:spPr>
          <a:xfrm>
            <a:off x="457200" y="432511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Advisory</a:t>
            </a:r>
            <a:endParaRPr lang="en-US" sz="900" dirty="0"/>
          </a:p>
        </p:txBody>
      </p:sp>
      <p:sp>
        <p:nvSpPr>
          <p:cNvPr id="39" name="Text 37"/>
          <p:cNvSpPr/>
          <p:nvPr/>
        </p:nvSpPr>
        <p:spPr>
          <a:xfrm>
            <a:off x="457200" y="4507992"/>
            <a:ext cx="1737360" cy="164592"/>
          </a:xfrm>
          <a:prstGeom prst="rect">
            <a:avLst/>
          </a:prstGeom>
          <a:noFill/>
          <a:ln/>
        </p:spPr>
        <p:txBody>
          <a:bodyPr wrap="square" lIns="0" tIns="0" rIns="0" bIns="0" rtlCol="0" anchor="ctr"/>
          <a:lstStyle/>
          <a:p>
            <a:pPr marL="0" indent="0" algn="ctr">
              <a:buNone/>
            </a:pPr>
            <a:r>
              <a:rPr lang="en-US" sz="700" dirty="0">
                <a:solidFill>
                  <a:srgbClr val="C0392B"/>
                </a:solidFill>
                <a:latin typeface="Calibri" pitchFamily="34" charset="0"/>
                <a:ea typeface="Calibri" pitchFamily="34" charset="-122"/>
                <a:cs typeface="Calibri" pitchFamily="34" charset="-120"/>
              </a:rPr>
              <a:t>FALTANTE</a:t>
            </a:r>
            <a:endParaRPr lang="en-US" sz="700" dirty="0"/>
          </a:p>
        </p:txBody>
      </p:sp>
      <p:sp>
        <p:nvSpPr>
          <p:cNvPr id="40" name="Shape 38"/>
          <p:cNvSpPr/>
          <p:nvPr/>
        </p:nvSpPr>
        <p:spPr>
          <a:xfrm>
            <a:off x="2377440" y="4251960"/>
            <a:ext cx="1737360" cy="457200"/>
          </a:xfrm>
          <a:prstGeom prst="rect">
            <a:avLst/>
          </a:prstGeom>
          <a:solidFill>
            <a:srgbClr val="FADBD8"/>
          </a:solidFill>
          <a:ln/>
        </p:spPr>
        <p:txBody>
          <a:bodyPr/>
          <a:lstStyle/>
          <a:p>
            <a:endParaRPr lang="es-PE"/>
          </a:p>
        </p:txBody>
      </p:sp>
      <p:sp>
        <p:nvSpPr>
          <p:cNvPr id="41" name="Shape 39"/>
          <p:cNvSpPr/>
          <p:nvPr/>
        </p:nvSpPr>
        <p:spPr>
          <a:xfrm>
            <a:off x="2377440" y="4251960"/>
            <a:ext cx="1737360" cy="45720"/>
          </a:xfrm>
          <a:prstGeom prst="rect">
            <a:avLst/>
          </a:prstGeom>
          <a:solidFill>
            <a:srgbClr val="C0392B"/>
          </a:solidFill>
          <a:ln/>
        </p:spPr>
        <p:txBody>
          <a:bodyPr/>
          <a:lstStyle/>
          <a:p>
            <a:endParaRPr lang="es-PE"/>
          </a:p>
        </p:txBody>
      </p:sp>
      <p:sp>
        <p:nvSpPr>
          <p:cNvPr id="42" name="Text 40"/>
          <p:cNvSpPr/>
          <p:nvPr/>
        </p:nvSpPr>
        <p:spPr>
          <a:xfrm>
            <a:off x="2377440" y="432511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Deals</a:t>
            </a:r>
            <a:endParaRPr lang="en-US" sz="900" dirty="0"/>
          </a:p>
        </p:txBody>
      </p:sp>
      <p:sp>
        <p:nvSpPr>
          <p:cNvPr id="43" name="Text 41"/>
          <p:cNvSpPr/>
          <p:nvPr/>
        </p:nvSpPr>
        <p:spPr>
          <a:xfrm>
            <a:off x="2377440" y="4507992"/>
            <a:ext cx="1737360" cy="164592"/>
          </a:xfrm>
          <a:prstGeom prst="rect">
            <a:avLst/>
          </a:prstGeom>
          <a:noFill/>
          <a:ln/>
        </p:spPr>
        <p:txBody>
          <a:bodyPr wrap="square" lIns="0" tIns="0" rIns="0" bIns="0" rtlCol="0" anchor="ctr"/>
          <a:lstStyle/>
          <a:p>
            <a:pPr marL="0" indent="0" algn="ctr">
              <a:buNone/>
            </a:pPr>
            <a:r>
              <a:rPr lang="en-US" sz="700" dirty="0">
                <a:solidFill>
                  <a:srgbClr val="C0392B"/>
                </a:solidFill>
                <a:latin typeface="Calibri" pitchFamily="34" charset="0"/>
                <a:ea typeface="Calibri" pitchFamily="34" charset="-122"/>
                <a:cs typeface="Calibri" pitchFamily="34" charset="-120"/>
              </a:rPr>
              <a:t>FALTANTE</a:t>
            </a:r>
            <a:endParaRPr lang="en-US" sz="700" dirty="0"/>
          </a:p>
        </p:txBody>
      </p:sp>
      <p:sp>
        <p:nvSpPr>
          <p:cNvPr id="44" name="Shape 42"/>
          <p:cNvSpPr/>
          <p:nvPr/>
        </p:nvSpPr>
        <p:spPr>
          <a:xfrm>
            <a:off x="4297680" y="4251960"/>
            <a:ext cx="1737360" cy="457200"/>
          </a:xfrm>
          <a:prstGeom prst="rect">
            <a:avLst/>
          </a:prstGeom>
          <a:solidFill>
            <a:srgbClr val="FADBD8"/>
          </a:solidFill>
          <a:ln/>
        </p:spPr>
        <p:txBody>
          <a:bodyPr/>
          <a:lstStyle/>
          <a:p>
            <a:endParaRPr lang="es-PE"/>
          </a:p>
        </p:txBody>
      </p:sp>
      <p:sp>
        <p:nvSpPr>
          <p:cNvPr id="45" name="Shape 43"/>
          <p:cNvSpPr/>
          <p:nvPr/>
        </p:nvSpPr>
        <p:spPr>
          <a:xfrm>
            <a:off x="4297680" y="4251960"/>
            <a:ext cx="1737360" cy="45720"/>
          </a:xfrm>
          <a:prstGeom prst="rect">
            <a:avLst/>
          </a:prstGeom>
          <a:solidFill>
            <a:srgbClr val="C0392B"/>
          </a:solidFill>
          <a:ln/>
        </p:spPr>
        <p:txBody>
          <a:bodyPr/>
          <a:lstStyle/>
          <a:p>
            <a:endParaRPr lang="es-PE"/>
          </a:p>
        </p:txBody>
      </p:sp>
      <p:sp>
        <p:nvSpPr>
          <p:cNvPr id="46" name="Text 44"/>
          <p:cNvSpPr/>
          <p:nvPr/>
        </p:nvSpPr>
        <p:spPr>
          <a:xfrm>
            <a:off x="4297680" y="432511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Strategy</a:t>
            </a:r>
            <a:endParaRPr lang="en-US" sz="900" dirty="0"/>
          </a:p>
        </p:txBody>
      </p:sp>
      <p:sp>
        <p:nvSpPr>
          <p:cNvPr id="47" name="Text 45"/>
          <p:cNvSpPr/>
          <p:nvPr/>
        </p:nvSpPr>
        <p:spPr>
          <a:xfrm>
            <a:off x="4297680" y="4507992"/>
            <a:ext cx="1737360" cy="164592"/>
          </a:xfrm>
          <a:prstGeom prst="rect">
            <a:avLst/>
          </a:prstGeom>
          <a:noFill/>
          <a:ln/>
        </p:spPr>
        <p:txBody>
          <a:bodyPr wrap="square" lIns="0" tIns="0" rIns="0" bIns="0" rtlCol="0" anchor="ctr"/>
          <a:lstStyle/>
          <a:p>
            <a:pPr marL="0" indent="0" algn="ctr">
              <a:buNone/>
            </a:pPr>
            <a:r>
              <a:rPr lang="en-US" sz="700" dirty="0">
                <a:solidFill>
                  <a:srgbClr val="C0392B"/>
                </a:solidFill>
                <a:latin typeface="Calibri" pitchFamily="34" charset="0"/>
                <a:ea typeface="Calibri" pitchFamily="34" charset="-122"/>
                <a:cs typeface="Calibri" pitchFamily="34" charset="-120"/>
              </a:rPr>
              <a:t>FALTANTE</a:t>
            </a:r>
            <a:endParaRPr lang="en-US" sz="700" dirty="0"/>
          </a:p>
        </p:txBody>
      </p:sp>
      <p:sp>
        <p:nvSpPr>
          <p:cNvPr id="48" name="Shape 46"/>
          <p:cNvSpPr/>
          <p:nvPr/>
        </p:nvSpPr>
        <p:spPr>
          <a:xfrm>
            <a:off x="6217920" y="4251960"/>
            <a:ext cx="1737360" cy="457200"/>
          </a:xfrm>
          <a:prstGeom prst="rect">
            <a:avLst/>
          </a:prstGeom>
          <a:solidFill>
            <a:srgbClr val="FADBD8"/>
          </a:solidFill>
          <a:ln/>
        </p:spPr>
        <p:txBody>
          <a:bodyPr/>
          <a:lstStyle/>
          <a:p>
            <a:endParaRPr lang="es-PE"/>
          </a:p>
        </p:txBody>
      </p:sp>
      <p:sp>
        <p:nvSpPr>
          <p:cNvPr id="49" name="Shape 47"/>
          <p:cNvSpPr/>
          <p:nvPr/>
        </p:nvSpPr>
        <p:spPr>
          <a:xfrm>
            <a:off x="6217920" y="4251960"/>
            <a:ext cx="1737360" cy="45720"/>
          </a:xfrm>
          <a:prstGeom prst="rect">
            <a:avLst/>
          </a:prstGeom>
          <a:solidFill>
            <a:srgbClr val="C0392B"/>
          </a:solidFill>
          <a:ln/>
        </p:spPr>
        <p:txBody>
          <a:bodyPr/>
          <a:lstStyle/>
          <a:p>
            <a:endParaRPr lang="es-PE"/>
          </a:p>
        </p:txBody>
      </p:sp>
      <p:sp>
        <p:nvSpPr>
          <p:cNvPr id="50" name="Text 48"/>
          <p:cNvSpPr/>
          <p:nvPr/>
        </p:nvSpPr>
        <p:spPr>
          <a:xfrm>
            <a:off x="6217920" y="432511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Technology</a:t>
            </a:r>
            <a:endParaRPr lang="en-US" sz="900" dirty="0"/>
          </a:p>
        </p:txBody>
      </p:sp>
      <p:sp>
        <p:nvSpPr>
          <p:cNvPr id="51" name="Text 49"/>
          <p:cNvSpPr/>
          <p:nvPr/>
        </p:nvSpPr>
        <p:spPr>
          <a:xfrm>
            <a:off x="6217920" y="4507992"/>
            <a:ext cx="1737360" cy="164592"/>
          </a:xfrm>
          <a:prstGeom prst="rect">
            <a:avLst/>
          </a:prstGeom>
          <a:noFill/>
          <a:ln/>
        </p:spPr>
        <p:txBody>
          <a:bodyPr wrap="square" lIns="0" tIns="0" rIns="0" bIns="0" rtlCol="0" anchor="ctr"/>
          <a:lstStyle/>
          <a:p>
            <a:pPr marL="0" indent="0" algn="ctr">
              <a:buNone/>
            </a:pPr>
            <a:r>
              <a:rPr lang="en-US" sz="700" dirty="0">
                <a:solidFill>
                  <a:srgbClr val="C0392B"/>
                </a:solidFill>
                <a:latin typeface="Calibri" pitchFamily="34" charset="0"/>
                <a:ea typeface="Calibri" pitchFamily="34" charset="-122"/>
                <a:cs typeface="Calibri" pitchFamily="34" charset="-120"/>
              </a:rPr>
              <a:t>FALTANTE</a:t>
            </a:r>
            <a:endParaRPr lang="en-US" sz="700" dirty="0"/>
          </a:p>
        </p:txBody>
      </p:sp>
      <p:sp>
        <p:nvSpPr>
          <p:cNvPr id="52" name="Shape 50"/>
          <p:cNvSpPr/>
          <p:nvPr/>
        </p:nvSpPr>
        <p:spPr>
          <a:xfrm>
            <a:off x="8138160" y="4251960"/>
            <a:ext cx="1737360" cy="457200"/>
          </a:xfrm>
          <a:prstGeom prst="rect">
            <a:avLst/>
          </a:prstGeom>
          <a:solidFill>
            <a:srgbClr val="FADBD8"/>
          </a:solidFill>
          <a:ln/>
        </p:spPr>
        <p:txBody>
          <a:bodyPr/>
          <a:lstStyle/>
          <a:p>
            <a:endParaRPr lang="es-PE"/>
          </a:p>
        </p:txBody>
      </p:sp>
      <p:sp>
        <p:nvSpPr>
          <p:cNvPr id="53" name="Shape 51"/>
          <p:cNvSpPr/>
          <p:nvPr/>
        </p:nvSpPr>
        <p:spPr>
          <a:xfrm>
            <a:off x="8138160" y="4251960"/>
            <a:ext cx="1737360" cy="45720"/>
          </a:xfrm>
          <a:prstGeom prst="rect">
            <a:avLst/>
          </a:prstGeom>
          <a:solidFill>
            <a:srgbClr val="C0392B"/>
          </a:solidFill>
          <a:ln/>
        </p:spPr>
        <p:txBody>
          <a:bodyPr/>
          <a:lstStyle/>
          <a:p>
            <a:endParaRPr lang="es-PE"/>
          </a:p>
        </p:txBody>
      </p:sp>
      <p:sp>
        <p:nvSpPr>
          <p:cNvPr id="54" name="Text 52"/>
          <p:cNvSpPr/>
          <p:nvPr/>
        </p:nvSpPr>
        <p:spPr>
          <a:xfrm>
            <a:off x="8138160" y="4325112"/>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Other Tax</a:t>
            </a:r>
            <a:endParaRPr lang="en-US" sz="900" dirty="0"/>
          </a:p>
        </p:txBody>
      </p:sp>
      <p:sp>
        <p:nvSpPr>
          <p:cNvPr id="55" name="Text 53"/>
          <p:cNvSpPr/>
          <p:nvPr/>
        </p:nvSpPr>
        <p:spPr>
          <a:xfrm>
            <a:off x="8138160" y="4507992"/>
            <a:ext cx="1737360" cy="164592"/>
          </a:xfrm>
          <a:prstGeom prst="rect">
            <a:avLst/>
          </a:prstGeom>
          <a:noFill/>
          <a:ln/>
        </p:spPr>
        <p:txBody>
          <a:bodyPr wrap="square" lIns="0" tIns="0" rIns="0" bIns="0" rtlCol="0" anchor="ctr"/>
          <a:lstStyle/>
          <a:p>
            <a:pPr marL="0" indent="0" algn="ctr">
              <a:buNone/>
            </a:pPr>
            <a:r>
              <a:rPr lang="en-US" sz="700" dirty="0">
                <a:solidFill>
                  <a:srgbClr val="C0392B"/>
                </a:solidFill>
                <a:latin typeface="Calibri" pitchFamily="34" charset="0"/>
                <a:ea typeface="Calibri" pitchFamily="34" charset="-122"/>
                <a:cs typeface="Calibri" pitchFamily="34" charset="-120"/>
              </a:rPr>
              <a:t>FALTANTE</a:t>
            </a:r>
            <a:endParaRPr lang="en-US" sz="700" dirty="0"/>
          </a:p>
        </p:txBody>
      </p:sp>
      <p:sp>
        <p:nvSpPr>
          <p:cNvPr id="56" name="Shape 54"/>
          <p:cNvSpPr/>
          <p:nvPr/>
        </p:nvSpPr>
        <p:spPr>
          <a:xfrm>
            <a:off x="457200" y="5029200"/>
            <a:ext cx="11274552" cy="457200"/>
          </a:xfrm>
          <a:prstGeom prst="rect">
            <a:avLst/>
          </a:prstGeom>
          <a:solidFill>
            <a:srgbClr val="FFF3ED"/>
          </a:solidFill>
          <a:ln/>
        </p:spPr>
        <p:txBody>
          <a:bodyPr/>
          <a:lstStyle/>
          <a:p>
            <a:endParaRPr lang="es-PE"/>
          </a:p>
        </p:txBody>
      </p:sp>
      <p:sp>
        <p:nvSpPr>
          <p:cNvPr id="57" name="Text 55"/>
          <p:cNvSpPr/>
          <p:nvPr/>
        </p:nvSpPr>
        <p:spPr>
          <a:xfrm>
            <a:off x="640080" y="5047488"/>
            <a:ext cx="10972800" cy="411480"/>
          </a:xfrm>
          <a:prstGeom prst="rect">
            <a:avLst/>
          </a:prstGeom>
          <a:noFill/>
          <a:ln/>
        </p:spPr>
        <p:txBody>
          <a:bodyPr wrap="square" lIns="0" tIns="0" rIns="0" bIns="0" rtlCol="0" anchor="ctr"/>
          <a:lstStyle/>
          <a:p>
            <a:pPr marL="0" indent="0">
              <a:buNone/>
            </a:pPr>
            <a:r>
              <a:rPr lang="en-US" sz="1400" b="1" dirty="0">
                <a:solidFill>
                  <a:srgbClr val="E04F16"/>
                </a:solidFill>
                <a:latin typeface="Calibri" pitchFamily="34" charset="0"/>
                <a:ea typeface="Calibri" pitchFamily="34" charset="-122"/>
                <a:cs typeface="Calibri" pitchFamily="34" charset="-120"/>
              </a:rPr>
              <a:t>Share of Wallet: 20% </a:t>
            </a:r>
            <a:r>
              <a:rPr lang="en-US" sz="1000" dirty="0">
                <a:solidFill>
                  <a:srgbClr val="000000"/>
                </a:solidFill>
                <a:latin typeface="Calibri" pitchFamily="34" charset="0"/>
                <a:ea typeface="Calibri" pitchFamily="34" charset="-122"/>
                <a:cs typeface="Calibri" pitchFamily="34" charset="-120"/>
              </a:rPr>
              <a:t>(4/20 </a:t>
            </a:r>
            <a:r>
              <a:rPr lang="en-US" sz="1000" dirty="0" err="1">
                <a:solidFill>
                  <a:srgbClr val="000000"/>
                </a:solidFill>
                <a:latin typeface="Calibri" pitchFamily="34" charset="0"/>
                <a:ea typeface="Calibri" pitchFamily="34" charset="-122"/>
                <a:cs typeface="Calibri" pitchFamily="34" charset="-120"/>
              </a:rPr>
              <a:t>SubLoS</a:t>
            </a:r>
            <a:r>
              <a:rPr lang="en-US" sz="1000" dirty="0">
                <a:solidFill>
                  <a:srgbClr val="000000"/>
                </a:solidFill>
                <a:latin typeface="Calibri" pitchFamily="34" charset="0"/>
                <a:ea typeface="Calibri" pitchFamily="34" charset="-122"/>
                <a:cs typeface="Calibri" pitchFamily="34" charset="-120"/>
              </a:rPr>
              <a:t>). Upsell Margin: S/.1.19M. </a:t>
            </a:r>
            <a:r>
              <a:rPr lang="en-US" sz="900" dirty="0">
                <a:solidFill>
                  <a:srgbClr val="333333"/>
                </a:solidFill>
                <a:latin typeface="Calibri" pitchFamily="34" charset="0"/>
                <a:ea typeface="Calibri" pitchFamily="34" charset="-122"/>
                <a:cs typeface="Calibri" pitchFamily="34" charset="-120"/>
              </a:rPr>
              <a:t>ACCIÓN: Scotiabank es banco regulado → necesita Core Audit + RAS (Assurance). </a:t>
            </a:r>
            <a:r>
              <a:rPr lang="en-US" sz="900" dirty="0" err="1">
                <a:solidFill>
                  <a:srgbClr val="333333"/>
                </a:solidFill>
                <a:latin typeface="Calibri" pitchFamily="34" charset="0"/>
                <a:ea typeface="Calibri" pitchFamily="34" charset="-122"/>
                <a:cs typeface="Calibri" pitchFamily="34" charset="-120"/>
              </a:rPr>
              <a:t>Verificar</a:t>
            </a:r>
            <a:r>
              <a:rPr lang="en-US" sz="900" dirty="0">
                <a:solidFill>
                  <a:srgbClr val="333333"/>
                </a:solidFill>
                <a:latin typeface="Calibri" pitchFamily="34" charset="0"/>
                <a:ea typeface="Calibri" pitchFamily="34" charset="-122"/>
                <a:cs typeface="Calibri" pitchFamily="34" charset="-120"/>
              </a:rPr>
              <a:t> </a:t>
            </a:r>
            <a:r>
              <a:rPr lang="en-US" sz="900" dirty="0" err="1">
                <a:solidFill>
                  <a:srgbClr val="333333"/>
                </a:solidFill>
                <a:latin typeface="Calibri" pitchFamily="34" charset="0"/>
                <a:ea typeface="Calibri" pitchFamily="34" charset="-122"/>
                <a:cs typeface="Calibri" pitchFamily="34" charset="-120"/>
              </a:rPr>
              <a:t>el</a:t>
            </a:r>
            <a:r>
              <a:rPr lang="en-US" sz="900" dirty="0">
                <a:solidFill>
                  <a:srgbClr val="333333"/>
                </a:solidFill>
                <a:latin typeface="Calibri" pitchFamily="34" charset="0"/>
                <a:ea typeface="Calibri" pitchFamily="34" charset="-122"/>
                <a:cs typeface="Calibri" pitchFamily="34" charset="-120"/>
              </a:rPr>
              <a:t> Audit de Scotiabank e </a:t>
            </a:r>
            <a:r>
              <a:rPr lang="en-US" sz="900" dirty="0" err="1">
                <a:solidFill>
                  <a:srgbClr val="333333"/>
                </a:solidFill>
                <a:latin typeface="Calibri" pitchFamily="34" charset="0"/>
                <a:ea typeface="Calibri" pitchFamily="34" charset="-122"/>
                <a:cs typeface="Calibri" pitchFamily="34" charset="-120"/>
              </a:rPr>
              <a:t>Iniciar</a:t>
            </a:r>
            <a:r>
              <a:rPr lang="en-US" sz="900" dirty="0">
                <a:solidFill>
                  <a:srgbClr val="333333"/>
                </a:solidFill>
                <a:latin typeface="Calibri" pitchFamily="34" charset="0"/>
                <a:ea typeface="Calibri" pitchFamily="34" charset="-122"/>
                <a:cs typeface="Calibri" pitchFamily="34" charset="-120"/>
              </a:rPr>
              <a:t> plan y </a:t>
            </a:r>
            <a:r>
              <a:rPr lang="en-US" sz="900" dirty="0" err="1">
                <a:solidFill>
                  <a:srgbClr val="333333"/>
                </a:solidFill>
                <a:latin typeface="Calibri" pitchFamily="34" charset="0"/>
                <a:ea typeface="Calibri" pitchFamily="34" charset="-122"/>
                <a:cs typeface="Calibri" pitchFamily="34" charset="-120"/>
              </a:rPr>
              <a:t>analizar</a:t>
            </a:r>
            <a:r>
              <a:rPr lang="en-US" sz="900" dirty="0">
                <a:solidFill>
                  <a:srgbClr val="333333"/>
                </a:solidFill>
                <a:latin typeface="Calibri" pitchFamily="34" charset="0"/>
                <a:ea typeface="Calibri" pitchFamily="34" charset="-122"/>
                <a:cs typeface="Calibri" pitchFamily="34" charset="-120"/>
              </a:rPr>
              <a:t> la </a:t>
            </a:r>
            <a:r>
              <a:rPr lang="en-US" sz="900" dirty="0" err="1">
                <a:solidFill>
                  <a:srgbClr val="333333"/>
                </a:solidFill>
                <a:latin typeface="Calibri" pitchFamily="34" charset="0"/>
                <a:ea typeface="Calibri" pitchFamily="34" charset="-122"/>
                <a:cs typeface="Calibri" pitchFamily="34" charset="-120"/>
              </a:rPr>
              <a:t>opción</a:t>
            </a:r>
            <a:r>
              <a:rPr lang="en-US" sz="900" dirty="0">
                <a:solidFill>
                  <a:srgbClr val="333333"/>
                </a:solidFill>
                <a:latin typeface="Calibri" pitchFamily="34" charset="0"/>
                <a:ea typeface="Calibri" pitchFamily="34" charset="-122"/>
                <a:cs typeface="Calibri" pitchFamily="34" charset="-120"/>
              </a:rPr>
              <a:t> de </a:t>
            </a:r>
            <a:r>
              <a:rPr lang="en-US" sz="900" dirty="0" err="1">
                <a:solidFill>
                  <a:srgbClr val="333333"/>
                </a:solidFill>
                <a:latin typeface="Calibri" pitchFamily="34" charset="0"/>
                <a:ea typeface="Calibri" pitchFamily="34" charset="-122"/>
                <a:cs typeface="Calibri" pitchFamily="34" charset="-120"/>
              </a:rPr>
              <a:t>Auditoría</a:t>
            </a:r>
            <a:r>
              <a:rPr lang="en-US" sz="900" dirty="0">
                <a:solidFill>
                  <a:srgbClr val="333333"/>
                </a:solidFill>
                <a:latin typeface="Calibri" pitchFamily="34" charset="0"/>
                <a:ea typeface="Calibri" pitchFamily="34" charset="-122"/>
                <a:cs typeface="Calibri" pitchFamily="34" charset="-120"/>
              </a:rPr>
              <a:t>.</a:t>
            </a:r>
            <a:endParaRPr lang="en-US" sz="1400" dirty="0"/>
          </a:p>
        </p:txBody>
      </p:sp>
      <p:sp>
        <p:nvSpPr>
          <p:cNvPr id="58" name="Shape 56"/>
          <p:cNvSpPr/>
          <p:nvPr/>
        </p:nvSpPr>
        <p:spPr>
          <a:xfrm>
            <a:off x="457200" y="5669280"/>
            <a:ext cx="11274552" cy="548640"/>
          </a:xfrm>
          <a:prstGeom prst="rect">
            <a:avLst/>
          </a:prstGeom>
          <a:solidFill>
            <a:srgbClr val="F2F2F2"/>
          </a:solidFill>
          <a:ln/>
        </p:spPr>
        <p:txBody>
          <a:bodyPr/>
          <a:lstStyle/>
          <a:p>
            <a:endParaRPr lang="es-PE"/>
          </a:p>
        </p:txBody>
      </p:sp>
      <p:sp>
        <p:nvSpPr>
          <p:cNvPr id="59" name="Text 57"/>
          <p:cNvSpPr/>
          <p:nvPr/>
        </p:nvSpPr>
        <p:spPr>
          <a:xfrm>
            <a:off x="640080" y="5715000"/>
            <a:ext cx="10972800" cy="457200"/>
          </a:xfrm>
          <a:prstGeom prst="rect">
            <a:avLst/>
          </a:prstGeom>
          <a:noFill/>
          <a:ln/>
        </p:spPr>
        <p:txBody>
          <a:bodyPr wrap="square" lIns="0" tIns="0" rIns="0" bIns="0" rtlCol="0" anchor="ctr"/>
          <a:lstStyle/>
          <a:p>
            <a:pPr marL="0" indent="0">
              <a:buNone/>
            </a:pPr>
            <a:r>
              <a:rPr lang="en-US" sz="900" b="1" dirty="0">
                <a:solidFill>
                  <a:srgbClr val="E04F16"/>
                </a:solidFill>
                <a:latin typeface="Calibri" pitchFamily="34" charset="0"/>
                <a:ea typeface="Calibri" pitchFamily="34" charset="-122"/>
                <a:cs typeface="Calibri" pitchFamily="34" charset="-120"/>
              </a:rPr>
              <a:t>Lección: </a:t>
            </a:r>
            <a:r>
              <a:rPr lang="en-US" sz="900" dirty="0">
                <a:solidFill>
                  <a:srgbClr val="333333"/>
                </a:solidFill>
                <a:latin typeface="Calibri" pitchFamily="34" charset="0"/>
                <a:ea typeface="Calibri" pitchFamily="34" charset="-122"/>
                <a:cs typeface="Calibri" pitchFamily="34" charset="-120"/>
              </a:rPr>
              <a:t>Scotiabank paga S/.2,6M por solo 4 líneas de servicio. Si </a:t>
            </a:r>
            <a:r>
              <a:rPr lang="en-US" sz="900" dirty="0" err="1">
                <a:solidFill>
                  <a:srgbClr val="333333"/>
                </a:solidFill>
                <a:latin typeface="Calibri" pitchFamily="34" charset="0"/>
                <a:ea typeface="Calibri" pitchFamily="34" charset="-122"/>
                <a:cs typeface="Calibri" pitchFamily="34" charset="-120"/>
              </a:rPr>
              <a:t>contratara</a:t>
            </a:r>
            <a:r>
              <a:rPr lang="en-US" sz="900" dirty="0">
                <a:solidFill>
                  <a:srgbClr val="333333"/>
                </a:solidFill>
                <a:latin typeface="Calibri" pitchFamily="34" charset="0"/>
                <a:ea typeface="Calibri" pitchFamily="34" charset="-122"/>
                <a:cs typeface="Calibri" pitchFamily="34" charset="-120"/>
              </a:rPr>
              <a:t> Core Audit + Ras + Deals, el revenue podría superar S/.4M. El Share of Wallet es la métrica que revela esta brecha invisible en los reportes de pipeline tradicionales.</a:t>
            </a:r>
            <a:endParaRPr lang="en-US" sz="900" dirty="0"/>
          </a:p>
        </p:txBody>
      </p:sp>
      <p:sp>
        <p:nvSpPr>
          <p:cNvPr id="60" name="Text 58"/>
          <p:cNvSpPr/>
          <p:nvPr/>
        </p:nvSpPr>
        <p:spPr>
          <a:xfrm>
            <a:off x="457200" y="6446520"/>
            <a:ext cx="4572000" cy="274320"/>
          </a:xfrm>
          <a:prstGeom prst="rect">
            <a:avLst/>
          </a:prstGeom>
          <a:noFill/>
          <a:ln/>
        </p:spPr>
        <p:txBody>
          <a:bodyPr wrap="square"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a:t>
            </a:r>
            <a:endParaRPr lang="en-US" sz="800" dirty="0"/>
          </a:p>
        </p:txBody>
      </p:sp>
      <p:sp>
        <p:nvSpPr>
          <p:cNvPr id="61" name="Text 59"/>
          <p:cNvSpPr/>
          <p:nvPr/>
        </p:nvSpPr>
        <p:spPr>
          <a:xfrm>
            <a:off x="10972800" y="6446520"/>
            <a:ext cx="914400" cy="274320"/>
          </a:xfrm>
          <a:prstGeom prst="rect">
            <a:avLst/>
          </a:prstGeom>
          <a:noFill/>
          <a:ln/>
        </p:spPr>
        <p:txBody>
          <a:bodyPr wrap="square"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31/36</a:t>
            </a:r>
            <a:endParaRPr lang="en-US" sz="800" dirty="0"/>
          </a:p>
        </p:txBody>
      </p:sp>
      <p:sp>
        <p:nvSpPr>
          <p:cNvPr id="62" name="Shape 50">
            <a:extLst>
              <a:ext uri="{FF2B5EF4-FFF2-40B4-BE49-F238E27FC236}">
                <a16:creationId xmlns:a16="http://schemas.microsoft.com/office/drawing/2014/main" id="{06F735C4-8FEA-E32D-37B0-05B03EE4522F}"/>
              </a:ext>
            </a:extLst>
          </p:cNvPr>
          <p:cNvSpPr/>
          <p:nvPr/>
        </p:nvSpPr>
        <p:spPr>
          <a:xfrm>
            <a:off x="10058400" y="4233672"/>
            <a:ext cx="1737360" cy="457200"/>
          </a:xfrm>
          <a:prstGeom prst="rect">
            <a:avLst/>
          </a:prstGeom>
          <a:solidFill>
            <a:srgbClr val="FADBD8"/>
          </a:solidFill>
          <a:ln/>
        </p:spPr>
        <p:txBody>
          <a:bodyPr/>
          <a:lstStyle/>
          <a:p>
            <a:endParaRPr lang="es-PE"/>
          </a:p>
        </p:txBody>
      </p:sp>
      <p:sp>
        <p:nvSpPr>
          <p:cNvPr id="63" name="Shape 51">
            <a:extLst>
              <a:ext uri="{FF2B5EF4-FFF2-40B4-BE49-F238E27FC236}">
                <a16:creationId xmlns:a16="http://schemas.microsoft.com/office/drawing/2014/main" id="{F6A495F1-C8CB-2344-0906-FA3A38D625E6}"/>
              </a:ext>
            </a:extLst>
          </p:cNvPr>
          <p:cNvSpPr/>
          <p:nvPr/>
        </p:nvSpPr>
        <p:spPr>
          <a:xfrm>
            <a:off x="10058400" y="4233672"/>
            <a:ext cx="1737360" cy="45720"/>
          </a:xfrm>
          <a:prstGeom prst="rect">
            <a:avLst/>
          </a:prstGeom>
          <a:solidFill>
            <a:srgbClr val="C0392B"/>
          </a:solidFill>
          <a:ln/>
        </p:spPr>
        <p:txBody>
          <a:bodyPr/>
          <a:lstStyle/>
          <a:p>
            <a:endParaRPr lang="es-PE"/>
          </a:p>
        </p:txBody>
      </p:sp>
      <p:sp>
        <p:nvSpPr>
          <p:cNvPr id="64" name="Text 32">
            <a:extLst>
              <a:ext uri="{FF2B5EF4-FFF2-40B4-BE49-F238E27FC236}">
                <a16:creationId xmlns:a16="http://schemas.microsoft.com/office/drawing/2014/main" id="{9E5B2A66-DA1A-329D-4611-AE14E8DA4E18}"/>
              </a:ext>
            </a:extLst>
          </p:cNvPr>
          <p:cNvSpPr/>
          <p:nvPr/>
        </p:nvSpPr>
        <p:spPr>
          <a:xfrm>
            <a:off x="10104120" y="4270248"/>
            <a:ext cx="1737360" cy="182880"/>
          </a:xfrm>
          <a:prstGeom prst="rect">
            <a:avLst/>
          </a:prstGeom>
          <a:noFill/>
          <a:ln/>
        </p:spPr>
        <p:txBody>
          <a:bodyPr wrap="square" lIns="0" tIns="0" rIns="0" bIns="0" rtlCol="0" anchor="ctr"/>
          <a:lstStyle/>
          <a:p>
            <a:pPr marL="0" indent="0" algn="ctr">
              <a:buNone/>
            </a:pPr>
            <a:r>
              <a:rPr lang="en-US" sz="900" b="1" dirty="0">
                <a:solidFill>
                  <a:srgbClr val="333333"/>
                </a:solidFill>
                <a:latin typeface="Calibri" pitchFamily="34" charset="0"/>
                <a:ea typeface="Calibri" pitchFamily="34" charset="-122"/>
                <a:cs typeface="Calibri" pitchFamily="34" charset="-120"/>
              </a:rPr>
              <a:t>…</a:t>
            </a:r>
            <a:endParaRPr lang="en-US" sz="900" dirty="0"/>
          </a:p>
        </p:txBody>
      </p:sp>
      <p:sp>
        <p:nvSpPr>
          <p:cNvPr id="65" name="Text 33">
            <a:extLst>
              <a:ext uri="{FF2B5EF4-FFF2-40B4-BE49-F238E27FC236}">
                <a16:creationId xmlns:a16="http://schemas.microsoft.com/office/drawing/2014/main" id="{40111341-35BF-5A47-2F12-BE38E033F577}"/>
              </a:ext>
            </a:extLst>
          </p:cNvPr>
          <p:cNvSpPr/>
          <p:nvPr/>
        </p:nvSpPr>
        <p:spPr>
          <a:xfrm>
            <a:off x="10104120" y="4425755"/>
            <a:ext cx="1737360" cy="164592"/>
          </a:xfrm>
          <a:prstGeom prst="rect">
            <a:avLst/>
          </a:prstGeom>
          <a:noFill/>
          <a:ln/>
        </p:spPr>
        <p:txBody>
          <a:bodyPr wrap="square" lIns="0" tIns="0" rIns="0" bIns="0" rtlCol="0" anchor="ctr"/>
          <a:lstStyle/>
          <a:p>
            <a:pPr marL="0" indent="0" algn="ctr">
              <a:buNone/>
            </a:pPr>
            <a:r>
              <a:rPr lang="en-US" sz="700" dirty="0">
                <a:solidFill>
                  <a:srgbClr val="C0392B"/>
                </a:solidFill>
                <a:latin typeface="Calibri" pitchFamily="34" charset="0"/>
                <a:ea typeface="Calibri" pitchFamily="34" charset="-122"/>
                <a:cs typeface="Calibri" pitchFamily="34" charset="-120"/>
              </a:rPr>
              <a:t>FALTANTE</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Churn Risk × Upsell Potential — Scatter por Empresa</a:t>
            </a:r>
            <a:endParaRPr lang="en-US" sz="2600" dirty="0"/>
          </a:p>
        </p:txBody>
      </p:sp>
      <p:sp>
        <p:nvSpPr>
          <p:cNvPr id="6" name="Text 3"/>
          <p:cNvSpPr/>
          <p:nvPr/>
        </p:nvSpPr>
        <p:spPr>
          <a:xfrm>
            <a:off x="457200" y="6172200"/>
            <a:ext cx="11247120" cy="320040"/>
          </a:xfrm>
          <a:prstGeom prst="rect">
            <a:avLst/>
          </a:prstGeom>
          <a:noFill/>
          <a:ln/>
        </p:spPr>
        <p:txBody>
          <a:bodyPr wrap="square" lIns="0" tIns="0" rIns="0" bIns="0" rtlCol="0" anchor="ctr"/>
          <a:lstStyle/>
          <a:p>
            <a:pPr marL="0" indent="0" algn="ctr">
              <a:buNone/>
            </a:pPr>
            <a:r>
              <a:rPr lang="en-US" sz="1100" i="1" dirty="0">
                <a:solidFill>
                  <a:srgbClr val="666666"/>
                </a:solidFill>
                <a:latin typeface="Calibri" pitchFamily="34" charset="0"/>
                <a:ea typeface="Calibri" pitchFamily="34" charset="-122"/>
                <a:cs typeface="Calibri" pitchFamily="34" charset="-120"/>
              </a:rPr>
              <a:t>Cada punto = 1 empresa · Eje X = Churn Score · Eje Y = Upsell Revenue · Color = Cluster · Tamaño = Revenue reciente</a:t>
            </a:r>
            <a:endParaRPr lang="en-US" sz="1100" dirty="0"/>
          </a:p>
        </p:txBody>
      </p:sp>
      <p:sp>
        <p:nvSpPr>
          <p:cNvPr id="7" name="Text 4"/>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19/32</a:t>
            </a:r>
            <a:endParaRPr lang="en-US" sz="800" dirty="0"/>
          </a:p>
        </p:txBody>
      </p:sp>
      <p:pic>
        <p:nvPicPr>
          <p:cNvPr id="6148" name="Picture 4">
            <a:extLst>
              <a:ext uri="{FF2B5EF4-FFF2-40B4-BE49-F238E27FC236}">
                <a16:creationId xmlns:a16="http://schemas.microsoft.com/office/drawing/2014/main" id="{0F86029B-5E39-CA66-8EB6-2E34F0D86B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626"/>
          <a:stretch>
            <a:fillRect/>
          </a:stretch>
        </p:blipFill>
        <p:spPr bwMode="auto">
          <a:xfrm>
            <a:off x="0" y="1463040"/>
            <a:ext cx="12192000" cy="43609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Resumen Ejecutivo</a:t>
            </a:r>
            <a:endParaRPr lang="en-US" sz="2600" dirty="0"/>
          </a:p>
        </p:txBody>
      </p:sp>
      <p:sp>
        <p:nvSpPr>
          <p:cNvPr id="5" name="Shape 3"/>
          <p:cNvSpPr/>
          <p:nvPr/>
        </p:nvSpPr>
        <p:spPr>
          <a:xfrm>
            <a:off x="457200" y="1600200"/>
            <a:ext cx="3657600" cy="1920240"/>
          </a:xfrm>
          <a:prstGeom prst="rect">
            <a:avLst/>
          </a:prstGeom>
          <a:solidFill>
            <a:srgbClr val="F2F2F2"/>
          </a:solidFill>
          <a:ln/>
          <a:effectLst>
            <a:outerShdw blurRad="50800" dist="25400" dir="8100000" algn="bl" rotWithShape="0">
              <a:srgbClr val="000000">
                <a:alpha val="8000"/>
              </a:srgbClr>
            </a:outerShdw>
          </a:effectLst>
        </p:spPr>
        <p:txBody>
          <a:bodyPr/>
          <a:lstStyle/>
          <a:p>
            <a:endParaRPr lang="es-PE"/>
          </a:p>
        </p:txBody>
      </p:sp>
      <p:sp>
        <p:nvSpPr>
          <p:cNvPr id="6" name="Shape 4"/>
          <p:cNvSpPr/>
          <p:nvPr/>
        </p:nvSpPr>
        <p:spPr>
          <a:xfrm>
            <a:off x="457200" y="1600200"/>
            <a:ext cx="3657600" cy="73152"/>
          </a:xfrm>
          <a:prstGeom prst="rect">
            <a:avLst/>
          </a:prstGeom>
          <a:solidFill>
            <a:srgbClr val="1A5490"/>
          </a:solidFill>
          <a:ln/>
        </p:spPr>
        <p:txBody>
          <a:bodyPr/>
          <a:lstStyle/>
          <a:p>
            <a:endParaRPr lang="es-PE"/>
          </a:p>
        </p:txBody>
      </p:sp>
      <p:sp>
        <p:nvSpPr>
          <p:cNvPr id="7" name="Text 5"/>
          <p:cNvSpPr/>
          <p:nvPr/>
        </p:nvSpPr>
        <p:spPr>
          <a:xfrm>
            <a:off x="457200" y="1783080"/>
            <a:ext cx="3657600" cy="822960"/>
          </a:xfrm>
          <a:prstGeom prst="rect">
            <a:avLst/>
          </a:prstGeom>
          <a:noFill/>
          <a:ln/>
        </p:spPr>
        <p:txBody>
          <a:bodyPr wrap="square" lIns="0" tIns="0" rIns="0" bIns="0" rtlCol="0" anchor="ctr"/>
          <a:lstStyle/>
          <a:p>
            <a:pPr marL="0" indent="0" algn="ctr">
              <a:buNone/>
            </a:pPr>
            <a:r>
              <a:rPr lang="en-US" sz="3000" b="1" dirty="0">
                <a:solidFill>
                  <a:srgbClr val="1A5490"/>
                </a:solidFill>
                <a:latin typeface="Georgia" pitchFamily="34" charset="0"/>
                <a:ea typeface="Georgia" pitchFamily="34" charset="-122"/>
                <a:cs typeface="Georgia" pitchFamily="34" charset="-120"/>
              </a:rPr>
              <a:t>1,000</a:t>
            </a:r>
            <a:endParaRPr lang="en-US" sz="3000" dirty="0"/>
          </a:p>
        </p:txBody>
      </p:sp>
      <p:sp>
        <p:nvSpPr>
          <p:cNvPr id="8" name="Text 6"/>
          <p:cNvSpPr/>
          <p:nvPr/>
        </p:nvSpPr>
        <p:spPr>
          <a:xfrm>
            <a:off x="457200" y="2651760"/>
            <a:ext cx="3657600" cy="457200"/>
          </a:xfrm>
          <a:prstGeom prst="rect">
            <a:avLst/>
          </a:prstGeom>
          <a:noFill/>
          <a:ln/>
        </p:spPr>
        <p:txBody>
          <a:bodyPr wrap="square" lIns="0" tIns="0" rIns="0" bIns="0"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Empresas</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analizadas</a:t>
            </a:r>
            <a:endParaRPr lang="en-US" sz="1100" dirty="0"/>
          </a:p>
        </p:txBody>
      </p:sp>
      <p:sp>
        <p:nvSpPr>
          <p:cNvPr id="9" name="Text 7"/>
          <p:cNvSpPr/>
          <p:nvPr/>
        </p:nvSpPr>
        <p:spPr>
          <a:xfrm>
            <a:off x="457200" y="3108960"/>
            <a:ext cx="3657600" cy="320040"/>
          </a:xfrm>
          <a:prstGeom prst="rect">
            <a:avLst/>
          </a:prstGeom>
          <a:noFill/>
          <a:ln/>
        </p:spPr>
        <p:txBody>
          <a:bodyPr wrap="square" lIns="0" tIns="0" rIns="0" bIns="0" rtlCol="0" anchor="ctr"/>
          <a:lstStyle/>
          <a:p>
            <a:pPr marL="0" indent="0" algn="ctr">
              <a:buNone/>
            </a:pPr>
            <a:r>
              <a:rPr lang="en-US" sz="900" i="1" dirty="0">
                <a:solidFill>
                  <a:srgbClr val="666666"/>
                </a:solidFill>
                <a:latin typeface="Calibri" pitchFamily="34" charset="0"/>
                <a:ea typeface="Calibri" pitchFamily="34" charset="-122"/>
                <a:cs typeface="Calibri" pitchFamily="34" charset="-120"/>
              </a:rPr>
              <a:t>Book B2B completo</a:t>
            </a:r>
            <a:endParaRPr lang="en-US" sz="900" dirty="0"/>
          </a:p>
        </p:txBody>
      </p:sp>
      <p:sp>
        <p:nvSpPr>
          <p:cNvPr id="10" name="Shape 8"/>
          <p:cNvSpPr/>
          <p:nvPr/>
        </p:nvSpPr>
        <p:spPr>
          <a:xfrm>
            <a:off x="4343400" y="1600200"/>
            <a:ext cx="3657600" cy="1920240"/>
          </a:xfrm>
          <a:prstGeom prst="rect">
            <a:avLst/>
          </a:prstGeom>
          <a:solidFill>
            <a:srgbClr val="F2F2F2"/>
          </a:solidFill>
          <a:ln/>
          <a:effectLst>
            <a:outerShdw blurRad="50800" dist="25400" dir="8100000" algn="bl" rotWithShape="0">
              <a:srgbClr val="000000">
                <a:alpha val="8000"/>
              </a:srgbClr>
            </a:outerShdw>
          </a:effectLst>
        </p:spPr>
        <p:txBody>
          <a:bodyPr/>
          <a:lstStyle/>
          <a:p>
            <a:endParaRPr lang="es-PE"/>
          </a:p>
        </p:txBody>
      </p:sp>
      <p:sp>
        <p:nvSpPr>
          <p:cNvPr id="11" name="Shape 9"/>
          <p:cNvSpPr/>
          <p:nvPr/>
        </p:nvSpPr>
        <p:spPr>
          <a:xfrm>
            <a:off x="4343400" y="1600200"/>
            <a:ext cx="3657600" cy="73152"/>
          </a:xfrm>
          <a:prstGeom prst="rect">
            <a:avLst/>
          </a:prstGeom>
          <a:solidFill>
            <a:srgbClr val="D04A02"/>
          </a:solidFill>
          <a:ln/>
        </p:spPr>
        <p:txBody>
          <a:bodyPr/>
          <a:lstStyle/>
          <a:p>
            <a:endParaRPr lang="es-PE"/>
          </a:p>
        </p:txBody>
      </p:sp>
      <p:sp>
        <p:nvSpPr>
          <p:cNvPr id="12" name="Text 10"/>
          <p:cNvSpPr/>
          <p:nvPr/>
        </p:nvSpPr>
        <p:spPr>
          <a:xfrm>
            <a:off x="4343400" y="1783080"/>
            <a:ext cx="3657600" cy="822960"/>
          </a:xfrm>
          <a:prstGeom prst="rect">
            <a:avLst/>
          </a:prstGeom>
          <a:noFill/>
          <a:ln/>
        </p:spPr>
        <p:txBody>
          <a:bodyPr wrap="square" lIns="0" tIns="0" rIns="0" bIns="0" rtlCol="0" anchor="ctr"/>
          <a:lstStyle/>
          <a:p>
            <a:pPr marL="0" indent="0" algn="ctr">
              <a:buNone/>
            </a:pPr>
            <a:r>
              <a:rPr lang="en-US" sz="3000" b="1" dirty="0">
                <a:solidFill>
                  <a:srgbClr val="D04A02"/>
                </a:solidFill>
                <a:latin typeface="Georgia" pitchFamily="34" charset="0"/>
                <a:ea typeface="Georgia" pitchFamily="34" charset="-122"/>
                <a:cs typeface="Georgia" pitchFamily="34" charset="-120"/>
              </a:rPr>
              <a:t>S/. 162.9 M</a:t>
            </a:r>
            <a:endParaRPr lang="en-US" sz="3000" dirty="0"/>
          </a:p>
        </p:txBody>
      </p:sp>
      <p:sp>
        <p:nvSpPr>
          <p:cNvPr id="13" name="Text 11"/>
          <p:cNvSpPr/>
          <p:nvPr/>
        </p:nvSpPr>
        <p:spPr>
          <a:xfrm>
            <a:off x="4343400" y="2651760"/>
            <a:ext cx="3657600" cy="457200"/>
          </a:xfrm>
          <a:prstGeom prst="rect">
            <a:avLst/>
          </a:prstGeom>
          <a:noFill/>
          <a:ln/>
        </p:spPr>
        <p:txBody>
          <a:bodyPr wrap="square" lIns="0" tIns="0" rIns="0" bIns="0"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Revenue reciente</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book</a:t>
            </a:r>
            <a:endParaRPr lang="en-US" sz="1100" dirty="0"/>
          </a:p>
        </p:txBody>
      </p:sp>
      <p:sp>
        <p:nvSpPr>
          <p:cNvPr id="14" name="Text 12"/>
          <p:cNvSpPr/>
          <p:nvPr/>
        </p:nvSpPr>
        <p:spPr>
          <a:xfrm>
            <a:off x="4343400" y="3108960"/>
            <a:ext cx="3657600" cy="320040"/>
          </a:xfrm>
          <a:prstGeom prst="rect">
            <a:avLst/>
          </a:prstGeom>
          <a:noFill/>
          <a:ln/>
        </p:spPr>
        <p:txBody>
          <a:bodyPr wrap="square" lIns="0" tIns="0" rIns="0" bIns="0" rtlCol="0" anchor="ctr"/>
          <a:lstStyle/>
          <a:p>
            <a:pPr marL="0" indent="0" algn="ctr">
              <a:buNone/>
            </a:pPr>
            <a:r>
              <a:rPr lang="en-US" sz="900" i="1" dirty="0">
                <a:solidFill>
                  <a:srgbClr val="666666"/>
                </a:solidFill>
                <a:latin typeface="Calibri" pitchFamily="34" charset="0"/>
                <a:ea typeface="Calibri" pitchFamily="34" charset="-122"/>
                <a:cs typeface="Calibri" pitchFamily="34" charset="-120"/>
              </a:rPr>
              <a:t>FY25 + FY26 anualizado ×1.25</a:t>
            </a:r>
            <a:endParaRPr lang="en-US" sz="900" dirty="0"/>
          </a:p>
        </p:txBody>
      </p:sp>
      <p:sp>
        <p:nvSpPr>
          <p:cNvPr id="15" name="Shape 13"/>
          <p:cNvSpPr/>
          <p:nvPr/>
        </p:nvSpPr>
        <p:spPr>
          <a:xfrm>
            <a:off x="8229600" y="1600200"/>
            <a:ext cx="3657600" cy="1920240"/>
          </a:xfrm>
          <a:prstGeom prst="rect">
            <a:avLst/>
          </a:prstGeom>
          <a:solidFill>
            <a:srgbClr val="F2F2F2"/>
          </a:solidFill>
          <a:ln/>
          <a:effectLst>
            <a:outerShdw blurRad="50800" dist="25400" dir="8100000" algn="bl" rotWithShape="0">
              <a:srgbClr val="000000">
                <a:alpha val="8000"/>
              </a:srgbClr>
            </a:outerShdw>
          </a:effectLst>
        </p:spPr>
        <p:txBody>
          <a:bodyPr/>
          <a:lstStyle/>
          <a:p>
            <a:endParaRPr lang="es-PE"/>
          </a:p>
        </p:txBody>
      </p:sp>
      <p:sp>
        <p:nvSpPr>
          <p:cNvPr id="16" name="Shape 14"/>
          <p:cNvSpPr/>
          <p:nvPr/>
        </p:nvSpPr>
        <p:spPr>
          <a:xfrm>
            <a:off x="8229600" y="1600200"/>
            <a:ext cx="3657600" cy="73152"/>
          </a:xfrm>
          <a:prstGeom prst="rect">
            <a:avLst/>
          </a:prstGeom>
          <a:solidFill>
            <a:srgbClr val="27AE60"/>
          </a:solidFill>
          <a:ln/>
        </p:spPr>
        <p:txBody>
          <a:bodyPr/>
          <a:lstStyle/>
          <a:p>
            <a:endParaRPr lang="es-PE"/>
          </a:p>
        </p:txBody>
      </p:sp>
      <p:sp>
        <p:nvSpPr>
          <p:cNvPr id="17" name="Text 15"/>
          <p:cNvSpPr/>
          <p:nvPr/>
        </p:nvSpPr>
        <p:spPr>
          <a:xfrm>
            <a:off x="8229600" y="1783080"/>
            <a:ext cx="3657600" cy="822960"/>
          </a:xfrm>
          <a:prstGeom prst="rect">
            <a:avLst/>
          </a:prstGeom>
          <a:noFill/>
          <a:ln/>
        </p:spPr>
        <p:txBody>
          <a:bodyPr wrap="square" lIns="0" tIns="0" rIns="0" bIns="0" rtlCol="0" anchor="ctr"/>
          <a:lstStyle/>
          <a:p>
            <a:pPr marL="0" indent="0" algn="ctr">
              <a:buNone/>
            </a:pPr>
            <a:r>
              <a:rPr lang="en-US" sz="3000" b="1" dirty="0">
                <a:solidFill>
                  <a:srgbClr val="27AE60"/>
                </a:solidFill>
                <a:latin typeface="Georgia" pitchFamily="34" charset="0"/>
                <a:ea typeface="Georgia" pitchFamily="34" charset="-122"/>
                <a:cs typeface="Georgia" pitchFamily="34" charset="-120"/>
              </a:rPr>
              <a:t>41.9 %</a:t>
            </a:r>
            <a:endParaRPr lang="en-US" sz="3000" dirty="0"/>
          </a:p>
        </p:txBody>
      </p:sp>
      <p:sp>
        <p:nvSpPr>
          <p:cNvPr id="18" name="Text 16"/>
          <p:cNvSpPr/>
          <p:nvPr/>
        </p:nvSpPr>
        <p:spPr>
          <a:xfrm>
            <a:off x="8229600" y="2651760"/>
            <a:ext cx="3657600" cy="457200"/>
          </a:xfrm>
          <a:prstGeom prst="rect">
            <a:avLst/>
          </a:prstGeom>
          <a:noFill/>
          <a:ln/>
        </p:spPr>
        <p:txBody>
          <a:bodyPr wrap="square" lIns="0" tIns="0" rIns="0" bIns="0"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Margin promedio</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(rev-weighted)</a:t>
            </a:r>
            <a:endParaRPr lang="en-US" sz="1100" dirty="0"/>
          </a:p>
        </p:txBody>
      </p:sp>
      <p:sp>
        <p:nvSpPr>
          <p:cNvPr id="19" name="Text 17"/>
          <p:cNvSpPr/>
          <p:nvPr/>
        </p:nvSpPr>
        <p:spPr>
          <a:xfrm>
            <a:off x="8229600" y="3108960"/>
            <a:ext cx="3657600" cy="320040"/>
          </a:xfrm>
          <a:prstGeom prst="rect">
            <a:avLst/>
          </a:prstGeom>
          <a:noFill/>
          <a:ln/>
        </p:spPr>
        <p:txBody>
          <a:bodyPr wrap="square" lIns="0" tIns="0" rIns="0" bIns="0" rtlCol="0" anchor="ctr"/>
          <a:lstStyle/>
          <a:p>
            <a:pPr marL="0" indent="0" algn="ctr">
              <a:buNone/>
            </a:pPr>
            <a:r>
              <a:rPr lang="en-US" sz="900" i="1" dirty="0">
                <a:solidFill>
                  <a:srgbClr val="666666"/>
                </a:solidFill>
                <a:latin typeface="Calibri" pitchFamily="34" charset="0"/>
                <a:ea typeface="Calibri" pitchFamily="34" charset="-122"/>
                <a:cs typeface="Calibri" pitchFamily="34" charset="-120"/>
              </a:rPr>
              <a:t>Book revenue-weighted</a:t>
            </a:r>
            <a:endParaRPr lang="en-US" sz="900" dirty="0"/>
          </a:p>
        </p:txBody>
      </p:sp>
      <p:sp>
        <p:nvSpPr>
          <p:cNvPr id="20" name="Shape 18"/>
          <p:cNvSpPr/>
          <p:nvPr/>
        </p:nvSpPr>
        <p:spPr>
          <a:xfrm>
            <a:off x="457200" y="3794760"/>
            <a:ext cx="3657600" cy="1920240"/>
          </a:xfrm>
          <a:prstGeom prst="rect">
            <a:avLst/>
          </a:prstGeom>
          <a:solidFill>
            <a:srgbClr val="F2F2F2"/>
          </a:solidFill>
          <a:ln/>
          <a:effectLst>
            <a:outerShdw blurRad="50800" dist="25400" dir="8100000" algn="bl" rotWithShape="0">
              <a:srgbClr val="000000">
                <a:alpha val="8000"/>
              </a:srgbClr>
            </a:outerShdw>
          </a:effectLst>
        </p:spPr>
        <p:txBody>
          <a:bodyPr/>
          <a:lstStyle/>
          <a:p>
            <a:endParaRPr lang="es-PE"/>
          </a:p>
        </p:txBody>
      </p:sp>
      <p:sp>
        <p:nvSpPr>
          <p:cNvPr id="21" name="Shape 19"/>
          <p:cNvSpPr/>
          <p:nvPr/>
        </p:nvSpPr>
        <p:spPr>
          <a:xfrm>
            <a:off x="457200" y="3794760"/>
            <a:ext cx="3657600" cy="73152"/>
          </a:xfrm>
          <a:prstGeom prst="rect">
            <a:avLst/>
          </a:prstGeom>
          <a:solidFill>
            <a:srgbClr val="D4A843"/>
          </a:solidFill>
          <a:ln/>
        </p:spPr>
        <p:txBody>
          <a:bodyPr/>
          <a:lstStyle/>
          <a:p>
            <a:endParaRPr lang="es-PE"/>
          </a:p>
        </p:txBody>
      </p:sp>
      <p:sp>
        <p:nvSpPr>
          <p:cNvPr id="22" name="Text 20"/>
          <p:cNvSpPr/>
          <p:nvPr/>
        </p:nvSpPr>
        <p:spPr>
          <a:xfrm>
            <a:off x="457200" y="3977640"/>
            <a:ext cx="3657600" cy="822960"/>
          </a:xfrm>
          <a:prstGeom prst="rect">
            <a:avLst/>
          </a:prstGeom>
          <a:noFill/>
          <a:ln/>
        </p:spPr>
        <p:txBody>
          <a:bodyPr wrap="square" lIns="0" tIns="0" rIns="0" bIns="0" rtlCol="0" anchor="ctr"/>
          <a:lstStyle/>
          <a:p>
            <a:pPr marL="0" indent="0" algn="ctr">
              <a:buNone/>
            </a:pPr>
            <a:r>
              <a:rPr lang="en-US" sz="3000" b="1" dirty="0">
                <a:solidFill>
                  <a:srgbClr val="D4A843"/>
                </a:solidFill>
                <a:latin typeface="Georgia" pitchFamily="34" charset="0"/>
                <a:ea typeface="Georgia" pitchFamily="34" charset="-122"/>
                <a:cs typeface="Georgia" pitchFamily="34" charset="-120"/>
              </a:rPr>
              <a:t>S/. 510.7 M</a:t>
            </a:r>
            <a:endParaRPr lang="en-US" sz="3000" dirty="0"/>
          </a:p>
        </p:txBody>
      </p:sp>
      <p:sp>
        <p:nvSpPr>
          <p:cNvPr id="23" name="Text 21"/>
          <p:cNvSpPr/>
          <p:nvPr/>
        </p:nvSpPr>
        <p:spPr>
          <a:xfrm>
            <a:off x="457200" y="4846320"/>
            <a:ext cx="3657600" cy="457200"/>
          </a:xfrm>
          <a:prstGeom prst="rect">
            <a:avLst/>
          </a:prstGeom>
          <a:noFill/>
          <a:ln/>
        </p:spPr>
        <p:txBody>
          <a:bodyPr wrap="square" lIns="0" tIns="0" rIns="0" bIns="0"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Upsell Potential</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revenue</a:t>
            </a:r>
            <a:endParaRPr lang="en-US" sz="1100" dirty="0"/>
          </a:p>
        </p:txBody>
      </p:sp>
      <p:sp>
        <p:nvSpPr>
          <p:cNvPr id="24" name="Text 22"/>
          <p:cNvSpPr/>
          <p:nvPr/>
        </p:nvSpPr>
        <p:spPr>
          <a:xfrm>
            <a:off x="457200" y="5303520"/>
            <a:ext cx="3657600" cy="320040"/>
          </a:xfrm>
          <a:prstGeom prst="rect">
            <a:avLst/>
          </a:prstGeom>
          <a:noFill/>
          <a:ln/>
        </p:spPr>
        <p:txBody>
          <a:bodyPr wrap="square" lIns="0" tIns="0" rIns="0" bIns="0" rtlCol="0" anchor="ctr"/>
          <a:lstStyle/>
          <a:p>
            <a:pPr marL="0" indent="0" algn="ctr">
              <a:buNone/>
            </a:pPr>
            <a:r>
              <a:rPr lang="en-US" sz="900" i="1" dirty="0">
                <a:solidFill>
                  <a:srgbClr val="666666"/>
                </a:solidFill>
                <a:latin typeface="Calibri" pitchFamily="34" charset="0"/>
                <a:ea typeface="Calibri" pitchFamily="34" charset="-122"/>
                <a:cs typeface="Calibri" pitchFamily="34" charset="-120"/>
              </a:rPr>
              <a:t>S/. 219 M margin</a:t>
            </a:r>
            <a:endParaRPr lang="en-US" sz="900" dirty="0"/>
          </a:p>
        </p:txBody>
      </p:sp>
      <p:sp>
        <p:nvSpPr>
          <p:cNvPr id="25" name="Shape 23"/>
          <p:cNvSpPr/>
          <p:nvPr/>
        </p:nvSpPr>
        <p:spPr>
          <a:xfrm>
            <a:off x="4343400" y="3794760"/>
            <a:ext cx="3657600" cy="1920240"/>
          </a:xfrm>
          <a:prstGeom prst="rect">
            <a:avLst/>
          </a:prstGeom>
          <a:solidFill>
            <a:srgbClr val="F2F2F2"/>
          </a:solidFill>
          <a:ln/>
          <a:effectLst>
            <a:outerShdw blurRad="50800" dist="25400" dir="8100000" algn="bl" rotWithShape="0">
              <a:srgbClr val="000000">
                <a:alpha val="8000"/>
              </a:srgbClr>
            </a:outerShdw>
          </a:effectLst>
        </p:spPr>
        <p:txBody>
          <a:bodyPr/>
          <a:lstStyle/>
          <a:p>
            <a:endParaRPr lang="es-PE"/>
          </a:p>
        </p:txBody>
      </p:sp>
      <p:sp>
        <p:nvSpPr>
          <p:cNvPr id="26" name="Shape 24"/>
          <p:cNvSpPr/>
          <p:nvPr/>
        </p:nvSpPr>
        <p:spPr>
          <a:xfrm>
            <a:off x="4343400" y="3794760"/>
            <a:ext cx="3657600" cy="73152"/>
          </a:xfrm>
          <a:prstGeom prst="rect">
            <a:avLst/>
          </a:prstGeom>
          <a:solidFill>
            <a:srgbClr val="C0392B"/>
          </a:solidFill>
          <a:ln/>
        </p:spPr>
        <p:txBody>
          <a:bodyPr/>
          <a:lstStyle/>
          <a:p>
            <a:endParaRPr lang="es-PE"/>
          </a:p>
        </p:txBody>
      </p:sp>
      <p:sp>
        <p:nvSpPr>
          <p:cNvPr id="27" name="Text 25"/>
          <p:cNvSpPr/>
          <p:nvPr/>
        </p:nvSpPr>
        <p:spPr>
          <a:xfrm>
            <a:off x="4343400" y="3977640"/>
            <a:ext cx="3657600" cy="822960"/>
          </a:xfrm>
          <a:prstGeom prst="rect">
            <a:avLst/>
          </a:prstGeom>
          <a:noFill/>
          <a:ln/>
        </p:spPr>
        <p:txBody>
          <a:bodyPr wrap="square" lIns="0" tIns="0" rIns="0" bIns="0" rtlCol="0" anchor="ctr"/>
          <a:lstStyle/>
          <a:p>
            <a:pPr marL="0" indent="0" algn="ctr">
              <a:buNone/>
            </a:pPr>
            <a:r>
              <a:rPr lang="en-US" sz="3000" b="1" dirty="0">
                <a:solidFill>
                  <a:srgbClr val="C0392B"/>
                </a:solidFill>
                <a:latin typeface="Georgia" pitchFamily="34" charset="0"/>
                <a:ea typeface="Georgia" pitchFamily="34" charset="-122"/>
                <a:cs typeface="Georgia" pitchFamily="34" charset="-120"/>
              </a:rPr>
              <a:t>S/. 34.5 M</a:t>
            </a:r>
            <a:endParaRPr lang="en-US" sz="3000" dirty="0"/>
          </a:p>
        </p:txBody>
      </p:sp>
      <p:sp>
        <p:nvSpPr>
          <p:cNvPr id="28" name="Text 26"/>
          <p:cNvSpPr/>
          <p:nvPr/>
        </p:nvSpPr>
        <p:spPr>
          <a:xfrm>
            <a:off x="4343400" y="4846320"/>
            <a:ext cx="3657600" cy="457200"/>
          </a:xfrm>
          <a:prstGeom prst="rect">
            <a:avLst/>
          </a:prstGeom>
          <a:noFill/>
          <a:ln/>
        </p:spPr>
        <p:txBody>
          <a:bodyPr wrap="square" lIns="0" tIns="0" rIns="0" bIns="0"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Revenue</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en riesgo</a:t>
            </a:r>
            <a:endParaRPr lang="en-US" sz="1100" dirty="0"/>
          </a:p>
        </p:txBody>
      </p:sp>
      <p:sp>
        <p:nvSpPr>
          <p:cNvPr id="29" name="Text 27"/>
          <p:cNvSpPr/>
          <p:nvPr/>
        </p:nvSpPr>
        <p:spPr>
          <a:xfrm>
            <a:off x="4343400" y="5303520"/>
            <a:ext cx="3657600" cy="320040"/>
          </a:xfrm>
          <a:prstGeom prst="rect">
            <a:avLst/>
          </a:prstGeom>
          <a:noFill/>
          <a:ln/>
        </p:spPr>
        <p:txBody>
          <a:bodyPr wrap="square" lIns="0" tIns="0" rIns="0" bIns="0" rtlCol="0" anchor="ctr"/>
          <a:lstStyle/>
          <a:p>
            <a:pPr marL="0" indent="0" algn="ctr">
              <a:buNone/>
            </a:pPr>
            <a:r>
              <a:rPr lang="en-US" sz="900" i="1" dirty="0">
                <a:solidFill>
                  <a:srgbClr val="666666"/>
                </a:solidFill>
                <a:latin typeface="Calibri" pitchFamily="34" charset="0"/>
                <a:ea typeface="Calibri" pitchFamily="34" charset="-122"/>
                <a:cs typeface="Calibri" pitchFamily="34" charset="-120"/>
              </a:rPr>
              <a:t>186 empresas ALTA+MEDIA</a:t>
            </a:r>
            <a:endParaRPr lang="en-US" sz="900" dirty="0"/>
          </a:p>
        </p:txBody>
      </p:sp>
      <p:sp>
        <p:nvSpPr>
          <p:cNvPr id="30" name="Shape 28"/>
          <p:cNvSpPr/>
          <p:nvPr/>
        </p:nvSpPr>
        <p:spPr>
          <a:xfrm>
            <a:off x="8229600" y="3794760"/>
            <a:ext cx="3657600" cy="1920240"/>
          </a:xfrm>
          <a:prstGeom prst="rect">
            <a:avLst/>
          </a:prstGeom>
          <a:solidFill>
            <a:srgbClr val="F2F2F2"/>
          </a:solidFill>
          <a:ln/>
          <a:effectLst>
            <a:outerShdw blurRad="50800" dist="25400" dir="8100000" algn="bl" rotWithShape="0">
              <a:srgbClr val="000000">
                <a:alpha val="8000"/>
              </a:srgbClr>
            </a:outerShdw>
          </a:effectLst>
        </p:spPr>
        <p:txBody>
          <a:bodyPr/>
          <a:lstStyle/>
          <a:p>
            <a:endParaRPr lang="es-PE"/>
          </a:p>
        </p:txBody>
      </p:sp>
      <p:sp>
        <p:nvSpPr>
          <p:cNvPr id="31" name="Shape 29"/>
          <p:cNvSpPr/>
          <p:nvPr/>
        </p:nvSpPr>
        <p:spPr>
          <a:xfrm>
            <a:off x="8229600" y="3794760"/>
            <a:ext cx="3657600" cy="73152"/>
          </a:xfrm>
          <a:prstGeom prst="rect">
            <a:avLst/>
          </a:prstGeom>
          <a:solidFill>
            <a:srgbClr val="4E8B9F"/>
          </a:solidFill>
          <a:ln/>
        </p:spPr>
        <p:txBody>
          <a:bodyPr/>
          <a:lstStyle/>
          <a:p>
            <a:endParaRPr lang="es-PE"/>
          </a:p>
        </p:txBody>
      </p:sp>
      <p:sp>
        <p:nvSpPr>
          <p:cNvPr id="32" name="Text 30"/>
          <p:cNvSpPr/>
          <p:nvPr/>
        </p:nvSpPr>
        <p:spPr>
          <a:xfrm>
            <a:off x="8229600" y="3977640"/>
            <a:ext cx="3657600" cy="822960"/>
          </a:xfrm>
          <a:prstGeom prst="rect">
            <a:avLst/>
          </a:prstGeom>
          <a:noFill/>
          <a:ln/>
        </p:spPr>
        <p:txBody>
          <a:bodyPr wrap="square" lIns="0" tIns="0" rIns="0" bIns="0" rtlCol="0" anchor="ctr"/>
          <a:lstStyle/>
          <a:p>
            <a:pPr marL="0" indent="0" algn="ctr">
              <a:buNone/>
            </a:pPr>
            <a:r>
              <a:rPr lang="en-US" sz="3000" b="1" dirty="0">
                <a:solidFill>
                  <a:srgbClr val="4E8B9F"/>
                </a:solidFill>
                <a:latin typeface="Georgia" pitchFamily="34" charset="0"/>
                <a:ea typeface="Georgia" pitchFamily="34" charset="-122"/>
                <a:cs typeface="Georgia" pitchFamily="34" charset="-120"/>
              </a:rPr>
              <a:t>184 cta.</a:t>
            </a:r>
            <a:endParaRPr lang="en-US" sz="3000" dirty="0"/>
          </a:p>
        </p:txBody>
      </p:sp>
      <p:sp>
        <p:nvSpPr>
          <p:cNvPr id="33" name="Text 31"/>
          <p:cNvSpPr/>
          <p:nvPr/>
        </p:nvSpPr>
        <p:spPr>
          <a:xfrm>
            <a:off x="8229600" y="4846320"/>
            <a:ext cx="3657600" cy="457200"/>
          </a:xfrm>
          <a:prstGeom prst="rect">
            <a:avLst/>
          </a:prstGeom>
          <a:noFill/>
          <a:ln/>
        </p:spPr>
        <p:txBody>
          <a:bodyPr wrap="square" lIns="0" tIns="0" rIns="0" bIns="0"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Pareto</a:t>
            </a:r>
            <a:endParaRPr lang="en-US" sz="1100" dirty="0"/>
          </a:p>
          <a:p>
            <a:pPr marL="0" indent="0" algn="ctr">
              <a:buNone/>
            </a:pPr>
            <a:r>
              <a:rPr lang="en-US" sz="1100" dirty="0">
                <a:solidFill>
                  <a:srgbClr val="333333"/>
                </a:solidFill>
                <a:latin typeface="Calibri" pitchFamily="34" charset="0"/>
                <a:ea typeface="Calibri" pitchFamily="34" charset="-122"/>
                <a:cs typeface="Calibri" pitchFamily="34" charset="-120"/>
              </a:rPr>
              <a:t>80 %</a:t>
            </a:r>
            <a:endParaRPr lang="en-US" sz="1100" dirty="0"/>
          </a:p>
        </p:txBody>
      </p:sp>
      <p:sp>
        <p:nvSpPr>
          <p:cNvPr id="34" name="Text 32"/>
          <p:cNvSpPr/>
          <p:nvPr/>
        </p:nvSpPr>
        <p:spPr>
          <a:xfrm>
            <a:off x="8229600" y="5303520"/>
            <a:ext cx="3657600" cy="320040"/>
          </a:xfrm>
          <a:prstGeom prst="rect">
            <a:avLst/>
          </a:prstGeom>
          <a:noFill/>
          <a:ln/>
        </p:spPr>
        <p:txBody>
          <a:bodyPr wrap="square" lIns="0" tIns="0" rIns="0" bIns="0" rtlCol="0" anchor="ctr"/>
          <a:lstStyle/>
          <a:p>
            <a:pPr marL="0" indent="0" algn="ctr">
              <a:buNone/>
            </a:pPr>
            <a:r>
              <a:rPr lang="en-US" sz="900" i="1" dirty="0">
                <a:solidFill>
                  <a:srgbClr val="666666"/>
                </a:solidFill>
                <a:latin typeface="Calibri" pitchFamily="34" charset="0"/>
                <a:ea typeface="Calibri" pitchFamily="34" charset="-122"/>
                <a:cs typeface="Calibri" pitchFamily="34" charset="-120"/>
              </a:rPr>
              <a:t>18.4 % del book = 80 % rev</a:t>
            </a:r>
            <a:endParaRPr lang="en-US" sz="900" dirty="0"/>
          </a:p>
        </p:txBody>
      </p:sp>
      <p:sp>
        <p:nvSpPr>
          <p:cNvPr id="35" name="Text 33"/>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36" name="Text 34"/>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2/32</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08438"/>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Mensaje Central — 3 Pilares Accionables</a:t>
            </a:r>
            <a:endParaRPr lang="en-US" sz="2600" dirty="0"/>
          </a:p>
        </p:txBody>
      </p:sp>
      <p:sp>
        <p:nvSpPr>
          <p:cNvPr id="5" name="Shape 3"/>
          <p:cNvSpPr/>
          <p:nvPr/>
        </p:nvSpPr>
        <p:spPr>
          <a:xfrm>
            <a:off x="457200" y="1645920"/>
            <a:ext cx="3657600" cy="4663440"/>
          </a:xfrm>
          <a:prstGeom prst="rect">
            <a:avLst/>
          </a:prstGeom>
          <a:solidFill>
            <a:srgbClr val="F2F2F2"/>
          </a:solidFill>
          <a:ln/>
        </p:spPr>
        <p:txBody>
          <a:bodyPr/>
          <a:lstStyle/>
          <a:p>
            <a:endParaRPr lang="es-PE"/>
          </a:p>
        </p:txBody>
      </p:sp>
      <p:sp>
        <p:nvSpPr>
          <p:cNvPr id="6" name="Shape 4"/>
          <p:cNvSpPr/>
          <p:nvPr/>
        </p:nvSpPr>
        <p:spPr>
          <a:xfrm>
            <a:off x="457200" y="1645920"/>
            <a:ext cx="3657600" cy="73152"/>
          </a:xfrm>
          <a:prstGeom prst="rect">
            <a:avLst/>
          </a:prstGeom>
          <a:solidFill>
            <a:srgbClr val="D04A02"/>
          </a:solidFill>
          <a:ln/>
        </p:spPr>
        <p:txBody>
          <a:bodyPr/>
          <a:lstStyle/>
          <a:p>
            <a:endParaRPr lang="es-PE"/>
          </a:p>
        </p:txBody>
      </p:sp>
      <p:sp>
        <p:nvSpPr>
          <p:cNvPr id="7" name="Text 5"/>
          <p:cNvSpPr/>
          <p:nvPr/>
        </p:nvSpPr>
        <p:spPr>
          <a:xfrm>
            <a:off x="640080" y="1828800"/>
            <a:ext cx="914400" cy="640080"/>
          </a:xfrm>
          <a:prstGeom prst="rect">
            <a:avLst/>
          </a:prstGeom>
          <a:noFill/>
          <a:ln/>
        </p:spPr>
        <p:txBody>
          <a:bodyPr wrap="square" lIns="0" tIns="0" rIns="0" bIns="0" rtlCol="0" anchor="ctr"/>
          <a:lstStyle/>
          <a:p>
            <a:pPr marL="0" indent="0">
              <a:buNone/>
            </a:pPr>
            <a:r>
              <a:rPr lang="en-US" sz="3600" b="1" dirty="0">
                <a:solidFill>
                  <a:srgbClr val="D04A02"/>
                </a:solidFill>
                <a:latin typeface="Georgia" pitchFamily="34" charset="0"/>
                <a:ea typeface="Georgia" pitchFamily="34" charset="-122"/>
                <a:cs typeface="Georgia" pitchFamily="34" charset="-120"/>
              </a:rPr>
              <a:t>01</a:t>
            </a:r>
            <a:endParaRPr lang="en-US" sz="3600" dirty="0"/>
          </a:p>
        </p:txBody>
      </p:sp>
      <p:sp>
        <p:nvSpPr>
          <p:cNvPr id="8" name="Text 6"/>
          <p:cNvSpPr/>
          <p:nvPr/>
        </p:nvSpPr>
        <p:spPr>
          <a:xfrm>
            <a:off x="1554480" y="1920240"/>
            <a:ext cx="2468880" cy="457200"/>
          </a:xfrm>
          <a:prstGeom prst="rect">
            <a:avLst/>
          </a:prstGeom>
          <a:noFill/>
          <a:ln/>
        </p:spPr>
        <p:txBody>
          <a:bodyPr wrap="square" lIns="0" tIns="0" rIns="0" bIns="0" rtlCol="0" anchor="ctr"/>
          <a:lstStyle/>
          <a:p>
            <a:pPr marL="0" indent="0">
              <a:buNone/>
            </a:pPr>
            <a:r>
              <a:rPr lang="en-US" sz="2200" b="1" dirty="0">
                <a:solidFill>
                  <a:srgbClr val="2D2D2D"/>
                </a:solidFill>
                <a:latin typeface="Georgia" pitchFamily="34" charset="0"/>
                <a:ea typeface="Georgia" pitchFamily="34" charset="-122"/>
                <a:cs typeface="Georgia" pitchFamily="34" charset="-120"/>
              </a:rPr>
              <a:t>DEFENDER</a:t>
            </a:r>
            <a:endParaRPr lang="en-US" sz="2200" dirty="0"/>
          </a:p>
        </p:txBody>
      </p:sp>
      <p:sp>
        <p:nvSpPr>
          <p:cNvPr id="9" name="Text 7"/>
          <p:cNvSpPr/>
          <p:nvPr/>
        </p:nvSpPr>
        <p:spPr>
          <a:xfrm>
            <a:off x="1554480" y="2331720"/>
            <a:ext cx="246888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32 cuentas ancla</a:t>
            </a:r>
            <a:endParaRPr lang="en-US" sz="1200" dirty="0"/>
          </a:p>
        </p:txBody>
      </p:sp>
      <p:sp>
        <p:nvSpPr>
          <p:cNvPr id="10" name="Text 8"/>
          <p:cNvSpPr/>
          <p:nvPr/>
        </p:nvSpPr>
        <p:spPr>
          <a:xfrm>
            <a:off x="640080" y="2788920"/>
            <a:ext cx="3291840" cy="12801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PROTECT &amp; GROW concentra S/. 54.0 M de revenue con margin 43.7 %.</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Cero pérdida tolerada: cada cuenta perdida = pérdida de múltiples Sub-LoS.</a:t>
            </a:r>
            <a:endParaRPr lang="en-US" sz="1100" dirty="0"/>
          </a:p>
        </p:txBody>
      </p:sp>
      <p:sp>
        <p:nvSpPr>
          <p:cNvPr id="11" name="Text 9"/>
          <p:cNvSpPr/>
          <p:nvPr/>
        </p:nvSpPr>
        <p:spPr>
          <a:xfrm>
            <a:off x="640080" y="4160520"/>
            <a:ext cx="3291840" cy="2011680"/>
          </a:xfrm>
          <a:prstGeom prst="rect">
            <a:avLst/>
          </a:prstGeom>
          <a:noFill/>
          <a:ln/>
        </p:spPr>
        <p:txBody>
          <a:bodyPr wrap="square" lIns="0" tIns="0" rIns="0" bIns="0" rtlCol="0" anchor="ctr"/>
          <a:lstStyle/>
          <a:p>
            <a:pPr marL="342900" indent="-342900">
              <a:lnSpc>
                <a:spcPct val="130000"/>
              </a:lnSpc>
              <a:buSzPct val="100000"/>
              <a:buChar char="●"/>
            </a:pPr>
            <a:r>
              <a:rPr lang="en-US" sz="1050" dirty="0">
                <a:solidFill>
                  <a:srgbClr val="D04A02"/>
                </a:solidFill>
                <a:latin typeface="Calibri" pitchFamily="34" charset="0"/>
                <a:ea typeface="Calibri" pitchFamily="34" charset="-122"/>
                <a:cs typeface="Calibri" pitchFamily="34" charset="-120"/>
              </a:rPr>
              <a:t>Asignar Partner dedicado</a:t>
            </a:r>
            <a:endParaRPr lang="en-US" sz="1050" dirty="0"/>
          </a:p>
          <a:p>
            <a:pPr marL="342900" indent="-342900">
              <a:lnSpc>
                <a:spcPct val="130000"/>
              </a:lnSpc>
              <a:buSzPct val="100000"/>
              <a:buChar char="●"/>
            </a:pPr>
            <a:r>
              <a:rPr lang="en-US" sz="1050" dirty="0">
                <a:solidFill>
                  <a:srgbClr val="D04A02"/>
                </a:solidFill>
                <a:latin typeface="Calibri" pitchFamily="34" charset="0"/>
                <a:ea typeface="Calibri" pitchFamily="34" charset="-122"/>
                <a:cs typeface="Calibri" pitchFamily="34" charset="-120"/>
              </a:rPr>
              <a:t>Revisión mensual con C-level</a:t>
            </a:r>
            <a:endParaRPr lang="en-US" sz="1050" dirty="0"/>
          </a:p>
        </p:txBody>
      </p:sp>
      <p:sp>
        <p:nvSpPr>
          <p:cNvPr id="12" name="Shape 10"/>
          <p:cNvSpPr/>
          <p:nvPr/>
        </p:nvSpPr>
        <p:spPr>
          <a:xfrm>
            <a:off x="4343400" y="1645920"/>
            <a:ext cx="3657600" cy="4663440"/>
          </a:xfrm>
          <a:prstGeom prst="rect">
            <a:avLst/>
          </a:prstGeom>
          <a:solidFill>
            <a:srgbClr val="F2F2F2"/>
          </a:solidFill>
          <a:ln/>
        </p:spPr>
        <p:txBody>
          <a:bodyPr/>
          <a:lstStyle/>
          <a:p>
            <a:endParaRPr lang="es-PE"/>
          </a:p>
        </p:txBody>
      </p:sp>
      <p:sp>
        <p:nvSpPr>
          <p:cNvPr id="13" name="Shape 11"/>
          <p:cNvSpPr/>
          <p:nvPr/>
        </p:nvSpPr>
        <p:spPr>
          <a:xfrm>
            <a:off x="4343400" y="1645920"/>
            <a:ext cx="3657600" cy="73152"/>
          </a:xfrm>
          <a:prstGeom prst="rect">
            <a:avLst/>
          </a:prstGeom>
          <a:solidFill>
            <a:srgbClr val="1A5490"/>
          </a:solidFill>
          <a:ln/>
        </p:spPr>
        <p:txBody>
          <a:bodyPr/>
          <a:lstStyle/>
          <a:p>
            <a:endParaRPr lang="es-PE"/>
          </a:p>
        </p:txBody>
      </p:sp>
      <p:sp>
        <p:nvSpPr>
          <p:cNvPr id="14" name="Text 12"/>
          <p:cNvSpPr/>
          <p:nvPr/>
        </p:nvSpPr>
        <p:spPr>
          <a:xfrm>
            <a:off x="4526280" y="1828800"/>
            <a:ext cx="914400" cy="640080"/>
          </a:xfrm>
          <a:prstGeom prst="rect">
            <a:avLst/>
          </a:prstGeom>
          <a:noFill/>
          <a:ln/>
        </p:spPr>
        <p:txBody>
          <a:bodyPr wrap="square" lIns="0" tIns="0" rIns="0" bIns="0" rtlCol="0" anchor="ctr"/>
          <a:lstStyle/>
          <a:p>
            <a:pPr marL="0" indent="0">
              <a:buNone/>
            </a:pPr>
            <a:r>
              <a:rPr lang="en-US" sz="3600" b="1" dirty="0">
                <a:solidFill>
                  <a:srgbClr val="1A5490"/>
                </a:solidFill>
                <a:latin typeface="Georgia" pitchFamily="34" charset="0"/>
                <a:ea typeface="Georgia" pitchFamily="34" charset="-122"/>
                <a:cs typeface="Georgia" pitchFamily="34" charset="-120"/>
              </a:rPr>
              <a:t>02</a:t>
            </a:r>
            <a:endParaRPr lang="en-US" sz="3600" dirty="0"/>
          </a:p>
        </p:txBody>
      </p:sp>
      <p:sp>
        <p:nvSpPr>
          <p:cNvPr id="15" name="Text 13"/>
          <p:cNvSpPr/>
          <p:nvPr/>
        </p:nvSpPr>
        <p:spPr>
          <a:xfrm>
            <a:off x="5440680" y="1920240"/>
            <a:ext cx="2468880" cy="457200"/>
          </a:xfrm>
          <a:prstGeom prst="rect">
            <a:avLst/>
          </a:prstGeom>
          <a:noFill/>
          <a:ln/>
        </p:spPr>
        <p:txBody>
          <a:bodyPr wrap="square" lIns="0" tIns="0" rIns="0" bIns="0" rtlCol="0" anchor="ctr"/>
          <a:lstStyle/>
          <a:p>
            <a:pPr marL="0" indent="0">
              <a:buNone/>
            </a:pPr>
            <a:r>
              <a:rPr lang="en-US" sz="2200" b="1" dirty="0">
                <a:solidFill>
                  <a:srgbClr val="2D2D2D"/>
                </a:solidFill>
                <a:latin typeface="Georgia" pitchFamily="34" charset="0"/>
                <a:ea typeface="Georgia" pitchFamily="34" charset="-122"/>
                <a:cs typeface="Georgia" pitchFamily="34" charset="-120"/>
              </a:rPr>
              <a:t>EXPANDIR</a:t>
            </a:r>
            <a:endParaRPr lang="en-US" sz="2200" dirty="0"/>
          </a:p>
        </p:txBody>
      </p:sp>
      <p:sp>
        <p:nvSpPr>
          <p:cNvPr id="16" name="Text 14"/>
          <p:cNvSpPr/>
          <p:nvPr/>
        </p:nvSpPr>
        <p:spPr>
          <a:xfrm>
            <a:off x="5440680" y="2331720"/>
            <a:ext cx="246888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325 cuentas activas</a:t>
            </a:r>
            <a:endParaRPr lang="en-US" sz="1200" dirty="0"/>
          </a:p>
        </p:txBody>
      </p:sp>
      <p:sp>
        <p:nvSpPr>
          <p:cNvPr id="17" name="Text 15"/>
          <p:cNvSpPr/>
          <p:nvPr/>
        </p:nvSpPr>
        <p:spPr>
          <a:xfrm>
            <a:off x="4526280" y="2788920"/>
            <a:ext cx="3291840" cy="12801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ACCELERATE + EXPAND concentran </a:t>
            </a:r>
            <a:r>
              <a:rPr lang="en-US" sz="1100" dirty="0" err="1">
                <a:solidFill>
                  <a:srgbClr val="333333"/>
                </a:solidFill>
                <a:latin typeface="Calibri" pitchFamily="34" charset="0"/>
                <a:ea typeface="Calibri" pitchFamily="34" charset="-122"/>
                <a:cs typeface="Calibri" pitchFamily="34" charset="-120"/>
              </a:rPr>
              <a:t>el</a:t>
            </a:r>
            <a:r>
              <a:rPr lang="en-US" sz="1100" dirty="0">
                <a:solidFill>
                  <a:srgbClr val="333333"/>
                </a:solidFill>
                <a:latin typeface="Calibri" pitchFamily="34" charset="0"/>
                <a:ea typeface="Calibri" pitchFamily="34" charset="-122"/>
                <a:cs typeface="Calibri" pitchFamily="34" charset="-120"/>
              </a:rPr>
              <a:t> 60.3 % del upsell margin (S/. 61.5 M).</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Spot: clientes activos, margin saludable, Sub-LoS inexploradas.</a:t>
            </a:r>
            <a:endParaRPr lang="en-US" sz="1100" dirty="0"/>
          </a:p>
        </p:txBody>
      </p:sp>
      <p:sp>
        <p:nvSpPr>
          <p:cNvPr id="18" name="Text 16"/>
          <p:cNvSpPr/>
          <p:nvPr/>
        </p:nvSpPr>
        <p:spPr>
          <a:xfrm>
            <a:off x="4526280" y="4160520"/>
            <a:ext cx="3291840" cy="2011680"/>
          </a:xfrm>
          <a:prstGeom prst="rect">
            <a:avLst/>
          </a:prstGeom>
          <a:noFill/>
          <a:ln/>
        </p:spPr>
        <p:txBody>
          <a:bodyPr wrap="square" lIns="0" tIns="0" rIns="0" bIns="0" rtlCol="0" anchor="ctr"/>
          <a:lstStyle/>
          <a:p>
            <a:pPr marL="342900" indent="-342900">
              <a:lnSpc>
                <a:spcPct val="130000"/>
              </a:lnSpc>
              <a:buSzPct val="100000"/>
              <a:buChar char="●"/>
            </a:pPr>
            <a:r>
              <a:rPr lang="en-US" sz="1050" dirty="0">
                <a:solidFill>
                  <a:srgbClr val="1A5490"/>
                </a:solidFill>
                <a:latin typeface="Calibri" pitchFamily="34" charset="0"/>
                <a:ea typeface="Calibri" pitchFamily="34" charset="-122"/>
                <a:cs typeface="Calibri" pitchFamily="34" charset="-120"/>
              </a:rPr>
              <a:t>Plan cross-sell sistemático</a:t>
            </a:r>
            <a:endParaRPr lang="en-US" sz="1050" dirty="0"/>
          </a:p>
          <a:p>
            <a:pPr marL="342900" indent="-342900">
              <a:lnSpc>
                <a:spcPct val="130000"/>
              </a:lnSpc>
              <a:buSzPct val="100000"/>
              <a:buChar char="●"/>
            </a:pPr>
            <a:r>
              <a:rPr lang="en-US" sz="1050" dirty="0" err="1">
                <a:solidFill>
                  <a:srgbClr val="1A5490"/>
                </a:solidFill>
                <a:latin typeface="Calibri" pitchFamily="34" charset="0"/>
                <a:ea typeface="Calibri" pitchFamily="34" charset="-122"/>
                <a:cs typeface="Calibri" pitchFamily="34" charset="-120"/>
              </a:rPr>
              <a:t>Prioridad</a:t>
            </a:r>
            <a:r>
              <a:rPr lang="en-US" sz="1050" dirty="0">
                <a:solidFill>
                  <a:srgbClr val="1A5490"/>
                </a:solidFill>
                <a:latin typeface="Calibri" pitchFamily="34" charset="0"/>
                <a:ea typeface="Calibri" pitchFamily="34" charset="-122"/>
                <a:cs typeface="Calibri" pitchFamily="34" charset="-120"/>
              </a:rPr>
              <a:t>: 223 </a:t>
            </a:r>
            <a:r>
              <a:rPr lang="en-US" sz="1050" dirty="0" err="1">
                <a:solidFill>
                  <a:srgbClr val="1A5490"/>
                </a:solidFill>
                <a:latin typeface="Calibri" pitchFamily="34" charset="0"/>
                <a:ea typeface="Calibri" pitchFamily="34" charset="-122"/>
                <a:cs typeface="Calibri" pitchFamily="34" charset="-120"/>
              </a:rPr>
              <a:t>cuentas</a:t>
            </a:r>
            <a:r>
              <a:rPr lang="en-US" sz="1050" dirty="0">
                <a:solidFill>
                  <a:srgbClr val="1A5490"/>
                </a:solidFill>
                <a:latin typeface="Calibri" pitchFamily="34" charset="0"/>
                <a:ea typeface="Calibri" pitchFamily="34" charset="-122"/>
                <a:cs typeface="Calibri" pitchFamily="34" charset="-120"/>
              </a:rPr>
              <a:t> ESTABLE</a:t>
            </a:r>
            <a:endParaRPr lang="en-US" sz="1050" dirty="0"/>
          </a:p>
        </p:txBody>
      </p:sp>
      <p:sp>
        <p:nvSpPr>
          <p:cNvPr id="19" name="Shape 17"/>
          <p:cNvSpPr/>
          <p:nvPr/>
        </p:nvSpPr>
        <p:spPr>
          <a:xfrm>
            <a:off x="8229600" y="1645920"/>
            <a:ext cx="3657600" cy="4663440"/>
          </a:xfrm>
          <a:prstGeom prst="rect">
            <a:avLst/>
          </a:prstGeom>
          <a:solidFill>
            <a:srgbClr val="F2F2F2"/>
          </a:solidFill>
          <a:ln/>
        </p:spPr>
        <p:txBody>
          <a:bodyPr/>
          <a:lstStyle/>
          <a:p>
            <a:endParaRPr lang="es-PE"/>
          </a:p>
        </p:txBody>
      </p:sp>
      <p:sp>
        <p:nvSpPr>
          <p:cNvPr id="20" name="Shape 18"/>
          <p:cNvSpPr/>
          <p:nvPr/>
        </p:nvSpPr>
        <p:spPr>
          <a:xfrm>
            <a:off x="8229600" y="1645920"/>
            <a:ext cx="3657600" cy="73152"/>
          </a:xfrm>
          <a:prstGeom prst="rect">
            <a:avLst/>
          </a:prstGeom>
          <a:solidFill>
            <a:srgbClr val="C0392B"/>
          </a:solidFill>
          <a:ln/>
        </p:spPr>
        <p:txBody>
          <a:bodyPr/>
          <a:lstStyle/>
          <a:p>
            <a:endParaRPr lang="es-PE"/>
          </a:p>
        </p:txBody>
      </p:sp>
      <p:sp>
        <p:nvSpPr>
          <p:cNvPr id="21" name="Text 19"/>
          <p:cNvSpPr/>
          <p:nvPr/>
        </p:nvSpPr>
        <p:spPr>
          <a:xfrm>
            <a:off x="8412480" y="1828800"/>
            <a:ext cx="914400" cy="640080"/>
          </a:xfrm>
          <a:prstGeom prst="rect">
            <a:avLst/>
          </a:prstGeom>
          <a:noFill/>
          <a:ln/>
        </p:spPr>
        <p:txBody>
          <a:bodyPr wrap="square" lIns="0" tIns="0" rIns="0" bIns="0" rtlCol="0" anchor="ctr"/>
          <a:lstStyle/>
          <a:p>
            <a:pPr marL="0" indent="0">
              <a:buNone/>
            </a:pPr>
            <a:r>
              <a:rPr lang="en-US" sz="3600" b="1" dirty="0">
                <a:solidFill>
                  <a:srgbClr val="C0392B"/>
                </a:solidFill>
                <a:latin typeface="Georgia" pitchFamily="34" charset="0"/>
                <a:ea typeface="Georgia" pitchFamily="34" charset="-122"/>
                <a:cs typeface="Georgia" pitchFamily="34" charset="-120"/>
              </a:rPr>
              <a:t>03</a:t>
            </a:r>
            <a:endParaRPr lang="en-US" sz="3600" dirty="0"/>
          </a:p>
        </p:txBody>
      </p:sp>
      <p:sp>
        <p:nvSpPr>
          <p:cNvPr id="22" name="Text 20"/>
          <p:cNvSpPr/>
          <p:nvPr/>
        </p:nvSpPr>
        <p:spPr>
          <a:xfrm>
            <a:off x="9326880" y="1920240"/>
            <a:ext cx="1743574" cy="457200"/>
          </a:xfrm>
          <a:prstGeom prst="rect">
            <a:avLst/>
          </a:prstGeom>
          <a:noFill/>
          <a:ln/>
        </p:spPr>
        <p:txBody>
          <a:bodyPr wrap="square" lIns="0" tIns="0" rIns="0" bIns="0" rtlCol="0" anchor="ctr"/>
          <a:lstStyle/>
          <a:p>
            <a:r>
              <a:rPr lang="es-PE" sz="2200" b="1" dirty="0">
                <a:solidFill>
                  <a:srgbClr val="2D2D2D"/>
                </a:solidFill>
                <a:latin typeface="Georgia" pitchFamily="34" charset="0"/>
              </a:rPr>
              <a:t>RESCATE/GESTIÓN</a:t>
            </a:r>
            <a:endParaRPr lang="en-US" sz="2200" b="1" dirty="0">
              <a:solidFill>
                <a:srgbClr val="2D2D2D"/>
              </a:solidFill>
              <a:latin typeface="Georgia" pitchFamily="34" charset="0"/>
            </a:endParaRPr>
          </a:p>
        </p:txBody>
      </p:sp>
      <p:sp>
        <p:nvSpPr>
          <p:cNvPr id="23" name="Text 21"/>
          <p:cNvSpPr/>
          <p:nvPr/>
        </p:nvSpPr>
        <p:spPr>
          <a:xfrm>
            <a:off x="9326880" y="2377440"/>
            <a:ext cx="246888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135 </a:t>
            </a:r>
            <a:r>
              <a:rPr lang="en-US" sz="1200" i="1" dirty="0" err="1">
                <a:solidFill>
                  <a:srgbClr val="666666"/>
                </a:solidFill>
                <a:latin typeface="Calibri" pitchFamily="34" charset="0"/>
                <a:ea typeface="Calibri" pitchFamily="34" charset="-122"/>
                <a:cs typeface="Calibri" pitchFamily="34" charset="-120"/>
              </a:rPr>
              <a:t>Críticas</a:t>
            </a:r>
            <a:r>
              <a:rPr lang="en-US" sz="1200" i="1" dirty="0">
                <a:solidFill>
                  <a:srgbClr val="666666"/>
                </a:solidFill>
                <a:latin typeface="Calibri" pitchFamily="34" charset="0"/>
                <a:ea typeface="Calibri" pitchFamily="34" charset="-122"/>
                <a:cs typeface="Calibri" pitchFamily="34" charset="-120"/>
              </a:rPr>
              <a:t> · 508 En </a:t>
            </a:r>
            <a:r>
              <a:rPr lang="en-US" sz="1200" i="1" dirty="0" err="1">
                <a:solidFill>
                  <a:srgbClr val="666666"/>
                </a:solidFill>
                <a:latin typeface="Calibri" pitchFamily="34" charset="0"/>
                <a:ea typeface="Calibri" pitchFamily="34" charset="-122"/>
                <a:cs typeface="Calibri" pitchFamily="34" charset="-120"/>
              </a:rPr>
              <a:t>desarrollo</a:t>
            </a:r>
            <a:endParaRPr lang="en-US" sz="1200" dirty="0"/>
          </a:p>
        </p:txBody>
      </p:sp>
      <p:sp>
        <p:nvSpPr>
          <p:cNvPr id="24" name="Text 22"/>
          <p:cNvSpPr/>
          <p:nvPr/>
        </p:nvSpPr>
        <p:spPr>
          <a:xfrm>
            <a:off x="8412480" y="2788920"/>
            <a:ext cx="3291840" cy="1280160"/>
          </a:xfrm>
          <a:prstGeom prst="rect">
            <a:avLst/>
          </a:prstGeom>
          <a:noFill/>
          <a:ln/>
        </p:spPr>
        <p:txBody>
          <a:bodyPr wrap="square" lIns="0" tIns="0" rIns="0" bIns="0" rtlCol="0" anchor="ctr"/>
          <a:lstStyle/>
          <a:p>
            <a:r>
              <a:rPr lang="es-ES" sz="1100" dirty="0"/>
              <a:t>Frenar la fuga de </a:t>
            </a:r>
            <a:r>
              <a:rPr lang="es-ES" sz="1100" dirty="0" err="1"/>
              <a:t>Revenue</a:t>
            </a:r>
            <a:r>
              <a:rPr lang="es-ES" sz="1100" dirty="0"/>
              <a:t> en Riesgo (Alerta Alta) identificados en el top del portafolio.</a:t>
            </a:r>
          </a:p>
          <a:p>
            <a:r>
              <a:rPr lang="es-ES" sz="1100" dirty="0"/>
              <a:t>Modelo de atención  o campañas masivas de Marketing para cuentas en Desarrollo (</a:t>
            </a:r>
            <a:r>
              <a:rPr lang="es-ES" sz="1100" dirty="0" err="1"/>
              <a:t>Activate-Qualify</a:t>
            </a:r>
            <a:r>
              <a:rPr lang="es-ES" sz="1100" dirty="0"/>
              <a:t>)</a:t>
            </a:r>
            <a:endParaRPr lang="en-US" sz="1100" dirty="0"/>
          </a:p>
        </p:txBody>
      </p:sp>
      <p:sp>
        <p:nvSpPr>
          <p:cNvPr id="25" name="Text 23"/>
          <p:cNvSpPr/>
          <p:nvPr/>
        </p:nvSpPr>
        <p:spPr>
          <a:xfrm>
            <a:off x="8412480" y="4160520"/>
            <a:ext cx="3291840" cy="2011680"/>
          </a:xfrm>
          <a:prstGeom prst="rect">
            <a:avLst/>
          </a:prstGeom>
          <a:noFill/>
          <a:ln/>
        </p:spPr>
        <p:txBody>
          <a:bodyPr wrap="square" lIns="0" tIns="0" rIns="0" bIns="0" rtlCol="0" anchor="ctr"/>
          <a:lstStyle/>
          <a:p>
            <a:pPr marL="342900" indent="-342900">
              <a:lnSpc>
                <a:spcPct val="130000"/>
              </a:lnSpc>
              <a:buSzPct val="100000"/>
              <a:buChar char="●"/>
            </a:pPr>
            <a:r>
              <a:rPr lang="en-US" sz="1050" dirty="0">
                <a:solidFill>
                  <a:srgbClr val="C0392B"/>
                </a:solidFill>
                <a:latin typeface="Calibri" pitchFamily="34" charset="0"/>
                <a:ea typeface="Calibri" pitchFamily="34" charset="-122"/>
                <a:cs typeface="Calibri" pitchFamily="34" charset="-120"/>
              </a:rPr>
              <a:t>41 cuentas </a:t>
            </a:r>
            <a:r>
              <a:rPr lang="en-US" sz="1050" dirty="0" err="1">
                <a:solidFill>
                  <a:srgbClr val="C0392B"/>
                </a:solidFill>
                <a:latin typeface="Calibri" pitchFamily="34" charset="0"/>
                <a:ea typeface="Calibri" pitchFamily="34" charset="-122"/>
                <a:cs typeface="Calibri" pitchFamily="34" charset="-120"/>
              </a:rPr>
              <a:t>críticas</a:t>
            </a:r>
            <a:r>
              <a:rPr lang="en-US" sz="1050" dirty="0">
                <a:solidFill>
                  <a:srgbClr val="C0392B"/>
                </a:solidFill>
                <a:latin typeface="Calibri" pitchFamily="34" charset="0"/>
                <a:ea typeface="Calibri" pitchFamily="34" charset="-122"/>
                <a:cs typeface="Calibri" pitchFamily="34" charset="-120"/>
              </a:rPr>
              <a:t> (Alta)</a:t>
            </a:r>
            <a:endParaRPr lang="en-US" sz="1050" dirty="0"/>
          </a:p>
          <a:p>
            <a:pPr marL="342900" indent="-342900">
              <a:lnSpc>
                <a:spcPct val="130000"/>
              </a:lnSpc>
              <a:buSzPct val="100000"/>
              <a:buChar char="●"/>
            </a:pPr>
            <a:r>
              <a:rPr lang="en-US" sz="1050" dirty="0">
                <a:solidFill>
                  <a:srgbClr val="C0392B"/>
                </a:solidFill>
                <a:latin typeface="Calibri" pitchFamily="34" charset="0"/>
                <a:ea typeface="Calibri" pitchFamily="34" charset="-122"/>
                <a:cs typeface="Calibri" pitchFamily="34" charset="-120"/>
              </a:rPr>
              <a:t>100 </a:t>
            </a:r>
            <a:r>
              <a:rPr lang="en-US" sz="1050" dirty="0" err="1">
                <a:solidFill>
                  <a:srgbClr val="C0392B"/>
                </a:solidFill>
                <a:latin typeface="Calibri" pitchFamily="34" charset="0"/>
                <a:ea typeface="Calibri" pitchFamily="34" charset="-122"/>
                <a:cs typeface="Calibri" pitchFamily="34" charset="-120"/>
              </a:rPr>
              <a:t>cuentas</a:t>
            </a:r>
            <a:r>
              <a:rPr lang="en-US" sz="1050" dirty="0">
                <a:solidFill>
                  <a:srgbClr val="C0392B"/>
                </a:solidFill>
                <a:latin typeface="Calibri" pitchFamily="34" charset="0"/>
                <a:ea typeface="Calibri" pitchFamily="34" charset="-122"/>
                <a:cs typeface="Calibri" pitchFamily="34" charset="-120"/>
              </a:rPr>
              <a:t> para </a:t>
            </a:r>
            <a:r>
              <a:rPr lang="en-US" sz="1050" dirty="0" err="1">
                <a:solidFill>
                  <a:srgbClr val="C0392B"/>
                </a:solidFill>
                <a:latin typeface="Calibri" pitchFamily="34" charset="0"/>
                <a:ea typeface="Calibri" pitchFamily="34" charset="-122"/>
                <a:cs typeface="Calibri" pitchFamily="34" charset="-120"/>
              </a:rPr>
              <a:t>Filtrar</a:t>
            </a:r>
            <a:r>
              <a:rPr lang="en-US" sz="1050" dirty="0">
                <a:solidFill>
                  <a:srgbClr val="C0392B"/>
                </a:solidFill>
                <a:latin typeface="Calibri" pitchFamily="34" charset="0"/>
                <a:ea typeface="Calibri" pitchFamily="34" charset="-122"/>
                <a:cs typeface="Calibri" pitchFamily="34" charset="-120"/>
              </a:rPr>
              <a:t> (</a:t>
            </a:r>
            <a:r>
              <a:rPr lang="en-US" sz="1050" dirty="0" err="1">
                <a:solidFill>
                  <a:srgbClr val="C0392B"/>
                </a:solidFill>
                <a:latin typeface="Calibri" pitchFamily="34" charset="0"/>
                <a:ea typeface="Calibri" pitchFamily="34" charset="-122"/>
                <a:cs typeface="Calibri" pitchFamily="34" charset="-120"/>
              </a:rPr>
              <a:t>Activar</a:t>
            </a:r>
            <a:r>
              <a:rPr lang="en-US" sz="1050" dirty="0">
                <a:solidFill>
                  <a:srgbClr val="C0392B"/>
                </a:solidFill>
                <a:latin typeface="Calibri" pitchFamily="34" charset="0"/>
                <a:ea typeface="Calibri" pitchFamily="34" charset="-122"/>
                <a:cs typeface="Calibri" pitchFamily="34" charset="-120"/>
              </a:rPr>
              <a:t> y </a:t>
            </a:r>
            <a:r>
              <a:rPr lang="en-US" sz="1050" dirty="0" err="1">
                <a:solidFill>
                  <a:srgbClr val="C0392B"/>
                </a:solidFill>
                <a:latin typeface="Calibri" pitchFamily="34" charset="0"/>
                <a:ea typeface="Calibri" pitchFamily="34" charset="-122"/>
                <a:cs typeface="Calibri" pitchFamily="34" charset="-120"/>
              </a:rPr>
              <a:t>Desarrollar</a:t>
            </a:r>
            <a:r>
              <a:rPr lang="en-US" sz="1050" dirty="0">
                <a:solidFill>
                  <a:srgbClr val="C0392B"/>
                </a:solidFill>
                <a:latin typeface="Calibri" pitchFamily="34" charset="0"/>
                <a:ea typeface="Calibri" pitchFamily="34" charset="-122"/>
                <a:cs typeface="Calibri" pitchFamily="34" charset="-120"/>
              </a:rPr>
              <a:t> – Alert. Alta-Media)</a:t>
            </a:r>
            <a:endParaRPr lang="en-US" sz="1050" dirty="0"/>
          </a:p>
          <a:p>
            <a:pPr>
              <a:lnSpc>
                <a:spcPct val="130000"/>
              </a:lnSpc>
              <a:buSzPct val="100000"/>
            </a:pPr>
            <a:endParaRPr lang="en-US" sz="1050" dirty="0"/>
          </a:p>
        </p:txBody>
      </p:sp>
      <p:sp>
        <p:nvSpPr>
          <p:cNvPr id="26" name="Text 24"/>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27" name="Text 2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3/32</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Playbooks por Segmento — Next Best Action</a:t>
            </a:r>
            <a:endParaRPr lang="en-US" sz="2600" dirty="0"/>
          </a:p>
        </p:txBody>
      </p:sp>
      <p:sp>
        <p:nvSpPr>
          <p:cNvPr id="5" name="Shape 3"/>
          <p:cNvSpPr/>
          <p:nvPr/>
        </p:nvSpPr>
        <p:spPr>
          <a:xfrm>
            <a:off x="457200" y="1600200"/>
            <a:ext cx="11247120" cy="868680"/>
          </a:xfrm>
          <a:prstGeom prst="rect">
            <a:avLst/>
          </a:prstGeom>
          <a:solidFill>
            <a:srgbClr val="F2F2F2"/>
          </a:solidFill>
          <a:ln/>
        </p:spPr>
        <p:txBody>
          <a:bodyPr/>
          <a:lstStyle/>
          <a:p>
            <a:endParaRPr lang="es-PE"/>
          </a:p>
        </p:txBody>
      </p:sp>
      <p:sp>
        <p:nvSpPr>
          <p:cNvPr id="6" name="Shape 4"/>
          <p:cNvSpPr/>
          <p:nvPr/>
        </p:nvSpPr>
        <p:spPr>
          <a:xfrm>
            <a:off x="457200" y="1600200"/>
            <a:ext cx="91440" cy="868680"/>
          </a:xfrm>
          <a:prstGeom prst="rect">
            <a:avLst/>
          </a:prstGeom>
          <a:solidFill>
            <a:srgbClr val="1A5490"/>
          </a:solidFill>
          <a:ln/>
        </p:spPr>
        <p:txBody>
          <a:bodyPr/>
          <a:lstStyle/>
          <a:p>
            <a:endParaRPr lang="es-PE"/>
          </a:p>
        </p:txBody>
      </p:sp>
      <p:sp>
        <p:nvSpPr>
          <p:cNvPr id="7" name="Text 5"/>
          <p:cNvSpPr/>
          <p:nvPr/>
        </p:nvSpPr>
        <p:spPr>
          <a:xfrm>
            <a:off x="685800" y="1737360"/>
            <a:ext cx="2560320" cy="640080"/>
          </a:xfrm>
          <a:prstGeom prst="rect">
            <a:avLst/>
          </a:prstGeom>
          <a:noFill/>
          <a:ln/>
        </p:spPr>
        <p:txBody>
          <a:bodyPr wrap="square" lIns="0" tIns="0" rIns="0" bIns="0" rtlCol="0" anchor="ctr"/>
          <a:lstStyle/>
          <a:p>
            <a:pPr marL="0" indent="0">
              <a:buNone/>
            </a:pPr>
            <a:r>
              <a:rPr lang="en-US" sz="1500" b="1" dirty="0">
                <a:solidFill>
                  <a:srgbClr val="1A5490"/>
                </a:solidFill>
                <a:latin typeface="Georgia" pitchFamily="34" charset="0"/>
                <a:ea typeface="Georgia" pitchFamily="34" charset="-122"/>
                <a:cs typeface="Georgia" pitchFamily="34" charset="-120"/>
              </a:rPr>
              <a:t>PROTECT &amp; GROW</a:t>
            </a:r>
            <a:endParaRPr lang="en-US" sz="1500" dirty="0"/>
          </a:p>
        </p:txBody>
      </p:sp>
      <p:sp>
        <p:nvSpPr>
          <p:cNvPr id="8" name="Text 6"/>
          <p:cNvSpPr/>
          <p:nvPr/>
        </p:nvSpPr>
        <p:spPr>
          <a:xfrm>
            <a:off x="3291840" y="1691640"/>
            <a:ext cx="832104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Partner dedicado + reunión mensual C-level</a:t>
            </a:r>
            <a:endParaRPr lang="en-US" sz="1050" dirty="0"/>
          </a:p>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Revisión anual Assurance + oferta proactiva de Advisory</a:t>
            </a:r>
            <a:endParaRPr lang="en-US" sz="1050" dirty="0"/>
          </a:p>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Threshold: cero pérdida tolerada · Alerta si margin &lt; 35 %</a:t>
            </a:r>
            <a:endParaRPr lang="en-US" sz="1050" dirty="0"/>
          </a:p>
        </p:txBody>
      </p:sp>
      <p:sp>
        <p:nvSpPr>
          <p:cNvPr id="9" name="Shape 7"/>
          <p:cNvSpPr/>
          <p:nvPr/>
        </p:nvSpPr>
        <p:spPr>
          <a:xfrm>
            <a:off x="457200" y="2560320"/>
            <a:ext cx="11247120" cy="868680"/>
          </a:xfrm>
          <a:prstGeom prst="rect">
            <a:avLst/>
          </a:prstGeom>
          <a:solidFill>
            <a:srgbClr val="F2F2F2"/>
          </a:solidFill>
          <a:ln/>
        </p:spPr>
        <p:txBody>
          <a:bodyPr/>
          <a:lstStyle/>
          <a:p>
            <a:endParaRPr lang="es-PE"/>
          </a:p>
        </p:txBody>
      </p:sp>
      <p:sp>
        <p:nvSpPr>
          <p:cNvPr id="10" name="Shape 8"/>
          <p:cNvSpPr/>
          <p:nvPr/>
        </p:nvSpPr>
        <p:spPr>
          <a:xfrm>
            <a:off x="457200" y="2560320"/>
            <a:ext cx="91440" cy="868680"/>
          </a:xfrm>
          <a:prstGeom prst="rect">
            <a:avLst/>
          </a:prstGeom>
          <a:solidFill>
            <a:srgbClr val="D04A02"/>
          </a:solidFill>
          <a:ln/>
        </p:spPr>
        <p:txBody>
          <a:bodyPr/>
          <a:lstStyle/>
          <a:p>
            <a:endParaRPr lang="es-PE"/>
          </a:p>
        </p:txBody>
      </p:sp>
      <p:sp>
        <p:nvSpPr>
          <p:cNvPr id="11" name="Text 9"/>
          <p:cNvSpPr/>
          <p:nvPr/>
        </p:nvSpPr>
        <p:spPr>
          <a:xfrm>
            <a:off x="685800" y="2697480"/>
            <a:ext cx="2560320" cy="640080"/>
          </a:xfrm>
          <a:prstGeom prst="rect">
            <a:avLst/>
          </a:prstGeom>
          <a:noFill/>
          <a:ln/>
        </p:spPr>
        <p:txBody>
          <a:bodyPr wrap="square" lIns="0" tIns="0" rIns="0" bIns="0" rtlCol="0" anchor="ctr"/>
          <a:lstStyle/>
          <a:p>
            <a:pPr marL="0" indent="0">
              <a:buNone/>
            </a:pPr>
            <a:r>
              <a:rPr lang="en-US" sz="1500" b="1" dirty="0">
                <a:solidFill>
                  <a:srgbClr val="D04A02"/>
                </a:solidFill>
                <a:latin typeface="Georgia" pitchFamily="34" charset="0"/>
                <a:ea typeface="Georgia" pitchFamily="34" charset="-122"/>
                <a:cs typeface="Georgia" pitchFamily="34" charset="-120"/>
              </a:rPr>
              <a:t>ACCELERATE</a:t>
            </a:r>
            <a:endParaRPr lang="en-US" sz="1500" dirty="0"/>
          </a:p>
        </p:txBody>
      </p:sp>
      <p:sp>
        <p:nvSpPr>
          <p:cNvPr id="12" name="Text 10"/>
          <p:cNvSpPr/>
          <p:nvPr/>
        </p:nvSpPr>
        <p:spPr>
          <a:xfrm>
            <a:off x="3291840" y="2651760"/>
            <a:ext cx="832104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Plan de cross-sell con 2-3 Sub-LoS nuevas en 90 días</a:t>
            </a:r>
            <a:endParaRPr lang="en-US" sz="1050" dirty="0"/>
          </a:p>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Account plan formal · Referencias internas PwC</a:t>
            </a:r>
            <a:endParaRPr lang="en-US" sz="1050" dirty="0"/>
          </a:p>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Gap promedio S/. 0.66M/cta · </a:t>
            </a:r>
            <a:r>
              <a:rPr lang="en-US" sz="1050" dirty="0" err="1">
                <a:solidFill>
                  <a:srgbClr val="333333"/>
                </a:solidFill>
                <a:latin typeface="Calibri" pitchFamily="34" charset="0"/>
                <a:ea typeface="Calibri" pitchFamily="34" charset="-122"/>
                <a:cs typeface="Calibri" pitchFamily="34" charset="-120"/>
              </a:rPr>
              <a:t>Priorizar</a:t>
            </a:r>
            <a:r>
              <a:rPr lang="en-US" sz="1050" dirty="0">
                <a:solidFill>
                  <a:srgbClr val="333333"/>
                </a:solidFill>
                <a:latin typeface="Calibri" pitchFamily="34" charset="0"/>
                <a:ea typeface="Calibri" pitchFamily="34" charset="-122"/>
                <a:cs typeface="Calibri" pitchFamily="34" charset="-120"/>
              </a:rPr>
              <a:t> Targets Altos </a:t>
            </a:r>
            <a:r>
              <a:rPr lang="en-US" sz="1050" dirty="0" err="1">
                <a:solidFill>
                  <a:srgbClr val="333333"/>
                </a:solidFill>
                <a:latin typeface="Calibri" pitchFamily="34" charset="0"/>
                <a:ea typeface="Calibri" pitchFamily="34" charset="-122"/>
                <a:cs typeface="Calibri" pitchFamily="34" charset="-120"/>
              </a:rPr>
              <a:t>Estables</a:t>
            </a:r>
            <a:endParaRPr lang="en-US" sz="1050" dirty="0"/>
          </a:p>
        </p:txBody>
      </p:sp>
      <p:sp>
        <p:nvSpPr>
          <p:cNvPr id="13" name="Shape 11"/>
          <p:cNvSpPr/>
          <p:nvPr/>
        </p:nvSpPr>
        <p:spPr>
          <a:xfrm>
            <a:off x="457200" y="3520440"/>
            <a:ext cx="11247120" cy="868680"/>
          </a:xfrm>
          <a:prstGeom prst="rect">
            <a:avLst/>
          </a:prstGeom>
          <a:solidFill>
            <a:srgbClr val="F2F2F2"/>
          </a:solidFill>
          <a:ln/>
        </p:spPr>
        <p:txBody>
          <a:bodyPr/>
          <a:lstStyle/>
          <a:p>
            <a:endParaRPr lang="es-PE"/>
          </a:p>
        </p:txBody>
      </p:sp>
      <p:sp>
        <p:nvSpPr>
          <p:cNvPr id="14" name="Shape 12"/>
          <p:cNvSpPr/>
          <p:nvPr/>
        </p:nvSpPr>
        <p:spPr>
          <a:xfrm>
            <a:off x="457200" y="3520440"/>
            <a:ext cx="91440" cy="868680"/>
          </a:xfrm>
          <a:prstGeom prst="rect">
            <a:avLst/>
          </a:prstGeom>
          <a:solidFill>
            <a:srgbClr val="4E8B9F"/>
          </a:solidFill>
          <a:ln/>
        </p:spPr>
        <p:txBody>
          <a:bodyPr/>
          <a:lstStyle/>
          <a:p>
            <a:endParaRPr lang="es-PE"/>
          </a:p>
        </p:txBody>
      </p:sp>
      <p:sp>
        <p:nvSpPr>
          <p:cNvPr id="15" name="Text 13"/>
          <p:cNvSpPr/>
          <p:nvPr/>
        </p:nvSpPr>
        <p:spPr>
          <a:xfrm>
            <a:off x="685800" y="3657600"/>
            <a:ext cx="2560320" cy="640080"/>
          </a:xfrm>
          <a:prstGeom prst="rect">
            <a:avLst/>
          </a:prstGeom>
          <a:noFill/>
          <a:ln/>
        </p:spPr>
        <p:txBody>
          <a:bodyPr wrap="square" lIns="0" tIns="0" rIns="0" bIns="0" rtlCol="0" anchor="ctr"/>
          <a:lstStyle/>
          <a:p>
            <a:pPr marL="0" indent="0">
              <a:buNone/>
            </a:pPr>
            <a:r>
              <a:rPr lang="en-US" sz="1500" b="1" dirty="0">
                <a:solidFill>
                  <a:srgbClr val="4E8B9F"/>
                </a:solidFill>
                <a:latin typeface="Georgia" pitchFamily="34" charset="0"/>
                <a:ea typeface="Georgia" pitchFamily="34" charset="-122"/>
                <a:cs typeface="Georgia" pitchFamily="34" charset="-120"/>
              </a:rPr>
              <a:t>EXPAND</a:t>
            </a:r>
            <a:endParaRPr lang="en-US" sz="1500" dirty="0"/>
          </a:p>
        </p:txBody>
      </p:sp>
      <p:sp>
        <p:nvSpPr>
          <p:cNvPr id="16" name="Text 14"/>
          <p:cNvSpPr/>
          <p:nvPr/>
        </p:nvSpPr>
        <p:spPr>
          <a:xfrm>
            <a:off x="3291840" y="3611880"/>
            <a:ext cx="832104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Campañas trimestrales Tax + Legal + IFS</a:t>
            </a:r>
            <a:endParaRPr lang="en-US" sz="1050" dirty="0"/>
          </a:p>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Workshops sectoriales · Contenido temático</a:t>
            </a:r>
            <a:endParaRPr lang="en-US" sz="1050" dirty="0"/>
          </a:p>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Target: 2+ Sub-LoS por cuenta en 12 meses</a:t>
            </a:r>
            <a:endParaRPr lang="en-US" sz="1050" dirty="0"/>
          </a:p>
        </p:txBody>
      </p:sp>
      <p:sp>
        <p:nvSpPr>
          <p:cNvPr id="17" name="Shape 15"/>
          <p:cNvSpPr/>
          <p:nvPr/>
        </p:nvSpPr>
        <p:spPr>
          <a:xfrm>
            <a:off x="457200" y="4480560"/>
            <a:ext cx="11247120" cy="868680"/>
          </a:xfrm>
          <a:prstGeom prst="rect">
            <a:avLst/>
          </a:prstGeom>
          <a:solidFill>
            <a:srgbClr val="F2F2F2"/>
          </a:solidFill>
          <a:ln/>
        </p:spPr>
        <p:txBody>
          <a:bodyPr/>
          <a:lstStyle/>
          <a:p>
            <a:endParaRPr lang="es-PE"/>
          </a:p>
        </p:txBody>
      </p:sp>
      <p:sp>
        <p:nvSpPr>
          <p:cNvPr id="18" name="Shape 16"/>
          <p:cNvSpPr/>
          <p:nvPr/>
        </p:nvSpPr>
        <p:spPr>
          <a:xfrm>
            <a:off x="457200" y="4480560"/>
            <a:ext cx="91440" cy="868680"/>
          </a:xfrm>
          <a:prstGeom prst="rect">
            <a:avLst/>
          </a:prstGeom>
          <a:solidFill>
            <a:srgbClr val="D4A843"/>
          </a:solidFill>
          <a:ln/>
        </p:spPr>
        <p:txBody>
          <a:bodyPr/>
          <a:lstStyle/>
          <a:p>
            <a:endParaRPr lang="es-PE"/>
          </a:p>
        </p:txBody>
      </p:sp>
      <p:sp>
        <p:nvSpPr>
          <p:cNvPr id="19" name="Text 17"/>
          <p:cNvSpPr/>
          <p:nvPr/>
        </p:nvSpPr>
        <p:spPr>
          <a:xfrm>
            <a:off x="685800" y="4617720"/>
            <a:ext cx="2560320" cy="640080"/>
          </a:xfrm>
          <a:prstGeom prst="rect">
            <a:avLst/>
          </a:prstGeom>
          <a:noFill/>
          <a:ln/>
        </p:spPr>
        <p:txBody>
          <a:bodyPr wrap="square" lIns="0" tIns="0" rIns="0" bIns="0" rtlCol="0" anchor="ctr"/>
          <a:lstStyle/>
          <a:p>
            <a:pPr marL="0" indent="0">
              <a:buNone/>
            </a:pPr>
            <a:r>
              <a:rPr lang="en-US" sz="1500" b="1" dirty="0">
                <a:solidFill>
                  <a:srgbClr val="D4A843"/>
                </a:solidFill>
                <a:latin typeface="Georgia" pitchFamily="34" charset="0"/>
                <a:ea typeface="Georgia" pitchFamily="34" charset="-122"/>
                <a:cs typeface="Georgia" pitchFamily="34" charset="-120"/>
              </a:rPr>
              <a:t>ACTIVATE</a:t>
            </a:r>
            <a:endParaRPr lang="en-US" sz="1500" dirty="0"/>
          </a:p>
        </p:txBody>
      </p:sp>
      <p:sp>
        <p:nvSpPr>
          <p:cNvPr id="20" name="Text 18"/>
          <p:cNvSpPr/>
          <p:nvPr/>
        </p:nvSpPr>
        <p:spPr>
          <a:xfrm>
            <a:off x="3291840" y="4572000"/>
            <a:ext cx="832104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Revisión de pricing · Margin &lt; 20 % requiere escalamiento</a:t>
            </a:r>
            <a:endParaRPr lang="en-US" sz="1050" dirty="0"/>
          </a:p>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Entrada vía Tax o Legal (menor fricción)</a:t>
            </a:r>
            <a:endParaRPr lang="en-US" sz="1050" dirty="0"/>
          </a:p>
          <a:p>
            <a:pPr marL="342900" indent="-342900">
              <a:lnSpc>
                <a:spcPct val="120000"/>
              </a:lnSpc>
              <a:buSzPct val="100000"/>
              <a:buChar char="▸"/>
            </a:pPr>
            <a:r>
              <a:rPr lang="en-US" sz="1050" dirty="0" err="1">
                <a:solidFill>
                  <a:srgbClr val="333333"/>
                </a:solidFill>
                <a:latin typeface="Calibri" pitchFamily="34" charset="0"/>
                <a:ea typeface="Calibri" pitchFamily="34" charset="-122"/>
                <a:cs typeface="Calibri" pitchFamily="34" charset="-120"/>
              </a:rPr>
              <a:t>Filtrar</a:t>
            </a:r>
            <a:r>
              <a:rPr lang="en-US" sz="1050" dirty="0">
                <a:solidFill>
                  <a:srgbClr val="333333"/>
                </a:solidFill>
                <a:latin typeface="Calibri" pitchFamily="34" charset="0"/>
                <a:ea typeface="Calibri" pitchFamily="34" charset="-122"/>
                <a:cs typeface="Calibri" pitchFamily="34" charset="-120"/>
              </a:rPr>
              <a:t> </a:t>
            </a:r>
            <a:r>
              <a:rPr lang="en-US" sz="1050" dirty="0" err="1">
                <a:solidFill>
                  <a:srgbClr val="333333"/>
                </a:solidFill>
                <a:latin typeface="Calibri" pitchFamily="34" charset="0"/>
                <a:ea typeface="Calibri" pitchFamily="34" charset="-122"/>
                <a:cs typeface="Calibri" pitchFamily="34" charset="-120"/>
              </a:rPr>
              <a:t>los</a:t>
            </a:r>
            <a:r>
              <a:rPr lang="en-US" sz="1050" dirty="0">
                <a:solidFill>
                  <a:srgbClr val="333333"/>
                </a:solidFill>
                <a:latin typeface="Calibri" pitchFamily="34" charset="0"/>
                <a:ea typeface="Calibri" pitchFamily="34" charset="-122"/>
                <a:cs typeface="Calibri" pitchFamily="34" charset="-120"/>
              </a:rPr>
              <a:t> clients con major target y </a:t>
            </a:r>
            <a:r>
              <a:rPr lang="en-US" sz="1050" dirty="0" err="1">
                <a:solidFill>
                  <a:srgbClr val="333333"/>
                </a:solidFill>
                <a:latin typeface="Calibri" pitchFamily="34" charset="0"/>
                <a:ea typeface="Calibri" pitchFamily="34" charset="-122"/>
                <a:cs typeface="Calibri" pitchFamily="34" charset="-120"/>
              </a:rPr>
              <a:t>retomar</a:t>
            </a:r>
            <a:r>
              <a:rPr lang="en-US" sz="1050" dirty="0">
                <a:solidFill>
                  <a:srgbClr val="333333"/>
                </a:solidFill>
                <a:latin typeface="Calibri" pitchFamily="34" charset="0"/>
                <a:ea typeface="Calibri" pitchFamily="34" charset="-122"/>
                <a:cs typeface="Calibri" pitchFamily="34" charset="-120"/>
              </a:rPr>
              <a:t> </a:t>
            </a:r>
            <a:r>
              <a:rPr lang="en-US" sz="1050" dirty="0" err="1">
                <a:solidFill>
                  <a:srgbClr val="333333"/>
                </a:solidFill>
                <a:latin typeface="Calibri" pitchFamily="34" charset="0"/>
                <a:ea typeface="Calibri" pitchFamily="34" charset="-122"/>
                <a:cs typeface="Calibri" pitchFamily="34" charset="-120"/>
              </a:rPr>
              <a:t>acción</a:t>
            </a:r>
            <a:r>
              <a:rPr lang="en-US" sz="1050" dirty="0">
                <a:solidFill>
                  <a:srgbClr val="333333"/>
                </a:solidFill>
                <a:latin typeface="Calibri" pitchFamily="34" charset="0"/>
                <a:ea typeface="Calibri" pitchFamily="34" charset="-122"/>
                <a:cs typeface="Calibri" pitchFamily="34" charset="-120"/>
              </a:rPr>
              <a:t> </a:t>
            </a:r>
            <a:r>
              <a:rPr lang="en-US" sz="1050" dirty="0" err="1">
                <a:solidFill>
                  <a:srgbClr val="333333"/>
                </a:solidFill>
                <a:latin typeface="Calibri" pitchFamily="34" charset="0"/>
                <a:ea typeface="Calibri" pitchFamily="34" charset="-122"/>
                <a:cs typeface="Calibri" pitchFamily="34" charset="-120"/>
              </a:rPr>
              <a:t>comercial</a:t>
            </a:r>
            <a:r>
              <a:rPr lang="en-US" sz="1050" dirty="0">
                <a:solidFill>
                  <a:srgbClr val="333333"/>
                </a:solidFill>
                <a:latin typeface="Calibri" pitchFamily="34" charset="0"/>
                <a:ea typeface="Calibri" pitchFamily="34" charset="-122"/>
                <a:cs typeface="Calibri" pitchFamily="34" charset="-120"/>
              </a:rPr>
              <a:t>.</a:t>
            </a:r>
            <a:endParaRPr lang="en-US" sz="1050" dirty="0"/>
          </a:p>
        </p:txBody>
      </p:sp>
      <p:sp>
        <p:nvSpPr>
          <p:cNvPr id="21" name="Shape 19"/>
          <p:cNvSpPr/>
          <p:nvPr/>
        </p:nvSpPr>
        <p:spPr>
          <a:xfrm>
            <a:off x="457200" y="5440680"/>
            <a:ext cx="11247120" cy="868680"/>
          </a:xfrm>
          <a:prstGeom prst="rect">
            <a:avLst/>
          </a:prstGeom>
          <a:solidFill>
            <a:srgbClr val="F2F2F2"/>
          </a:solidFill>
          <a:ln/>
        </p:spPr>
        <p:txBody>
          <a:bodyPr/>
          <a:lstStyle/>
          <a:p>
            <a:endParaRPr lang="es-PE"/>
          </a:p>
        </p:txBody>
      </p:sp>
      <p:sp>
        <p:nvSpPr>
          <p:cNvPr id="22" name="Shape 20"/>
          <p:cNvSpPr/>
          <p:nvPr/>
        </p:nvSpPr>
        <p:spPr>
          <a:xfrm>
            <a:off x="457200" y="5440680"/>
            <a:ext cx="91440" cy="868680"/>
          </a:xfrm>
          <a:prstGeom prst="rect">
            <a:avLst/>
          </a:prstGeom>
          <a:solidFill>
            <a:srgbClr val="8B7355"/>
          </a:solidFill>
          <a:ln/>
        </p:spPr>
        <p:txBody>
          <a:bodyPr/>
          <a:lstStyle/>
          <a:p>
            <a:endParaRPr lang="es-PE"/>
          </a:p>
        </p:txBody>
      </p:sp>
      <p:sp>
        <p:nvSpPr>
          <p:cNvPr id="23" name="Text 21"/>
          <p:cNvSpPr/>
          <p:nvPr/>
        </p:nvSpPr>
        <p:spPr>
          <a:xfrm>
            <a:off x="685800" y="5577840"/>
            <a:ext cx="2560320" cy="640080"/>
          </a:xfrm>
          <a:prstGeom prst="rect">
            <a:avLst/>
          </a:prstGeom>
          <a:noFill/>
          <a:ln/>
        </p:spPr>
        <p:txBody>
          <a:bodyPr wrap="square" lIns="0" tIns="0" rIns="0" bIns="0" rtlCol="0" anchor="ctr"/>
          <a:lstStyle/>
          <a:p>
            <a:pPr marL="0" indent="0">
              <a:buNone/>
            </a:pPr>
            <a:r>
              <a:rPr lang="en-US" sz="1500" b="1" dirty="0">
                <a:solidFill>
                  <a:srgbClr val="8B7355"/>
                </a:solidFill>
                <a:latin typeface="Georgia" pitchFamily="34" charset="0"/>
                <a:ea typeface="Georgia" pitchFamily="34" charset="-122"/>
                <a:cs typeface="Georgia" pitchFamily="34" charset="-120"/>
              </a:rPr>
              <a:t>QUALIFY</a:t>
            </a:r>
            <a:endParaRPr lang="en-US" sz="1500" dirty="0"/>
          </a:p>
        </p:txBody>
      </p:sp>
      <p:sp>
        <p:nvSpPr>
          <p:cNvPr id="24" name="Text 22"/>
          <p:cNvSpPr/>
          <p:nvPr/>
        </p:nvSpPr>
        <p:spPr>
          <a:xfrm>
            <a:off x="3291840" y="5532120"/>
            <a:ext cx="8321040" cy="731520"/>
          </a:xfrm>
          <a:prstGeom prst="rect">
            <a:avLst/>
          </a:prstGeom>
          <a:noFill/>
          <a:ln/>
        </p:spPr>
        <p:txBody>
          <a:bodyPr wrap="square" lIns="0" tIns="0" rIns="0" bIns="0" rtlCol="0" anchor="ctr"/>
          <a:lstStyle/>
          <a:p>
            <a:pPr marL="342900" indent="-342900">
              <a:lnSpc>
                <a:spcPct val="120000"/>
              </a:lnSpc>
              <a:buSzPct val="100000"/>
              <a:buChar char="▸"/>
            </a:pPr>
            <a:r>
              <a:rPr lang="en-US" sz="1050" dirty="0" err="1">
                <a:solidFill>
                  <a:srgbClr val="333333"/>
                </a:solidFill>
                <a:latin typeface="Calibri" pitchFamily="34" charset="0"/>
                <a:ea typeface="Calibri" pitchFamily="34" charset="-122"/>
                <a:cs typeface="Calibri" pitchFamily="34" charset="-120"/>
              </a:rPr>
              <a:t>Evaluar</a:t>
            </a:r>
            <a:r>
              <a:rPr lang="en-US" sz="1050" dirty="0">
                <a:solidFill>
                  <a:srgbClr val="333333"/>
                </a:solidFill>
                <a:latin typeface="Calibri" pitchFamily="34" charset="0"/>
                <a:ea typeface="Calibri" pitchFamily="34" charset="-122"/>
                <a:cs typeface="Calibri" pitchFamily="34" charset="-120"/>
              </a:rPr>
              <a:t> </a:t>
            </a:r>
            <a:r>
              <a:rPr lang="en-US" sz="1050" dirty="0" err="1">
                <a:solidFill>
                  <a:srgbClr val="333333"/>
                </a:solidFill>
                <a:latin typeface="Calibri" pitchFamily="34" charset="0"/>
                <a:ea typeface="Calibri" pitchFamily="34" charset="-122"/>
                <a:cs typeface="Calibri" pitchFamily="34" charset="-120"/>
              </a:rPr>
              <a:t>si</a:t>
            </a:r>
            <a:r>
              <a:rPr lang="en-US" sz="1050" dirty="0">
                <a:solidFill>
                  <a:srgbClr val="333333"/>
                </a:solidFill>
                <a:latin typeface="Calibri" pitchFamily="34" charset="0"/>
                <a:ea typeface="Calibri" pitchFamily="34" charset="-122"/>
                <a:cs typeface="Calibri" pitchFamily="34" charset="-120"/>
              </a:rPr>
              <a:t> hay </a:t>
            </a:r>
            <a:r>
              <a:rPr lang="en-US" sz="1050" dirty="0" err="1">
                <a:solidFill>
                  <a:srgbClr val="333333"/>
                </a:solidFill>
                <a:latin typeface="Calibri" pitchFamily="34" charset="0"/>
                <a:ea typeface="Calibri" pitchFamily="34" charset="-122"/>
                <a:cs typeface="Calibri" pitchFamily="34" charset="-120"/>
              </a:rPr>
              <a:t>oportunidad</a:t>
            </a:r>
            <a:r>
              <a:rPr lang="en-US" sz="1050" dirty="0">
                <a:solidFill>
                  <a:srgbClr val="333333"/>
                </a:solidFill>
                <a:latin typeface="Calibri" pitchFamily="34" charset="0"/>
                <a:ea typeface="Calibri" pitchFamily="34" charset="-122"/>
                <a:cs typeface="Calibri" pitchFamily="34" charset="-120"/>
              </a:rPr>
              <a:t> de </a:t>
            </a:r>
            <a:r>
              <a:rPr lang="en-US" sz="1050" dirty="0" err="1">
                <a:solidFill>
                  <a:srgbClr val="333333"/>
                </a:solidFill>
                <a:latin typeface="Calibri" pitchFamily="34" charset="0"/>
                <a:ea typeface="Calibri" pitchFamily="34" charset="-122"/>
                <a:cs typeface="Calibri" pitchFamily="34" charset="-120"/>
              </a:rPr>
              <a:t>venta</a:t>
            </a:r>
            <a:endParaRPr lang="en-US" sz="1050" dirty="0"/>
          </a:p>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Sin asignación Account Manager</a:t>
            </a:r>
            <a:endParaRPr lang="en-US" sz="1050" dirty="0"/>
          </a:p>
          <a:p>
            <a:pPr marL="342900" indent="-342900">
              <a:lnSpc>
                <a:spcPct val="120000"/>
              </a:lnSpc>
              <a:buSzPct val="100000"/>
              <a:buChar char="▸"/>
            </a:pPr>
            <a:r>
              <a:rPr lang="en-US" sz="1050" dirty="0">
                <a:solidFill>
                  <a:srgbClr val="333333"/>
                </a:solidFill>
                <a:latin typeface="Calibri" pitchFamily="34" charset="0"/>
                <a:ea typeface="Calibri" pitchFamily="34" charset="-122"/>
                <a:cs typeface="Calibri" pitchFamily="34" charset="-120"/>
              </a:rPr>
              <a:t>Escalar solo con signal: mkt, evento, referido</a:t>
            </a:r>
            <a:endParaRPr lang="en-US" sz="1050" dirty="0"/>
          </a:p>
        </p:txBody>
      </p:sp>
      <p:sp>
        <p:nvSpPr>
          <p:cNvPr id="25" name="Text 23"/>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26" name="Text 24"/>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27/32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Playbooks Aplicados — Cómo se ejecuta en terreno</a:t>
            </a:r>
            <a:endParaRPr lang="en-US" sz="2600" dirty="0"/>
          </a:p>
        </p:txBody>
      </p:sp>
      <p:sp>
        <p:nvSpPr>
          <p:cNvPr id="5" name="Text 3"/>
          <p:cNvSpPr/>
          <p:nvPr/>
        </p:nvSpPr>
        <p:spPr>
          <a:xfrm>
            <a:off x="457200" y="1234440"/>
            <a:ext cx="11247120" cy="41148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Para cada segmento: quién lleva la cuenta, con qué cadencia, qué se hace semana a semana en los primeros 90 días, y qué outcome concreto se espera.</a:t>
            </a:r>
            <a:endParaRPr lang="en-US" sz="1100" dirty="0"/>
          </a:p>
        </p:txBody>
      </p:sp>
      <p:sp>
        <p:nvSpPr>
          <p:cNvPr id="6" name="Shape 4"/>
          <p:cNvSpPr/>
          <p:nvPr/>
        </p:nvSpPr>
        <p:spPr>
          <a:xfrm>
            <a:off x="457200" y="1783080"/>
            <a:ext cx="2194560" cy="804672"/>
          </a:xfrm>
          <a:prstGeom prst="rect">
            <a:avLst/>
          </a:prstGeom>
          <a:solidFill>
            <a:srgbClr val="1A5490"/>
          </a:solidFill>
          <a:ln w="12700">
            <a:solidFill>
              <a:srgbClr val="333333"/>
            </a:solidFill>
            <a:prstDash val="solid"/>
          </a:ln>
        </p:spPr>
        <p:txBody>
          <a:bodyPr/>
          <a:lstStyle/>
          <a:p>
            <a:endParaRPr lang="es-PE"/>
          </a:p>
        </p:txBody>
      </p:sp>
      <p:sp>
        <p:nvSpPr>
          <p:cNvPr id="7" name="Text 5"/>
          <p:cNvSpPr/>
          <p:nvPr/>
        </p:nvSpPr>
        <p:spPr>
          <a:xfrm>
            <a:off x="502920" y="1837944"/>
            <a:ext cx="2103120" cy="256032"/>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PROTECT &amp; GROW</a:t>
            </a:r>
            <a:endParaRPr lang="en-US" sz="1100" dirty="0"/>
          </a:p>
        </p:txBody>
      </p:sp>
      <p:sp>
        <p:nvSpPr>
          <p:cNvPr id="8" name="Text 6"/>
          <p:cNvSpPr/>
          <p:nvPr/>
        </p:nvSpPr>
        <p:spPr>
          <a:xfrm>
            <a:off x="502920" y="2084832"/>
            <a:ext cx="210312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DEFENDER</a:t>
            </a:r>
            <a:endParaRPr lang="en-US" sz="900" dirty="0"/>
          </a:p>
        </p:txBody>
      </p:sp>
      <p:sp>
        <p:nvSpPr>
          <p:cNvPr id="9" name="Text 7"/>
          <p:cNvSpPr/>
          <p:nvPr/>
        </p:nvSpPr>
        <p:spPr>
          <a:xfrm>
            <a:off x="502920" y="2267712"/>
            <a:ext cx="2103120" cy="18288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Owner: Partner Líder</a:t>
            </a:r>
            <a:endParaRPr lang="en-US" sz="800" dirty="0"/>
          </a:p>
        </p:txBody>
      </p:sp>
      <p:sp>
        <p:nvSpPr>
          <p:cNvPr id="10" name="Text 8"/>
          <p:cNvSpPr/>
          <p:nvPr/>
        </p:nvSpPr>
        <p:spPr>
          <a:xfrm>
            <a:off x="502920" y="2423160"/>
            <a:ext cx="21031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Mensual C-Level · Trimestral Board</a:t>
            </a:r>
            <a:endParaRPr lang="en-US" sz="750" dirty="0"/>
          </a:p>
        </p:txBody>
      </p:sp>
      <p:sp>
        <p:nvSpPr>
          <p:cNvPr id="11" name="Shape 9"/>
          <p:cNvSpPr/>
          <p:nvPr/>
        </p:nvSpPr>
        <p:spPr>
          <a:xfrm>
            <a:off x="2697480" y="1783080"/>
            <a:ext cx="5852160" cy="804672"/>
          </a:xfrm>
          <a:prstGeom prst="rect">
            <a:avLst/>
          </a:prstGeom>
          <a:solidFill>
            <a:srgbClr val="F2F2F2"/>
          </a:solidFill>
          <a:ln w="6350">
            <a:solidFill>
              <a:srgbClr val="E5E5E5"/>
            </a:solidFill>
            <a:prstDash val="solid"/>
          </a:ln>
        </p:spPr>
        <p:txBody>
          <a:bodyPr/>
          <a:lstStyle/>
          <a:p>
            <a:endParaRPr lang="es-PE"/>
          </a:p>
        </p:txBody>
      </p:sp>
      <p:sp>
        <p:nvSpPr>
          <p:cNvPr id="12" name="Text 10"/>
          <p:cNvSpPr/>
          <p:nvPr/>
        </p:nvSpPr>
        <p:spPr>
          <a:xfrm>
            <a:off x="2788920" y="1828800"/>
            <a:ext cx="5669280" cy="201168"/>
          </a:xfrm>
          <a:prstGeom prst="rect">
            <a:avLst/>
          </a:prstGeom>
          <a:noFill/>
          <a:ln/>
        </p:spPr>
        <p:txBody>
          <a:bodyPr wrap="square" lIns="0" tIns="0" rIns="0" bIns="0" rtlCol="0" anchor="ctr"/>
          <a:lstStyle/>
          <a:p>
            <a:pPr marL="0" indent="0">
              <a:buNone/>
            </a:pPr>
            <a:r>
              <a:rPr lang="en-US" sz="900" b="1" dirty="0">
                <a:solidFill>
                  <a:srgbClr val="1A5490"/>
                </a:solidFill>
                <a:latin typeface="Georgia" pitchFamily="34" charset="0"/>
                <a:ea typeface="Georgia" pitchFamily="34" charset="-122"/>
                <a:cs typeface="Georgia" pitchFamily="34" charset="-120"/>
              </a:rPr>
              <a:t>Playbook 90 días</a:t>
            </a:r>
            <a:endParaRPr lang="en-US" sz="900" dirty="0"/>
          </a:p>
        </p:txBody>
      </p:sp>
      <p:sp>
        <p:nvSpPr>
          <p:cNvPr id="13" name="Text 11"/>
          <p:cNvSpPr/>
          <p:nvPr/>
        </p:nvSpPr>
        <p:spPr>
          <a:xfrm>
            <a:off x="2788920" y="2029968"/>
            <a:ext cx="5669280" cy="530352"/>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S1-2: Diagnóstico 360° + agenda Partner | S3-4: Reunión C-level (pain points, roadmap compliance) | M2: </a:t>
            </a:r>
            <a:r>
              <a:rPr lang="en-US" sz="850" dirty="0" err="1">
                <a:solidFill>
                  <a:srgbClr val="333333"/>
                </a:solidFill>
                <a:latin typeface="Calibri" pitchFamily="34" charset="0"/>
                <a:ea typeface="Calibri" pitchFamily="34" charset="-122"/>
                <a:cs typeface="Calibri" pitchFamily="34" charset="-120"/>
              </a:rPr>
              <a:t>Propuesta</a:t>
            </a:r>
            <a:r>
              <a:rPr lang="en-US" sz="850" dirty="0">
                <a:solidFill>
                  <a:srgbClr val="333333"/>
                </a:solidFill>
                <a:latin typeface="Calibri" pitchFamily="34" charset="0"/>
                <a:ea typeface="Calibri" pitchFamily="34" charset="-122"/>
                <a:cs typeface="Calibri" pitchFamily="34" charset="-120"/>
              </a:rPr>
              <a:t> </a:t>
            </a:r>
            <a:r>
              <a:rPr lang="en-US" sz="850" dirty="0" err="1">
                <a:solidFill>
                  <a:srgbClr val="333333"/>
                </a:solidFill>
                <a:latin typeface="Calibri" pitchFamily="34" charset="0"/>
                <a:ea typeface="Calibri" pitchFamily="34" charset="-122"/>
                <a:cs typeface="Calibri" pitchFamily="34" charset="-120"/>
              </a:rPr>
              <a:t>cruzada</a:t>
            </a:r>
            <a:r>
              <a:rPr lang="en-US" sz="850" dirty="0">
                <a:solidFill>
                  <a:srgbClr val="333333"/>
                </a:solidFill>
                <a:latin typeface="Calibri" pitchFamily="34" charset="0"/>
                <a:ea typeface="Calibri" pitchFamily="34" charset="-122"/>
                <a:cs typeface="Calibri" pitchFamily="34" charset="-120"/>
              </a:rPr>
              <a:t> | M3: Kick-off engagement adicional</a:t>
            </a:r>
            <a:endParaRPr lang="en-US" sz="850" dirty="0"/>
          </a:p>
        </p:txBody>
      </p:sp>
      <p:sp>
        <p:nvSpPr>
          <p:cNvPr id="14" name="Shape 12"/>
          <p:cNvSpPr/>
          <p:nvPr/>
        </p:nvSpPr>
        <p:spPr>
          <a:xfrm>
            <a:off x="8595360" y="1783080"/>
            <a:ext cx="3200400" cy="804672"/>
          </a:xfrm>
          <a:prstGeom prst="rect">
            <a:avLst/>
          </a:prstGeom>
          <a:solidFill>
            <a:srgbClr val="FFF3ED"/>
          </a:solidFill>
          <a:ln w="12700">
            <a:solidFill>
              <a:srgbClr val="1A5490"/>
            </a:solidFill>
            <a:prstDash val="solid"/>
          </a:ln>
        </p:spPr>
        <p:txBody>
          <a:bodyPr/>
          <a:lstStyle/>
          <a:p>
            <a:endParaRPr lang="es-PE"/>
          </a:p>
        </p:txBody>
      </p:sp>
      <p:sp>
        <p:nvSpPr>
          <p:cNvPr id="15" name="Text 13"/>
          <p:cNvSpPr/>
          <p:nvPr/>
        </p:nvSpPr>
        <p:spPr>
          <a:xfrm>
            <a:off x="8686800" y="1828800"/>
            <a:ext cx="3017520" cy="201168"/>
          </a:xfrm>
          <a:prstGeom prst="rect">
            <a:avLst/>
          </a:prstGeom>
          <a:noFill/>
          <a:ln/>
        </p:spPr>
        <p:txBody>
          <a:bodyPr wrap="square" lIns="0" tIns="0" rIns="0" bIns="0" rtlCol="0" anchor="ctr"/>
          <a:lstStyle/>
          <a:p>
            <a:pPr marL="0" indent="0">
              <a:buNone/>
            </a:pPr>
            <a:r>
              <a:rPr lang="en-US" sz="900" b="1" dirty="0">
                <a:solidFill>
                  <a:srgbClr val="1A5490"/>
                </a:solidFill>
                <a:latin typeface="Georgia" pitchFamily="34" charset="0"/>
                <a:ea typeface="Georgia" pitchFamily="34" charset="-122"/>
                <a:cs typeface="Georgia" pitchFamily="34" charset="-120"/>
              </a:rPr>
              <a:t>Outcome esperado</a:t>
            </a:r>
            <a:endParaRPr lang="en-US" sz="900" dirty="0"/>
          </a:p>
        </p:txBody>
      </p:sp>
      <p:sp>
        <p:nvSpPr>
          <p:cNvPr id="16" name="Text 14"/>
          <p:cNvSpPr/>
          <p:nvPr/>
        </p:nvSpPr>
        <p:spPr>
          <a:xfrm>
            <a:off x="8686800" y="2029968"/>
            <a:ext cx="3017520" cy="292608"/>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0% fuga · +1 engagement por cuenta en 90 d</a:t>
            </a:r>
            <a:endParaRPr lang="en-US" sz="850" dirty="0"/>
          </a:p>
        </p:txBody>
      </p:sp>
      <p:sp>
        <p:nvSpPr>
          <p:cNvPr id="17" name="Text 15"/>
          <p:cNvSpPr/>
          <p:nvPr/>
        </p:nvSpPr>
        <p:spPr>
          <a:xfrm>
            <a:off x="8686800" y="2313432"/>
            <a:ext cx="3017520" cy="292608"/>
          </a:xfrm>
          <a:prstGeom prst="rect">
            <a:avLst/>
          </a:prstGeom>
          <a:noFill/>
          <a:ln/>
        </p:spPr>
        <p:txBody>
          <a:bodyPr wrap="square" lIns="0" tIns="0" rIns="0" bIns="0" rtlCol="0" anchor="ctr"/>
          <a:lstStyle/>
          <a:p>
            <a:pPr marL="0" indent="0">
              <a:buNone/>
            </a:pPr>
            <a:r>
              <a:rPr lang="en-US" sz="750" i="1" dirty="0">
                <a:solidFill>
                  <a:srgbClr val="666666"/>
                </a:solidFill>
                <a:latin typeface="Calibri" pitchFamily="34" charset="0"/>
                <a:ea typeface="Calibri" pitchFamily="34" charset="-122"/>
                <a:cs typeface="Calibri" pitchFamily="34" charset="-120"/>
              </a:rPr>
              <a:t>Ej. Cerro Verde (S/. 3.1M · 9 SubLoS gap) → workshop ESG + Assurance ampliado</a:t>
            </a:r>
            <a:endParaRPr lang="en-US" sz="750" dirty="0"/>
          </a:p>
        </p:txBody>
      </p:sp>
      <p:sp>
        <p:nvSpPr>
          <p:cNvPr id="18" name="Shape 16"/>
          <p:cNvSpPr/>
          <p:nvPr/>
        </p:nvSpPr>
        <p:spPr>
          <a:xfrm>
            <a:off x="457200" y="2633472"/>
            <a:ext cx="2194560" cy="804672"/>
          </a:xfrm>
          <a:prstGeom prst="rect">
            <a:avLst/>
          </a:prstGeom>
          <a:solidFill>
            <a:srgbClr val="D04A02"/>
          </a:solidFill>
          <a:ln w="12700">
            <a:solidFill>
              <a:srgbClr val="333333"/>
            </a:solidFill>
            <a:prstDash val="solid"/>
          </a:ln>
        </p:spPr>
        <p:txBody>
          <a:bodyPr/>
          <a:lstStyle/>
          <a:p>
            <a:endParaRPr lang="es-PE"/>
          </a:p>
        </p:txBody>
      </p:sp>
      <p:sp>
        <p:nvSpPr>
          <p:cNvPr id="19" name="Text 17"/>
          <p:cNvSpPr/>
          <p:nvPr/>
        </p:nvSpPr>
        <p:spPr>
          <a:xfrm>
            <a:off x="502920" y="2688336"/>
            <a:ext cx="2103120" cy="256032"/>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ACCELERATE</a:t>
            </a:r>
            <a:endParaRPr lang="en-US" sz="1100" dirty="0"/>
          </a:p>
        </p:txBody>
      </p:sp>
      <p:sp>
        <p:nvSpPr>
          <p:cNvPr id="20" name="Text 18"/>
          <p:cNvSpPr/>
          <p:nvPr/>
        </p:nvSpPr>
        <p:spPr>
          <a:xfrm>
            <a:off x="502920" y="2935224"/>
            <a:ext cx="210312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ESCALAR</a:t>
            </a:r>
            <a:endParaRPr lang="en-US" sz="900" dirty="0"/>
          </a:p>
        </p:txBody>
      </p:sp>
      <p:sp>
        <p:nvSpPr>
          <p:cNvPr id="21" name="Text 19"/>
          <p:cNvSpPr/>
          <p:nvPr/>
        </p:nvSpPr>
        <p:spPr>
          <a:xfrm>
            <a:off x="502920" y="3118104"/>
            <a:ext cx="2103120" cy="18288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Owner: Senior Manager + Partner sponsor</a:t>
            </a:r>
            <a:endParaRPr lang="en-US" sz="800" dirty="0"/>
          </a:p>
        </p:txBody>
      </p:sp>
      <p:sp>
        <p:nvSpPr>
          <p:cNvPr id="22" name="Text 20"/>
          <p:cNvSpPr/>
          <p:nvPr/>
        </p:nvSpPr>
        <p:spPr>
          <a:xfrm>
            <a:off x="502920" y="3273552"/>
            <a:ext cx="21031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Quincenal Account Plan · Mensual Partner</a:t>
            </a:r>
            <a:endParaRPr lang="en-US" sz="750" dirty="0"/>
          </a:p>
        </p:txBody>
      </p:sp>
      <p:sp>
        <p:nvSpPr>
          <p:cNvPr id="23" name="Shape 21"/>
          <p:cNvSpPr/>
          <p:nvPr/>
        </p:nvSpPr>
        <p:spPr>
          <a:xfrm>
            <a:off x="2697480" y="2633472"/>
            <a:ext cx="5852160" cy="804672"/>
          </a:xfrm>
          <a:prstGeom prst="rect">
            <a:avLst/>
          </a:prstGeom>
          <a:solidFill>
            <a:srgbClr val="F2F2F2"/>
          </a:solidFill>
          <a:ln w="6350">
            <a:solidFill>
              <a:srgbClr val="E5E5E5"/>
            </a:solidFill>
            <a:prstDash val="solid"/>
          </a:ln>
        </p:spPr>
        <p:txBody>
          <a:bodyPr/>
          <a:lstStyle/>
          <a:p>
            <a:endParaRPr lang="es-PE"/>
          </a:p>
        </p:txBody>
      </p:sp>
      <p:sp>
        <p:nvSpPr>
          <p:cNvPr id="24" name="Text 22"/>
          <p:cNvSpPr/>
          <p:nvPr/>
        </p:nvSpPr>
        <p:spPr>
          <a:xfrm>
            <a:off x="2788920" y="2679192"/>
            <a:ext cx="5669280" cy="201168"/>
          </a:xfrm>
          <a:prstGeom prst="rect">
            <a:avLst/>
          </a:prstGeom>
          <a:noFill/>
          <a:ln/>
        </p:spPr>
        <p:txBody>
          <a:bodyPr wrap="square" lIns="0" tIns="0" rIns="0" bIns="0" rtlCol="0" anchor="ctr"/>
          <a:lstStyle/>
          <a:p>
            <a:pPr marL="0" indent="0">
              <a:buNone/>
            </a:pPr>
            <a:r>
              <a:rPr lang="en-US" sz="900" b="1" dirty="0">
                <a:solidFill>
                  <a:srgbClr val="D04A02"/>
                </a:solidFill>
                <a:latin typeface="Georgia" pitchFamily="34" charset="0"/>
                <a:ea typeface="Georgia" pitchFamily="34" charset="-122"/>
                <a:cs typeface="Georgia" pitchFamily="34" charset="-120"/>
              </a:rPr>
              <a:t>Playbook 90 días</a:t>
            </a:r>
            <a:endParaRPr lang="en-US" sz="900" dirty="0"/>
          </a:p>
        </p:txBody>
      </p:sp>
      <p:sp>
        <p:nvSpPr>
          <p:cNvPr id="25" name="Text 23"/>
          <p:cNvSpPr/>
          <p:nvPr/>
        </p:nvSpPr>
        <p:spPr>
          <a:xfrm>
            <a:off x="2788920" y="2880360"/>
            <a:ext cx="5669280" cy="530352"/>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S1: Account plan formal (objetivo 2-3 SubLoS) | S2-4: Roadshow interno (Tax/Advisory/IFS teams) | M2: 3 propuestas cruzadas emitidas | M3: 1 cross-sell cerrado + 1 en pipeline</a:t>
            </a:r>
            <a:endParaRPr lang="en-US" sz="850" dirty="0"/>
          </a:p>
        </p:txBody>
      </p:sp>
      <p:sp>
        <p:nvSpPr>
          <p:cNvPr id="26" name="Shape 24"/>
          <p:cNvSpPr/>
          <p:nvPr/>
        </p:nvSpPr>
        <p:spPr>
          <a:xfrm>
            <a:off x="8595360" y="2633472"/>
            <a:ext cx="3200400" cy="804672"/>
          </a:xfrm>
          <a:prstGeom prst="rect">
            <a:avLst/>
          </a:prstGeom>
          <a:solidFill>
            <a:srgbClr val="FFF3ED"/>
          </a:solidFill>
          <a:ln w="12700">
            <a:solidFill>
              <a:srgbClr val="D04A02"/>
            </a:solidFill>
            <a:prstDash val="solid"/>
          </a:ln>
        </p:spPr>
        <p:txBody>
          <a:bodyPr/>
          <a:lstStyle/>
          <a:p>
            <a:endParaRPr lang="es-PE"/>
          </a:p>
        </p:txBody>
      </p:sp>
      <p:sp>
        <p:nvSpPr>
          <p:cNvPr id="27" name="Text 25"/>
          <p:cNvSpPr/>
          <p:nvPr/>
        </p:nvSpPr>
        <p:spPr>
          <a:xfrm>
            <a:off x="8686800" y="2679192"/>
            <a:ext cx="3017520" cy="201168"/>
          </a:xfrm>
          <a:prstGeom prst="rect">
            <a:avLst/>
          </a:prstGeom>
          <a:noFill/>
          <a:ln/>
        </p:spPr>
        <p:txBody>
          <a:bodyPr wrap="square" lIns="0" tIns="0" rIns="0" bIns="0" rtlCol="0" anchor="ctr"/>
          <a:lstStyle/>
          <a:p>
            <a:pPr marL="0" indent="0">
              <a:buNone/>
            </a:pPr>
            <a:r>
              <a:rPr lang="en-US" sz="900" b="1" dirty="0">
                <a:solidFill>
                  <a:srgbClr val="D04A02"/>
                </a:solidFill>
                <a:latin typeface="Georgia" pitchFamily="34" charset="0"/>
                <a:ea typeface="Georgia" pitchFamily="34" charset="-122"/>
                <a:cs typeface="Georgia" pitchFamily="34" charset="-120"/>
              </a:rPr>
              <a:t>Outcome esperado</a:t>
            </a:r>
            <a:endParaRPr lang="en-US" sz="900" dirty="0"/>
          </a:p>
        </p:txBody>
      </p:sp>
      <p:sp>
        <p:nvSpPr>
          <p:cNvPr id="28" name="Text 26"/>
          <p:cNvSpPr/>
          <p:nvPr/>
        </p:nvSpPr>
        <p:spPr>
          <a:xfrm>
            <a:off x="8686800" y="2880360"/>
            <a:ext cx="3017520" cy="292608"/>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Upsell S/. 0.7M/cta · conversión 40% Tasa de </a:t>
            </a:r>
            <a:r>
              <a:rPr lang="en-US" sz="850" b="1" dirty="0" err="1">
                <a:solidFill>
                  <a:srgbClr val="333333"/>
                </a:solidFill>
                <a:latin typeface="Calibri" pitchFamily="34" charset="0"/>
                <a:ea typeface="Calibri" pitchFamily="34" charset="-122"/>
                <a:cs typeface="Calibri" pitchFamily="34" charset="-120"/>
              </a:rPr>
              <a:t>Éxito</a:t>
            </a:r>
            <a:endParaRPr lang="en-US" sz="850" dirty="0"/>
          </a:p>
        </p:txBody>
      </p:sp>
      <p:sp>
        <p:nvSpPr>
          <p:cNvPr id="29" name="Text 27"/>
          <p:cNvSpPr/>
          <p:nvPr/>
        </p:nvSpPr>
        <p:spPr>
          <a:xfrm>
            <a:off x="8686800" y="3163824"/>
            <a:ext cx="3017520" cy="292608"/>
          </a:xfrm>
          <a:prstGeom prst="rect">
            <a:avLst/>
          </a:prstGeom>
          <a:noFill/>
          <a:ln/>
        </p:spPr>
        <p:txBody>
          <a:bodyPr wrap="square" lIns="0" tIns="0" rIns="0" bIns="0" rtlCol="0" anchor="ctr"/>
          <a:lstStyle/>
          <a:p>
            <a:pPr marL="0" indent="0">
              <a:buNone/>
            </a:pPr>
            <a:r>
              <a:rPr lang="en-US" sz="750" i="1" dirty="0">
                <a:solidFill>
                  <a:srgbClr val="666666"/>
                </a:solidFill>
                <a:latin typeface="Calibri" pitchFamily="34" charset="0"/>
                <a:ea typeface="Calibri" pitchFamily="34" charset="-122"/>
                <a:cs typeface="Calibri" pitchFamily="34" charset="-120"/>
              </a:rPr>
              <a:t>Ej. Alfin Banco (ratio upsell/rev 3×) → paquete Tax+Advisory</a:t>
            </a:r>
            <a:endParaRPr lang="en-US" sz="750" dirty="0"/>
          </a:p>
        </p:txBody>
      </p:sp>
      <p:sp>
        <p:nvSpPr>
          <p:cNvPr id="30" name="Shape 28"/>
          <p:cNvSpPr/>
          <p:nvPr/>
        </p:nvSpPr>
        <p:spPr>
          <a:xfrm>
            <a:off x="457200" y="3483864"/>
            <a:ext cx="2194560" cy="804672"/>
          </a:xfrm>
          <a:prstGeom prst="rect">
            <a:avLst/>
          </a:prstGeom>
          <a:solidFill>
            <a:srgbClr val="4E8B9F"/>
          </a:solidFill>
          <a:ln w="12700">
            <a:solidFill>
              <a:srgbClr val="333333"/>
            </a:solidFill>
            <a:prstDash val="solid"/>
          </a:ln>
        </p:spPr>
        <p:txBody>
          <a:bodyPr/>
          <a:lstStyle/>
          <a:p>
            <a:endParaRPr lang="es-PE"/>
          </a:p>
        </p:txBody>
      </p:sp>
      <p:sp>
        <p:nvSpPr>
          <p:cNvPr id="31" name="Text 29"/>
          <p:cNvSpPr/>
          <p:nvPr/>
        </p:nvSpPr>
        <p:spPr>
          <a:xfrm>
            <a:off x="502920" y="3538728"/>
            <a:ext cx="2103120" cy="256032"/>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EXPAND</a:t>
            </a:r>
            <a:endParaRPr lang="en-US" sz="1100" dirty="0"/>
          </a:p>
        </p:txBody>
      </p:sp>
      <p:sp>
        <p:nvSpPr>
          <p:cNvPr id="32" name="Text 30"/>
          <p:cNvSpPr/>
          <p:nvPr/>
        </p:nvSpPr>
        <p:spPr>
          <a:xfrm>
            <a:off x="502920" y="3785616"/>
            <a:ext cx="210312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AMPLIAR</a:t>
            </a:r>
            <a:endParaRPr lang="en-US" sz="900" dirty="0"/>
          </a:p>
        </p:txBody>
      </p:sp>
      <p:sp>
        <p:nvSpPr>
          <p:cNvPr id="33" name="Text 31"/>
          <p:cNvSpPr/>
          <p:nvPr/>
        </p:nvSpPr>
        <p:spPr>
          <a:xfrm>
            <a:off x="502920" y="3968496"/>
            <a:ext cx="2103120" cy="18288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Owner: Account Manager · equipo compartido</a:t>
            </a:r>
            <a:endParaRPr lang="en-US" sz="800" dirty="0"/>
          </a:p>
        </p:txBody>
      </p:sp>
      <p:sp>
        <p:nvSpPr>
          <p:cNvPr id="34" name="Text 32"/>
          <p:cNvSpPr/>
          <p:nvPr/>
        </p:nvSpPr>
        <p:spPr>
          <a:xfrm>
            <a:off x="502920" y="4123944"/>
            <a:ext cx="21031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Mensual AM · Trimestral Senior Manager</a:t>
            </a:r>
            <a:endParaRPr lang="en-US" sz="750" dirty="0"/>
          </a:p>
        </p:txBody>
      </p:sp>
      <p:sp>
        <p:nvSpPr>
          <p:cNvPr id="35" name="Shape 33"/>
          <p:cNvSpPr/>
          <p:nvPr/>
        </p:nvSpPr>
        <p:spPr>
          <a:xfrm>
            <a:off x="2697480" y="3483864"/>
            <a:ext cx="5852160" cy="804672"/>
          </a:xfrm>
          <a:prstGeom prst="rect">
            <a:avLst/>
          </a:prstGeom>
          <a:solidFill>
            <a:srgbClr val="F2F2F2"/>
          </a:solidFill>
          <a:ln w="6350">
            <a:solidFill>
              <a:srgbClr val="E5E5E5"/>
            </a:solidFill>
            <a:prstDash val="solid"/>
          </a:ln>
        </p:spPr>
        <p:txBody>
          <a:bodyPr/>
          <a:lstStyle/>
          <a:p>
            <a:endParaRPr lang="es-PE"/>
          </a:p>
        </p:txBody>
      </p:sp>
      <p:sp>
        <p:nvSpPr>
          <p:cNvPr id="36" name="Text 34"/>
          <p:cNvSpPr/>
          <p:nvPr/>
        </p:nvSpPr>
        <p:spPr>
          <a:xfrm>
            <a:off x="2788920" y="3529584"/>
            <a:ext cx="5669280" cy="201168"/>
          </a:xfrm>
          <a:prstGeom prst="rect">
            <a:avLst/>
          </a:prstGeom>
          <a:noFill/>
          <a:ln/>
        </p:spPr>
        <p:txBody>
          <a:bodyPr wrap="square" lIns="0" tIns="0" rIns="0" bIns="0" rtlCol="0" anchor="ctr"/>
          <a:lstStyle/>
          <a:p>
            <a:pPr marL="0" indent="0">
              <a:buNone/>
            </a:pPr>
            <a:r>
              <a:rPr lang="en-US" sz="900" b="1" dirty="0">
                <a:solidFill>
                  <a:srgbClr val="4E8B9F"/>
                </a:solidFill>
                <a:latin typeface="Georgia" pitchFamily="34" charset="0"/>
                <a:ea typeface="Georgia" pitchFamily="34" charset="-122"/>
                <a:cs typeface="Georgia" pitchFamily="34" charset="-120"/>
              </a:rPr>
              <a:t>Playbook 90 días</a:t>
            </a:r>
            <a:endParaRPr lang="en-US" sz="900" dirty="0"/>
          </a:p>
        </p:txBody>
      </p:sp>
      <p:sp>
        <p:nvSpPr>
          <p:cNvPr id="37" name="Text 35"/>
          <p:cNvSpPr/>
          <p:nvPr/>
        </p:nvSpPr>
        <p:spPr>
          <a:xfrm>
            <a:off x="2788920" y="3730752"/>
            <a:ext cx="5669280" cy="530352"/>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S1-2: Segmentación micro por industria | S3-4: Campaña sectorial (Tax+Legal workshops) | M2: 5 warm calls cruzadas | M3: mínimo 2 SubLoS nuevas abiertas</a:t>
            </a:r>
            <a:endParaRPr lang="en-US" sz="850" dirty="0"/>
          </a:p>
        </p:txBody>
      </p:sp>
      <p:sp>
        <p:nvSpPr>
          <p:cNvPr id="38" name="Shape 36"/>
          <p:cNvSpPr/>
          <p:nvPr/>
        </p:nvSpPr>
        <p:spPr>
          <a:xfrm>
            <a:off x="8595360" y="3483864"/>
            <a:ext cx="3200400" cy="804672"/>
          </a:xfrm>
          <a:prstGeom prst="rect">
            <a:avLst/>
          </a:prstGeom>
          <a:solidFill>
            <a:srgbClr val="FFF3ED"/>
          </a:solidFill>
          <a:ln w="12700">
            <a:solidFill>
              <a:srgbClr val="4E8B9F"/>
            </a:solidFill>
            <a:prstDash val="solid"/>
          </a:ln>
        </p:spPr>
        <p:txBody>
          <a:bodyPr/>
          <a:lstStyle/>
          <a:p>
            <a:endParaRPr lang="es-PE"/>
          </a:p>
        </p:txBody>
      </p:sp>
      <p:sp>
        <p:nvSpPr>
          <p:cNvPr id="39" name="Text 37"/>
          <p:cNvSpPr/>
          <p:nvPr/>
        </p:nvSpPr>
        <p:spPr>
          <a:xfrm>
            <a:off x="8686800" y="3529584"/>
            <a:ext cx="3017520" cy="201168"/>
          </a:xfrm>
          <a:prstGeom prst="rect">
            <a:avLst/>
          </a:prstGeom>
          <a:noFill/>
          <a:ln/>
        </p:spPr>
        <p:txBody>
          <a:bodyPr wrap="square" lIns="0" tIns="0" rIns="0" bIns="0" rtlCol="0" anchor="ctr"/>
          <a:lstStyle/>
          <a:p>
            <a:pPr marL="0" indent="0">
              <a:buNone/>
            </a:pPr>
            <a:r>
              <a:rPr lang="en-US" sz="900" b="1" dirty="0">
                <a:solidFill>
                  <a:srgbClr val="4E8B9F"/>
                </a:solidFill>
                <a:latin typeface="Georgia" pitchFamily="34" charset="0"/>
                <a:ea typeface="Georgia" pitchFamily="34" charset="-122"/>
                <a:cs typeface="Georgia" pitchFamily="34" charset="-120"/>
              </a:rPr>
              <a:t>Outcome esperado</a:t>
            </a:r>
            <a:endParaRPr lang="en-US" sz="900" dirty="0"/>
          </a:p>
        </p:txBody>
      </p:sp>
      <p:sp>
        <p:nvSpPr>
          <p:cNvPr id="40" name="Text 38"/>
          <p:cNvSpPr/>
          <p:nvPr/>
        </p:nvSpPr>
        <p:spPr>
          <a:xfrm>
            <a:off x="8686800" y="3730752"/>
            <a:ext cx="3017520" cy="292608"/>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Cobertura SubLoS +0.8 cta promedio · S/. 437K upsell/cta</a:t>
            </a:r>
            <a:endParaRPr lang="en-US" sz="850" dirty="0"/>
          </a:p>
        </p:txBody>
      </p:sp>
      <p:sp>
        <p:nvSpPr>
          <p:cNvPr id="41" name="Text 39"/>
          <p:cNvSpPr/>
          <p:nvPr/>
        </p:nvSpPr>
        <p:spPr>
          <a:xfrm>
            <a:off x="8686800" y="4014216"/>
            <a:ext cx="3017520" cy="292608"/>
          </a:xfrm>
          <a:prstGeom prst="rect">
            <a:avLst/>
          </a:prstGeom>
          <a:noFill/>
          <a:ln/>
        </p:spPr>
        <p:txBody>
          <a:bodyPr wrap="square" lIns="0" tIns="0" rIns="0" bIns="0" rtlCol="0" anchor="ctr"/>
          <a:lstStyle/>
          <a:p>
            <a:pPr marL="0" indent="0">
              <a:buNone/>
            </a:pPr>
            <a:r>
              <a:rPr lang="en-US" sz="750" i="1" dirty="0">
                <a:solidFill>
                  <a:srgbClr val="666666"/>
                </a:solidFill>
                <a:latin typeface="Calibri" pitchFamily="34" charset="0"/>
                <a:ea typeface="Calibri" pitchFamily="34" charset="-122"/>
                <a:cs typeface="Calibri" pitchFamily="34" charset="-120"/>
              </a:rPr>
              <a:t>Ej. BASF Peruana (11 SubLoS missing) → workshop industria química</a:t>
            </a:r>
            <a:endParaRPr lang="en-US" sz="750" dirty="0"/>
          </a:p>
        </p:txBody>
      </p:sp>
      <p:sp>
        <p:nvSpPr>
          <p:cNvPr id="42" name="Shape 40"/>
          <p:cNvSpPr/>
          <p:nvPr/>
        </p:nvSpPr>
        <p:spPr>
          <a:xfrm>
            <a:off x="457200" y="4334256"/>
            <a:ext cx="2194560" cy="804672"/>
          </a:xfrm>
          <a:prstGeom prst="rect">
            <a:avLst/>
          </a:prstGeom>
          <a:solidFill>
            <a:srgbClr val="D4A843"/>
          </a:solidFill>
          <a:ln w="12700">
            <a:solidFill>
              <a:srgbClr val="333333"/>
            </a:solidFill>
            <a:prstDash val="solid"/>
          </a:ln>
        </p:spPr>
        <p:txBody>
          <a:bodyPr/>
          <a:lstStyle/>
          <a:p>
            <a:endParaRPr lang="es-PE"/>
          </a:p>
        </p:txBody>
      </p:sp>
      <p:sp>
        <p:nvSpPr>
          <p:cNvPr id="43" name="Text 41"/>
          <p:cNvSpPr/>
          <p:nvPr/>
        </p:nvSpPr>
        <p:spPr>
          <a:xfrm>
            <a:off x="502920" y="4389120"/>
            <a:ext cx="2103120" cy="256032"/>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ACTIVATE</a:t>
            </a:r>
            <a:endParaRPr lang="en-US" sz="1100" dirty="0"/>
          </a:p>
        </p:txBody>
      </p:sp>
      <p:sp>
        <p:nvSpPr>
          <p:cNvPr id="44" name="Text 42"/>
          <p:cNvSpPr/>
          <p:nvPr/>
        </p:nvSpPr>
        <p:spPr>
          <a:xfrm>
            <a:off x="502920" y="4636008"/>
            <a:ext cx="210312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ACTIVAR</a:t>
            </a:r>
            <a:endParaRPr lang="en-US" sz="900" dirty="0"/>
          </a:p>
        </p:txBody>
      </p:sp>
      <p:sp>
        <p:nvSpPr>
          <p:cNvPr id="45" name="Text 43"/>
          <p:cNvSpPr/>
          <p:nvPr/>
        </p:nvSpPr>
        <p:spPr>
          <a:xfrm>
            <a:off x="502920" y="4818888"/>
            <a:ext cx="2103120" cy="18288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Owner: Business Developer · sin AM asignado</a:t>
            </a:r>
            <a:endParaRPr lang="en-US" sz="800" dirty="0"/>
          </a:p>
        </p:txBody>
      </p:sp>
      <p:sp>
        <p:nvSpPr>
          <p:cNvPr id="46" name="Text 44"/>
          <p:cNvSpPr/>
          <p:nvPr/>
        </p:nvSpPr>
        <p:spPr>
          <a:xfrm>
            <a:off x="502920" y="4974336"/>
            <a:ext cx="21031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Quincenal BD · Mensual Manager</a:t>
            </a:r>
            <a:endParaRPr lang="en-US" sz="750" dirty="0"/>
          </a:p>
        </p:txBody>
      </p:sp>
      <p:sp>
        <p:nvSpPr>
          <p:cNvPr id="47" name="Shape 45"/>
          <p:cNvSpPr/>
          <p:nvPr/>
        </p:nvSpPr>
        <p:spPr>
          <a:xfrm>
            <a:off x="2697480" y="4334256"/>
            <a:ext cx="5852160" cy="804672"/>
          </a:xfrm>
          <a:prstGeom prst="rect">
            <a:avLst/>
          </a:prstGeom>
          <a:solidFill>
            <a:srgbClr val="F2F2F2"/>
          </a:solidFill>
          <a:ln w="6350">
            <a:solidFill>
              <a:srgbClr val="E5E5E5"/>
            </a:solidFill>
            <a:prstDash val="solid"/>
          </a:ln>
        </p:spPr>
        <p:txBody>
          <a:bodyPr/>
          <a:lstStyle/>
          <a:p>
            <a:endParaRPr lang="es-PE"/>
          </a:p>
        </p:txBody>
      </p:sp>
      <p:sp>
        <p:nvSpPr>
          <p:cNvPr id="48" name="Text 46"/>
          <p:cNvSpPr/>
          <p:nvPr/>
        </p:nvSpPr>
        <p:spPr>
          <a:xfrm>
            <a:off x="2788920" y="4379976"/>
            <a:ext cx="5669280" cy="201168"/>
          </a:xfrm>
          <a:prstGeom prst="rect">
            <a:avLst/>
          </a:prstGeom>
          <a:noFill/>
          <a:ln/>
        </p:spPr>
        <p:txBody>
          <a:bodyPr wrap="square" lIns="0" tIns="0" rIns="0" bIns="0" rtlCol="0" anchor="ctr"/>
          <a:lstStyle/>
          <a:p>
            <a:pPr marL="0" indent="0">
              <a:buNone/>
            </a:pPr>
            <a:r>
              <a:rPr lang="en-US" sz="900" b="1" dirty="0">
                <a:solidFill>
                  <a:srgbClr val="D4A843"/>
                </a:solidFill>
                <a:latin typeface="Georgia" pitchFamily="34" charset="0"/>
                <a:ea typeface="Georgia" pitchFamily="34" charset="-122"/>
                <a:cs typeface="Georgia" pitchFamily="34" charset="-120"/>
              </a:rPr>
              <a:t>Playbook 90 días</a:t>
            </a:r>
            <a:endParaRPr lang="en-US" sz="900" dirty="0"/>
          </a:p>
        </p:txBody>
      </p:sp>
      <p:sp>
        <p:nvSpPr>
          <p:cNvPr id="49" name="Text 47"/>
          <p:cNvSpPr/>
          <p:nvPr/>
        </p:nvSpPr>
        <p:spPr>
          <a:xfrm>
            <a:off x="2788920" y="4581144"/>
            <a:ext cx="5669280" cy="530352"/>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S1: </a:t>
            </a:r>
            <a:r>
              <a:rPr lang="en-US" sz="850" dirty="0" err="1">
                <a:solidFill>
                  <a:srgbClr val="333333"/>
                </a:solidFill>
                <a:latin typeface="Calibri" pitchFamily="34" charset="0"/>
                <a:ea typeface="Calibri" pitchFamily="34" charset="-122"/>
                <a:cs typeface="Calibri" pitchFamily="34" charset="-120"/>
              </a:rPr>
              <a:t>Auditoría</a:t>
            </a:r>
            <a:r>
              <a:rPr lang="en-US" sz="850" dirty="0">
                <a:solidFill>
                  <a:srgbClr val="333333"/>
                </a:solidFill>
                <a:latin typeface="Calibri" pitchFamily="34" charset="0"/>
                <a:ea typeface="Calibri" pitchFamily="34" charset="-122"/>
                <a:cs typeface="Calibri" pitchFamily="34" charset="-120"/>
              </a:rPr>
              <a:t> (margin &lt;20%) | S2: </a:t>
            </a:r>
            <a:r>
              <a:rPr lang="en-US" sz="850" dirty="0" err="1">
                <a:solidFill>
                  <a:srgbClr val="333333"/>
                </a:solidFill>
                <a:latin typeface="Calibri" pitchFamily="34" charset="0"/>
                <a:ea typeface="Calibri" pitchFamily="34" charset="-122"/>
                <a:cs typeface="Calibri" pitchFamily="34" charset="-120"/>
              </a:rPr>
              <a:t>Diagnóstico</a:t>
            </a:r>
            <a:r>
              <a:rPr lang="en-US" sz="850" dirty="0">
                <a:solidFill>
                  <a:srgbClr val="333333"/>
                </a:solidFill>
                <a:latin typeface="Calibri" pitchFamily="34" charset="0"/>
                <a:ea typeface="Calibri" pitchFamily="34" charset="-122"/>
                <a:cs typeface="Calibri" pitchFamily="34" charset="-120"/>
              </a:rPr>
              <a:t> Target Score (Altos) | S3-4: </a:t>
            </a:r>
            <a:r>
              <a:rPr lang="en-US" sz="850" dirty="0" err="1">
                <a:solidFill>
                  <a:srgbClr val="333333"/>
                </a:solidFill>
                <a:latin typeface="Calibri" pitchFamily="34" charset="0"/>
                <a:ea typeface="Calibri" pitchFamily="34" charset="-122"/>
                <a:cs typeface="Calibri" pitchFamily="34" charset="-120"/>
              </a:rPr>
              <a:t>Revisión</a:t>
            </a:r>
            <a:r>
              <a:rPr lang="en-US" sz="850" dirty="0">
                <a:solidFill>
                  <a:srgbClr val="333333"/>
                </a:solidFill>
                <a:latin typeface="Calibri" pitchFamily="34" charset="0"/>
                <a:ea typeface="Calibri" pitchFamily="34" charset="-122"/>
                <a:cs typeface="Calibri" pitchFamily="34" charset="-120"/>
              </a:rPr>
              <a:t> de Negocios (QBR) con hallazgos | M2: Re-segmentar (sube a EXPAND si tracción) | M3: Decisión mantener o cerrar</a:t>
            </a:r>
            <a:endParaRPr lang="en-US" sz="850" dirty="0"/>
          </a:p>
        </p:txBody>
      </p:sp>
      <p:sp>
        <p:nvSpPr>
          <p:cNvPr id="50" name="Shape 48"/>
          <p:cNvSpPr/>
          <p:nvPr/>
        </p:nvSpPr>
        <p:spPr>
          <a:xfrm>
            <a:off x="8595360" y="4334256"/>
            <a:ext cx="3200400" cy="804672"/>
          </a:xfrm>
          <a:prstGeom prst="rect">
            <a:avLst/>
          </a:prstGeom>
          <a:solidFill>
            <a:srgbClr val="FFF3ED"/>
          </a:solidFill>
          <a:ln w="12700">
            <a:solidFill>
              <a:srgbClr val="D4A843"/>
            </a:solidFill>
            <a:prstDash val="solid"/>
          </a:ln>
        </p:spPr>
        <p:txBody>
          <a:bodyPr/>
          <a:lstStyle/>
          <a:p>
            <a:endParaRPr lang="es-PE"/>
          </a:p>
        </p:txBody>
      </p:sp>
      <p:sp>
        <p:nvSpPr>
          <p:cNvPr id="51" name="Text 49"/>
          <p:cNvSpPr/>
          <p:nvPr/>
        </p:nvSpPr>
        <p:spPr>
          <a:xfrm>
            <a:off x="8686800" y="4379976"/>
            <a:ext cx="3017520" cy="201168"/>
          </a:xfrm>
          <a:prstGeom prst="rect">
            <a:avLst/>
          </a:prstGeom>
          <a:noFill/>
          <a:ln/>
        </p:spPr>
        <p:txBody>
          <a:bodyPr wrap="square" lIns="0" tIns="0" rIns="0" bIns="0" rtlCol="0" anchor="ctr"/>
          <a:lstStyle/>
          <a:p>
            <a:pPr marL="0" indent="0">
              <a:buNone/>
            </a:pPr>
            <a:r>
              <a:rPr lang="en-US" sz="900" b="1" dirty="0">
                <a:solidFill>
                  <a:srgbClr val="D4A843"/>
                </a:solidFill>
                <a:latin typeface="Georgia" pitchFamily="34" charset="0"/>
                <a:ea typeface="Georgia" pitchFamily="34" charset="-122"/>
                <a:cs typeface="Georgia" pitchFamily="34" charset="-120"/>
              </a:rPr>
              <a:t>Outcome esperado</a:t>
            </a:r>
            <a:endParaRPr lang="en-US" sz="900" dirty="0"/>
          </a:p>
        </p:txBody>
      </p:sp>
      <p:sp>
        <p:nvSpPr>
          <p:cNvPr id="52" name="Text 50"/>
          <p:cNvSpPr/>
          <p:nvPr/>
        </p:nvSpPr>
        <p:spPr>
          <a:xfrm>
            <a:off x="8686800" y="4581144"/>
            <a:ext cx="3017520" cy="292608"/>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25% mueve a EXPAND · resto → QUALIFY (Develop)</a:t>
            </a:r>
            <a:endParaRPr lang="en-US" sz="850" dirty="0"/>
          </a:p>
        </p:txBody>
      </p:sp>
      <p:sp>
        <p:nvSpPr>
          <p:cNvPr id="53" name="Text 51"/>
          <p:cNvSpPr/>
          <p:nvPr/>
        </p:nvSpPr>
        <p:spPr>
          <a:xfrm>
            <a:off x="8686800" y="4864608"/>
            <a:ext cx="3017520" cy="292608"/>
          </a:xfrm>
          <a:prstGeom prst="rect">
            <a:avLst/>
          </a:prstGeom>
          <a:noFill/>
          <a:ln/>
        </p:spPr>
        <p:txBody>
          <a:bodyPr wrap="square" lIns="0" tIns="0" rIns="0" bIns="0" rtlCol="0" anchor="ctr"/>
          <a:lstStyle/>
          <a:p>
            <a:pPr marL="0" indent="0">
              <a:buNone/>
            </a:pPr>
            <a:r>
              <a:rPr lang="en-US" sz="750" i="1" dirty="0">
                <a:solidFill>
                  <a:srgbClr val="666666"/>
                </a:solidFill>
                <a:latin typeface="Calibri" pitchFamily="34" charset="0"/>
                <a:ea typeface="Calibri" pitchFamily="34" charset="-122"/>
                <a:cs typeface="Calibri" pitchFamily="34" charset="-120"/>
              </a:rPr>
              <a:t>Ej. ACTIVATE con 34 alertas altas → priorizar por revenue &gt;S/.100K</a:t>
            </a:r>
            <a:endParaRPr lang="en-US" sz="750" dirty="0"/>
          </a:p>
        </p:txBody>
      </p:sp>
      <p:sp>
        <p:nvSpPr>
          <p:cNvPr id="54" name="Shape 52"/>
          <p:cNvSpPr/>
          <p:nvPr/>
        </p:nvSpPr>
        <p:spPr>
          <a:xfrm>
            <a:off x="457200" y="5184648"/>
            <a:ext cx="2194560" cy="804672"/>
          </a:xfrm>
          <a:prstGeom prst="rect">
            <a:avLst/>
          </a:prstGeom>
          <a:solidFill>
            <a:srgbClr val="8B7355"/>
          </a:solidFill>
          <a:ln w="12700">
            <a:solidFill>
              <a:srgbClr val="333333"/>
            </a:solidFill>
            <a:prstDash val="solid"/>
          </a:ln>
        </p:spPr>
        <p:txBody>
          <a:bodyPr/>
          <a:lstStyle/>
          <a:p>
            <a:endParaRPr lang="es-PE"/>
          </a:p>
        </p:txBody>
      </p:sp>
      <p:sp>
        <p:nvSpPr>
          <p:cNvPr id="55" name="Text 53"/>
          <p:cNvSpPr/>
          <p:nvPr/>
        </p:nvSpPr>
        <p:spPr>
          <a:xfrm>
            <a:off x="502920" y="5239512"/>
            <a:ext cx="2103120" cy="256032"/>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QUALIFY</a:t>
            </a:r>
            <a:endParaRPr lang="en-US" sz="1100" dirty="0"/>
          </a:p>
        </p:txBody>
      </p:sp>
      <p:sp>
        <p:nvSpPr>
          <p:cNvPr id="56" name="Text 54"/>
          <p:cNvSpPr/>
          <p:nvPr/>
        </p:nvSpPr>
        <p:spPr>
          <a:xfrm>
            <a:off x="502920" y="5486400"/>
            <a:ext cx="210312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FILTRAR</a:t>
            </a:r>
            <a:endParaRPr lang="en-US" sz="900" dirty="0"/>
          </a:p>
        </p:txBody>
      </p:sp>
      <p:sp>
        <p:nvSpPr>
          <p:cNvPr id="57" name="Text 55"/>
          <p:cNvSpPr/>
          <p:nvPr/>
        </p:nvSpPr>
        <p:spPr>
          <a:xfrm>
            <a:off x="502920" y="5669280"/>
            <a:ext cx="2103120" cy="18288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Owner: Marketing/Nurturing automatizado</a:t>
            </a:r>
            <a:endParaRPr lang="en-US" sz="800" dirty="0"/>
          </a:p>
        </p:txBody>
      </p:sp>
      <p:sp>
        <p:nvSpPr>
          <p:cNvPr id="58" name="Text 56"/>
          <p:cNvSpPr/>
          <p:nvPr/>
        </p:nvSpPr>
        <p:spPr>
          <a:xfrm>
            <a:off x="502920" y="5824728"/>
            <a:ext cx="2103120" cy="164592"/>
          </a:xfrm>
          <a:prstGeom prst="rect">
            <a:avLst/>
          </a:prstGeom>
          <a:noFill/>
          <a:ln/>
        </p:spPr>
        <p:txBody>
          <a:bodyPr wrap="square" lIns="0" tIns="0" rIns="0" bIns="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Trimestral signal-based</a:t>
            </a:r>
            <a:endParaRPr lang="en-US" sz="750" dirty="0"/>
          </a:p>
        </p:txBody>
      </p:sp>
      <p:sp>
        <p:nvSpPr>
          <p:cNvPr id="59" name="Shape 57"/>
          <p:cNvSpPr/>
          <p:nvPr/>
        </p:nvSpPr>
        <p:spPr>
          <a:xfrm>
            <a:off x="2697480" y="5184648"/>
            <a:ext cx="5852160" cy="804672"/>
          </a:xfrm>
          <a:prstGeom prst="rect">
            <a:avLst/>
          </a:prstGeom>
          <a:solidFill>
            <a:srgbClr val="F2F2F2"/>
          </a:solidFill>
          <a:ln w="6350">
            <a:solidFill>
              <a:srgbClr val="E5E5E5"/>
            </a:solidFill>
            <a:prstDash val="solid"/>
          </a:ln>
        </p:spPr>
        <p:txBody>
          <a:bodyPr/>
          <a:lstStyle/>
          <a:p>
            <a:endParaRPr lang="es-PE"/>
          </a:p>
        </p:txBody>
      </p:sp>
      <p:sp>
        <p:nvSpPr>
          <p:cNvPr id="60" name="Text 58"/>
          <p:cNvSpPr/>
          <p:nvPr/>
        </p:nvSpPr>
        <p:spPr>
          <a:xfrm>
            <a:off x="2788920" y="5230368"/>
            <a:ext cx="5669280" cy="201168"/>
          </a:xfrm>
          <a:prstGeom prst="rect">
            <a:avLst/>
          </a:prstGeom>
          <a:noFill/>
          <a:ln/>
        </p:spPr>
        <p:txBody>
          <a:bodyPr wrap="square" lIns="0" tIns="0" rIns="0" bIns="0" rtlCol="0" anchor="ctr"/>
          <a:lstStyle/>
          <a:p>
            <a:pPr marL="0" indent="0">
              <a:buNone/>
            </a:pPr>
            <a:r>
              <a:rPr lang="en-US" sz="900" b="1" dirty="0">
                <a:solidFill>
                  <a:srgbClr val="8B7355"/>
                </a:solidFill>
                <a:latin typeface="Georgia" pitchFamily="34" charset="0"/>
                <a:ea typeface="Georgia" pitchFamily="34" charset="-122"/>
                <a:cs typeface="Georgia" pitchFamily="34" charset="-120"/>
              </a:rPr>
              <a:t>Playbook 90 días</a:t>
            </a:r>
            <a:endParaRPr lang="en-US" sz="900" dirty="0"/>
          </a:p>
        </p:txBody>
      </p:sp>
      <p:sp>
        <p:nvSpPr>
          <p:cNvPr id="61" name="Text 59"/>
          <p:cNvSpPr/>
          <p:nvPr/>
        </p:nvSpPr>
        <p:spPr>
          <a:xfrm>
            <a:off x="2788920" y="5431536"/>
            <a:ext cx="5669280" cy="530352"/>
          </a:xfrm>
          <a:prstGeom prst="rect">
            <a:avLst/>
          </a:prstGeom>
          <a:noFill/>
          <a:ln/>
        </p:spPr>
        <p:txBody>
          <a:bodyPr wrap="square" lIns="0" tIns="0" rIns="0" bIns="0" rtlCol="0" anchor="ctr"/>
          <a:lstStyle/>
          <a:p>
            <a:pPr marL="0" indent="0">
              <a:buNone/>
            </a:pPr>
            <a:r>
              <a:rPr lang="en-US" sz="850" dirty="0">
                <a:solidFill>
                  <a:srgbClr val="333333"/>
                </a:solidFill>
                <a:latin typeface="Calibri" pitchFamily="34" charset="0"/>
                <a:ea typeface="Calibri" pitchFamily="34" charset="-122"/>
                <a:cs typeface="Calibri" pitchFamily="34" charset="-120"/>
              </a:rPr>
              <a:t>S1: Setup newsletter segmentada | M1: 1 webinar sectorial/</a:t>
            </a:r>
            <a:r>
              <a:rPr lang="en-US" sz="850" dirty="0" err="1">
                <a:solidFill>
                  <a:srgbClr val="333333"/>
                </a:solidFill>
                <a:latin typeface="Calibri" pitchFamily="34" charset="0"/>
                <a:ea typeface="Calibri" pitchFamily="34" charset="-122"/>
                <a:cs typeface="Calibri" pitchFamily="34" charset="-120"/>
              </a:rPr>
              <a:t>campaña</a:t>
            </a:r>
            <a:r>
              <a:rPr lang="en-US" sz="850" dirty="0">
                <a:solidFill>
                  <a:srgbClr val="333333"/>
                </a:solidFill>
                <a:latin typeface="Calibri" pitchFamily="34" charset="0"/>
                <a:ea typeface="Calibri" pitchFamily="34" charset="-122"/>
                <a:cs typeface="Calibri" pitchFamily="34" charset="-120"/>
              </a:rPr>
              <a:t> | M2-3: Monitoreo signals (nuevo CEO, M&amp;A, EEFF) → escalar si hay trigger</a:t>
            </a:r>
            <a:endParaRPr lang="en-US" sz="850" dirty="0"/>
          </a:p>
        </p:txBody>
      </p:sp>
      <p:sp>
        <p:nvSpPr>
          <p:cNvPr id="62" name="Shape 60"/>
          <p:cNvSpPr/>
          <p:nvPr/>
        </p:nvSpPr>
        <p:spPr>
          <a:xfrm>
            <a:off x="8595360" y="5184648"/>
            <a:ext cx="3200400" cy="804672"/>
          </a:xfrm>
          <a:prstGeom prst="rect">
            <a:avLst/>
          </a:prstGeom>
          <a:solidFill>
            <a:srgbClr val="FFF3ED"/>
          </a:solidFill>
          <a:ln w="12700">
            <a:solidFill>
              <a:srgbClr val="8B7355"/>
            </a:solidFill>
            <a:prstDash val="solid"/>
          </a:ln>
        </p:spPr>
        <p:txBody>
          <a:bodyPr/>
          <a:lstStyle/>
          <a:p>
            <a:endParaRPr lang="es-PE"/>
          </a:p>
        </p:txBody>
      </p:sp>
      <p:sp>
        <p:nvSpPr>
          <p:cNvPr id="63" name="Text 61"/>
          <p:cNvSpPr/>
          <p:nvPr/>
        </p:nvSpPr>
        <p:spPr>
          <a:xfrm>
            <a:off x="8686800" y="5230368"/>
            <a:ext cx="3017520" cy="201168"/>
          </a:xfrm>
          <a:prstGeom prst="rect">
            <a:avLst/>
          </a:prstGeom>
          <a:noFill/>
          <a:ln/>
        </p:spPr>
        <p:txBody>
          <a:bodyPr wrap="square" lIns="0" tIns="0" rIns="0" bIns="0" rtlCol="0" anchor="ctr"/>
          <a:lstStyle/>
          <a:p>
            <a:pPr marL="0" indent="0">
              <a:buNone/>
            </a:pPr>
            <a:r>
              <a:rPr lang="en-US" sz="900" b="1" dirty="0">
                <a:solidFill>
                  <a:srgbClr val="8B7355"/>
                </a:solidFill>
                <a:latin typeface="Georgia" pitchFamily="34" charset="0"/>
                <a:ea typeface="Georgia" pitchFamily="34" charset="-122"/>
                <a:cs typeface="Georgia" pitchFamily="34" charset="-120"/>
              </a:rPr>
              <a:t>Outcome esperado</a:t>
            </a:r>
            <a:endParaRPr lang="en-US" sz="900" dirty="0"/>
          </a:p>
        </p:txBody>
      </p:sp>
      <p:sp>
        <p:nvSpPr>
          <p:cNvPr id="64" name="Text 62"/>
          <p:cNvSpPr/>
          <p:nvPr/>
        </p:nvSpPr>
        <p:spPr>
          <a:xfrm>
            <a:off x="8686800" y="5431536"/>
            <a:ext cx="3017520" cy="292608"/>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5% empresas mueven a ACTIVATE al año · resto mantiene cost = 0</a:t>
            </a:r>
            <a:endParaRPr lang="en-US" sz="850" dirty="0"/>
          </a:p>
        </p:txBody>
      </p:sp>
      <p:sp>
        <p:nvSpPr>
          <p:cNvPr id="65" name="Text 63"/>
          <p:cNvSpPr/>
          <p:nvPr/>
        </p:nvSpPr>
        <p:spPr>
          <a:xfrm>
            <a:off x="8686800" y="5715000"/>
            <a:ext cx="3017520" cy="292608"/>
          </a:xfrm>
          <a:prstGeom prst="rect">
            <a:avLst/>
          </a:prstGeom>
          <a:noFill/>
          <a:ln/>
        </p:spPr>
        <p:txBody>
          <a:bodyPr wrap="square" lIns="0" tIns="0" rIns="0" bIns="0" rtlCol="0" anchor="ctr"/>
          <a:lstStyle/>
          <a:p>
            <a:pPr marL="0" indent="0">
              <a:buNone/>
            </a:pPr>
            <a:r>
              <a:rPr lang="en-US" sz="750" i="1" dirty="0">
                <a:solidFill>
                  <a:srgbClr val="666666"/>
                </a:solidFill>
                <a:latin typeface="Calibri" pitchFamily="34" charset="0"/>
                <a:ea typeface="Calibri" pitchFamily="34" charset="-122"/>
                <a:cs typeface="Calibri" pitchFamily="34" charset="-120"/>
              </a:rPr>
              <a:t>Ej. 389 empresas · costo AM marginal · ROI solo vía signals</a:t>
            </a:r>
            <a:endParaRPr lang="en-US" sz="750" dirty="0"/>
          </a:p>
        </p:txBody>
      </p:sp>
      <p:sp>
        <p:nvSpPr>
          <p:cNvPr id="66" name="Text 64"/>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67" name="Text 6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28/32</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Anatomía de un Playbook — Del Segmento al Revenue</a:t>
            </a:r>
            <a:endParaRPr lang="en-US" sz="2600" dirty="0"/>
          </a:p>
        </p:txBody>
      </p:sp>
      <p:sp>
        <p:nvSpPr>
          <p:cNvPr id="5" name="Text 3"/>
          <p:cNvSpPr/>
          <p:nvPr/>
        </p:nvSpPr>
        <p:spPr>
          <a:xfrm>
            <a:off x="457200" y="1234440"/>
            <a:ext cx="11247120" cy="36576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Todo playbook sigue la misma mecánica: 4 etapas secuenciales que transforman una empresa del segmento en revenue incremental.</a:t>
            </a:r>
            <a:endParaRPr lang="en-US" sz="1100" dirty="0"/>
          </a:p>
        </p:txBody>
      </p:sp>
      <p:sp>
        <p:nvSpPr>
          <p:cNvPr id="6" name="Shape 4"/>
          <p:cNvSpPr/>
          <p:nvPr/>
        </p:nvSpPr>
        <p:spPr>
          <a:xfrm>
            <a:off x="1293876" y="1828800"/>
            <a:ext cx="2423160" cy="4114800"/>
          </a:xfrm>
          <a:prstGeom prst="rect">
            <a:avLst/>
          </a:prstGeom>
          <a:solidFill>
            <a:srgbClr val="FFFFFF"/>
          </a:solidFill>
          <a:ln w="25400">
            <a:solidFill>
              <a:srgbClr val="C0392B"/>
            </a:solidFill>
            <a:prstDash val="solid"/>
          </a:ln>
        </p:spPr>
        <p:txBody>
          <a:bodyPr/>
          <a:lstStyle/>
          <a:p>
            <a:endParaRPr lang="es-PE"/>
          </a:p>
        </p:txBody>
      </p:sp>
      <p:sp>
        <p:nvSpPr>
          <p:cNvPr id="7" name="Shape 5"/>
          <p:cNvSpPr/>
          <p:nvPr/>
        </p:nvSpPr>
        <p:spPr>
          <a:xfrm>
            <a:off x="1293876" y="1828800"/>
            <a:ext cx="2423160" cy="502920"/>
          </a:xfrm>
          <a:prstGeom prst="rect">
            <a:avLst/>
          </a:prstGeom>
          <a:solidFill>
            <a:srgbClr val="C0392B"/>
          </a:solidFill>
          <a:ln w="12700">
            <a:solidFill>
              <a:srgbClr val="333333"/>
            </a:solidFill>
            <a:prstDash val="solid"/>
          </a:ln>
        </p:spPr>
        <p:txBody>
          <a:bodyPr/>
          <a:lstStyle/>
          <a:p>
            <a:endParaRPr lang="es-PE"/>
          </a:p>
        </p:txBody>
      </p:sp>
      <p:sp>
        <p:nvSpPr>
          <p:cNvPr id="8" name="Shape 6"/>
          <p:cNvSpPr/>
          <p:nvPr/>
        </p:nvSpPr>
        <p:spPr>
          <a:xfrm>
            <a:off x="1522476" y="1965960"/>
            <a:ext cx="502920" cy="502920"/>
          </a:xfrm>
          <a:prstGeom prst="ellipse">
            <a:avLst/>
          </a:prstGeom>
          <a:solidFill>
            <a:srgbClr val="FFFFFF"/>
          </a:solidFill>
          <a:ln w="25400">
            <a:solidFill>
              <a:srgbClr val="C0392B"/>
            </a:solidFill>
            <a:prstDash val="solid"/>
          </a:ln>
        </p:spPr>
        <p:txBody>
          <a:bodyPr/>
          <a:lstStyle/>
          <a:p>
            <a:endParaRPr lang="es-PE"/>
          </a:p>
        </p:txBody>
      </p:sp>
      <p:sp>
        <p:nvSpPr>
          <p:cNvPr id="9" name="Text 7"/>
          <p:cNvSpPr/>
          <p:nvPr/>
        </p:nvSpPr>
        <p:spPr>
          <a:xfrm>
            <a:off x="1522476" y="1965960"/>
            <a:ext cx="502920" cy="502920"/>
          </a:xfrm>
          <a:prstGeom prst="rect">
            <a:avLst/>
          </a:prstGeom>
          <a:noFill/>
          <a:ln/>
        </p:spPr>
        <p:txBody>
          <a:bodyPr wrap="square" lIns="0" tIns="0" rIns="0" bIns="0" rtlCol="0" anchor="ctr"/>
          <a:lstStyle/>
          <a:p>
            <a:pPr marL="0" indent="0" algn="ctr">
              <a:buNone/>
            </a:pPr>
            <a:r>
              <a:rPr lang="en-US" sz="2000" b="1" dirty="0">
                <a:solidFill>
                  <a:srgbClr val="C0392B"/>
                </a:solidFill>
                <a:latin typeface="Georgia" pitchFamily="34" charset="0"/>
                <a:ea typeface="Georgia" pitchFamily="34" charset="-122"/>
                <a:cs typeface="Georgia" pitchFamily="34" charset="-120"/>
              </a:rPr>
              <a:t>1</a:t>
            </a:r>
            <a:endParaRPr lang="en-US" sz="2000" dirty="0"/>
          </a:p>
        </p:txBody>
      </p:sp>
      <p:sp>
        <p:nvSpPr>
          <p:cNvPr id="10" name="Text 8"/>
          <p:cNvSpPr/>
          <p:nvPr/>
        </p:nvSpPr>
        <p:spPr>
          <a:xfrm>
            <a:off x="2116836" y="1901952"/>
            <a:ext cx="1508760" cy="25603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TRIGGER</a:t>
            </a:r>
            <a:endParaRPr lang="en-US" sz="1400" dirty="0"/>
          </a:p>
        </p:txBody>
      </p:sp>
      <p:sp>
        <p:nvSpPr>
          <p:cNvPr id="11" name="Text 9"/>
          <p:cNvSpPr/>
          <p:nvPr/>
        </p:nvSpPr>
        <p:spPr>
          <a:xfrm>
            <a:off x="2116836" y="2130552"/>
            <a:ext cx="1508760" cy="201168"/>
          </a:xfrm>
          <a:prstGeom prst="rect">
            <a:avLst/>
          </a:prstGeom>
          <a:noFill/>
          <a:ln/>
        </p:spPr>
        <p:txBody>
          <a:bodyPr wrap="square" lIns="0" tIns="0" rIns="0" bIns="0" rtlCol="0" anchor="ctr"/>
          <a:lstStyle/>
          <a:p>
            <a:pPr marL="0" indent="0">
              <a:buNone/>
            </a:pPr>
            <a:r>
              <a:rPr lang="en-US" sz="850" i="1" dirty="0">
                <a:solidFill>
                  <a:srgbClr val="FFFFFF"/>
                </a:solidFill>
                <a:latin typeface="Calibri" pitchFamily="34" charset="0"/>
                <a:ea typeface="Calibri" pitchFamily="34" charset="-122"/>
                <a:cs typeface="Calibri" pitchFamily="34" charset="-120"/>
              </a:rPr>
              <a:t>Evento que dispara el playbook</a:t>
            </a:r>
            <a:endParaRPr lang="en-US" sz="850" dirty="0"/>
          </a:p>
        </p:txBody>
      </p:sp>
      <p:sp>
        <p:nvSpPr>
          <p:cNvPr id="12" name="Text 10"/>
          <p:cNvSpPr/>
          <p:nvPr/>
        </p:nvSpPr>
        <p:spPr>
          <a:xfrm>
            <a:off x="1476756" y="2514600"/>
            <a:ext cx="2103120" cy="3017520"/>
          </a:xfrm>
          <a:prstGeom prst="rect">
            <a:avLst/>
          </a:prstGeom>
          <a:noFill/>
          <a:ln/>
        </p:spPr>
        <p:txBody>
          <a:bodyPr wrap="square" lIns="0" tIns="0" rIns="0" bIns="0" rtlCol="0" anchor="ctr"/>
          <a:lstStyle/>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Score cambia de segmento</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Alerta churn (score≥30)</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Desviación de Modelo</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Signal externo (M&amp;A, RFP)</a:t>
            </a:r>
            <a:endParaRPr lang="en-US" sz="1000" dirty="0"/>
          </a:p>
        </p:txBody>
      </p:sp>
      <p:sp>
        <p:nvSpPr>
          <p:cNvPr id="13" name="Text 11"/>
          <p:cNvSpPr/>
          <p:nvPr/>
        </p:nvSpPr>
        <p:spPr>
          <a:xfrm>
            <a:off x="1476756" y="5349240"/>
            <a:ext cx="2103120" cy="457200"/>
          </a:xfrm>
          <a:prstGeom prst="rect">
            <a:avLst/>
          </a:prstGeom>
          <a:noFill/>
          <a:ln/>
        </p:spPr>
        <p:txBody>
          <a:bodyPr wrap="square" lIns="0" tIns="0" rIns="0" bIns="0" rtlCol="0" anchor="ctr"/>
          <a:lstStyle/>
          <a:p>
            <a:pPr marL="0" indent="0" algn="r">
              <a:buNone/>
            </a:pPr>
            <a:r>
              <a:rPr lang="en-US" sz="2800" b="1" dirty="0">
                <a:solidFill>
                  <a:srgbClr val="C0392B"/>
                </a:solidFill>
                <a:latin typeface="Georgia" pitchFamily="34" charset="0"/>
                <a:ea typeface="Georgia" pitchFamily="34" charset="-122"/>
                <a:cs typeface="Georgia" pitchFamily="34" charset="-120"/>
              </a:rPr>
              <a:t>!</a:t>
            </a:r>
            <a:endParaRPr lang="en-US" sz="2800" dirty="0"/>
          </a:p>
        </p:txBody>
      </p:sp>
      <p:sp>
        <p:nvSpPr>
          <p:cNvPr id="14" name="Shape 12"/>
          <p:cNvSpPr/>
          <p:nvPr/>
        </p:nvSpPr>
        <p:spPr>
          <a:xfrm rot="5400000">
            <a:off x="3735324" y="3749040"/>
            <a:ext cx="228600" cy="274320"/>
          </a:xfrm>
          <a:prstGeom prst="rtTriangle">
            <a:avLst/>
          </a:prstGeom>
          <a:solidFill>
            <a:srgbClr val="333333"/>
          </a:solidFill>
          <a:ln w="12700">
            <a:solidFill>
              <a:srgbClr val="333333"/>
            </a:solidFill>
            <a:prstDash val="solid"/>
          </a:ln>
        </p:spPr>
        <p:txBody>
          <a:bodyPr/>
          <a:lstStyle/>
          <a:p>
            <a:endParaRPr lang="es-PE"/>
          </a:p>
        </p:txBody>
      </p:sp>
      <p:sp>
        <p:nvSpPr>
          <p:cNvPr id="15" name="Shape 13"/>
          <p:cNvSpPr/>
          <p:nvPr/>
        </p:nvSpPr>
        <p:spPr>
          <a:xfrm>
            <a:off x="3991356" y="1828800"/>
            <a:ext cx="2423160" cy="4114800"/>
          </a:xfrm>
          <a:prstGeom prst="rect">
            <a:avLst/>
          </a:prstGeom>
          <a:solidFill>
            <a:srgbClr val="FFFFFF"/>
          </a:solidFill>
          <a:ln w="25400">
            <a:solidFill>
              <a:srgbClr val="D4A843"/>
            </a:solidFill>
            <a:prstDash val="solid"/>
          </a:ln>
        </p:spPr>
        <p:txBody>
          <a:bodyPr/>
          <a:lstStyle/>
          <a:p>
            <a:endParaRPr lang="es-PE"/>
          </a:p>
        </p:txBody>
      </p:sp>
      <p:sp>
        <p:nvSpPr>
          <p:cNvPr id="16" name="Shape 14"/>
          <p:cNvSpPr/>
          <p:nvPr/>
        </p:nvSpPr>
        <p:spPr>
          <a:xfrm>
            <a:off x="3991356" y="1828800"/>
            <a:ext cx="2423160" cy="502920"/>
          </a:xfrm>
          <a:prstGeom prst="rect">
            <a:avLst/>
          </a:prstGeom>
          <a:solidFill>
            <a:srgbClr val="D4A843"/>
          </a:solidFill>
          <a:ln w="12700">
            <a:solidFill>
              <a:srgbClr val="333333"/>
            </a:solidFill>
            <a:prstDash val="solid"/>
          </a:ln>
        </p:spPr>
        <p:txBody>
          <a:bodyPr/>
          <a:lstStyle/>
          <a:p>
            <a:endParaRPr lang="es-PE"/>
          </a:p>
        </p:txBody>
      </p:sp>
      <p:sp>
        <p:nvSpPr>
          <p:cNvPr id="17" name="Shape 15"/>
          <p:cNvSpPr/>
          <p:nvPr/>
        </p:nvSpPr>
        <p:spPr>
          <a:xfrm>
            <a:off x="4219956" y="1965960"/>
            <a:ext cx="502920" cy="502920"/>
          </a:xfrm>
          <a:prstGeom prst="ellipse">
            <a:avLst/>
          </a:prstGeom>
          <a:solidFill>
            <a:srgbClr val="FFFFFF"/>
          </a:solidFill>
          <a:ln w="25400">
            <a:solidFill>
              <a:srgbClr val="D4A843"/>
            </a:solidFill>
            <a:prstDash val="solid"/>
          </a:ln>
        </p:spPr>
        <p:txBody>
          <a:bodyPr/>
          <a:lstStyle/>
          <a:p>
            <a:endParaRPr lang="es-PE"/>
          </a:p>
        </p:txBody>
      </p:sp>
      <p:sp>
        <p:nvSpPr>
          <p:cNvPr id="18" name="Text 16"/>
          <p:cNvSpPr/>
          <p:nvPr/>
        </p:nvSpPr>
        <p:spPr>
          <a:xfrm>
            <a:off x="4219956" y="1965960"/>
            <a:ext cx="502920" cy="502920"/>
          </a:xfrm>
          <a:prstGeom prst="rect">
            <a:avLst/>
          </a:prstGeom>
          <a:noFill/>
          <a:ln/>
        </p:spPr>
        <p:txBody>
          <a:bodyPr wrap="square" lIns="0" tIns="0" rIns="0" bIns="0" rtlCol="0" anchor="ctr"/>
          <a:lstStyle/>
          <a:p>
            <a:pPr marL="0" indent="0" algn="ctr">
              <a:buNone/>
            </a:pPr>
            <a:r>
              <a:rPr lang="en-US" sz="2000" b="1" dirty="0">
                <a:solidFill>
                  <a:srgbClr val="D4A843"/>
                </a:solidFill>
                <a:latin typeface="Georgia" pitchFamily="34" charset="0"/>
                <a:ea typeface="Georgia" pitchFamily="34" charset="-122"/>
                <a:cs typeface="Georgia" pitchFamily="34" charset="-120"/>
              </a:rPr>
              <a:t>2</a:t>
            </a:r>
            <a:endParaRPr lang="en-US" sz="2000" dirty="0"/>
          </a:p>
        </p:txBody>
      </p:sp>
      <p:sp>
        <p:nvSpPr>
          <p:cNvPr id="19" name="Text 17"/>
          <p:cNvSpPr/>
          <p:nvPr/>
        </p:nvSpPr>
        <p:spPr>
          <a:xfrm>
            <a:off x="4814316" y="1901952"/>
            <a:ext cx="1508760" cy="25603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DIAGNÓSTICO</a:t>
            </a:r>
            <a:endParaRPr lang="en-US" sz="1400" dirty="0"/>
          </a:p>
        </p:txBody>
      </p:sp>
      <p:sp>
        <p:nvSpPr>
          <p:cNvPr id="20" name="Text 18"/>
          <p:cNvSpPr/>
          <p:nvPr/>
        </p:nvSpPr>
        <p:spPr>
          <a:xfrm>
            <a:off x="4814316" y="2130552"/>
            <a:ext cx="1508760" cy="201168"/>
          </a:xfrm>
          <a:prstGeom prst="rect">
            <a:avLst/>
          </a:prstGeom>
          <a:noFill/>
          <a:ln/>
        </p:spPr>
        <p:txBody>
          <a:bodyPr wrap="square" lIns="0" tIns="0" rIns="0" bIns="0" rtlCol="0" anchor="ctr"/>
          <a:lstStyle/>
          <a:p>
            <a:pPr marL="0" indent="0">
              <a:buNone/>
            </a:pPr>
            <a:r>
              <a:rPr lang="en-US" sz="850" i="1" dirty="0">
                <a:solidFill>
                  <a:srgbClr val="FFFFFF"/>
                </a:solidFill>
                <a:latin typeface="Calibri" pitchFamily="34" charset="0"/>
                <a:ea typeface="Calibri" pitchFamily="34" charset="-122"/>
                <a:cs typeface="Calibri" pitchFamily="34" charset="-120"/>
              </a:rPr>
              <a:t>Partner + Account team lectura 360°</a:t>
            </a:r>
            <a:endParaRPr lang="en-US" sz="850" dirty="0"/>
          </a:p>
        </p:txBody>
      </p:sp>
      <p:sp>
        <p:nvSpPr>
          <p:cNvPr id="21" name="Text 19"/>
          <p:cNvSpPr/>
          <p:nvPr/>
        </p:nvSpPr>
        <p:spPr>
          <a:xfrm>
            <a:off x="4174236" y="2514600"/>
            <a:ext cx="2103120" cy="3017520"/>
          </a:xfrm>
          <a:prstGeom prst="rect">
            <a:avLst/>
          </a:prstGeom>
          <a:noFill/>
          <a:ln/>
        </p:spPr>
        <p:txBody>
          <a:bodyPr wrap="square" lIns="0" tIns="0" rIns="0" bIns="0" rtlCol="0" anchor="ctr"/>
          <a:lstStyle/>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Gap de Sub-LoS vs peers</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Revenue FY24→FY25→FY26</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 margin y channel mix</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Relacionamiento C-level</a:t>
            </a:r>
            <a:endParaRPr lang="en-US" sz="1000" dirty="0"/>
          </a:p>
        </p:txBody>
      </p:sp>
      <p:sp>
        <p:nvSpPr>
          <p:cNvPr id="22" name="Text 20"/>
          <p:cNvSpPr/>
          <p:nvPr/>
        </p:nvSpPr>
        <p:spPr>
          <a:xfrm>
            <a:off x="4174236" y="5349240"/>
            <a:ext cx="2103120" cy="457200"/>
          </a:xfrm>
          <a:prstGeom prst="rect">
            <a:avLst/>
          </a:prstGeom>
          <a:noFill/>
          <a:ln/>
        </p:spPr>
        <p:txBody>
          <a:bodyPr wrap="square" lIns="0" tIns="0" rIns="0" bIns="0" rtlCol="0" anchor="ctr"/>
          <a:lstStyle/>
          <a:p>
            <a:pPr marL="0" indent="0" algn="r">
              <a:buNone/>
            </a:pPr>
            <a:r>
              <a:rPr lang="en-US" sz="2800" b="1" dirty="0">
                <a:solidFill>
                  <a:srgbClr val="D4A843"/>
                </a:solidFill>
                <a:latin typeface="Georgia" pitchFamily="34" charset="0"/>
                <a:ea typeface="Georgia" pitchFamily="34" charset="-122"/>
                <a:cs typeface="Georgia" pitchFamily="34" charset="-120"/>
              </a:rPr>
              <a:t>?</a:t>
            </a:r>
            <a:endParaRPr lang="en-US" sz="2800" dirty="0"/>
          </a:p>
        </p:txBody>
      </p:sp>
      <p:sp>
        <p:nvSpPr>
          <p:cNvPr id="23" name="Shape 21"/>
          <p:cNvSpPr/>
          <p:nvPr/>
        </p:nvSpPr>
        <p:spPr>
          <a:xfrm rot="5400000">
            <a:off x="6432804" y="3749040"/>
            <a:ext cx="228600" cy="274320"/>
          </a:xfrm>
          <a:prstGeom prst="rtTriangle">
            <a:avLst/>
          </a:prstGeom>
          <a:solidFill>
            <a:srgbClr val="333333"/>
          </a:solidFill>
          <a:ln w="12700">
            <a:solidFill>
              <a:srgbClr val="333333"/>
            </a:solidFill>
            <a:prstDash val="solid"/>
          </a:ln>
        </p:spPr>
        <p:txBody>
          <a:bodyPr/>
          <a:lstStyle/>
          <a:p>
            <a:endParaRPr lang="es-PE"/>
          </a:p>
        </p:txBody>
      </p:sp>
      <p:sp>
        <p:nvSpPr>
          <p:cNvPr id="24" name="Shape 22"/>
          <p:cNvSpPr/>
          <p:nvPr/>
        </p:nvSpPr>
        <p:spPr>
          <a:xfrm>
            <a:off x="6688836" y="1828800"/>
            <a:ext cx="2423160" cy="4114800"/>
          </a:xfrm>
          <a:prstGeom prst="rect">
            <a:avLst/>
          </a:prstGeom>
          <a:solidFill>
            <a:srgbClr val="FFFFFF"/>
          </a:solidFill>
          <a:ln w="25400">
            <a:solidFill>
              <a:srgbClr val="4E8B9F"/>
            </a:solidFill>
            <a:prstDash val="solid"/>
          </a:ln>
        </p:spPr>
        <p:txBody>
          <a:bodyPr/>
          <a:lstStyle/>
          <a:p>
            <a:endParaRPr lang="es-PE"/>
          </a:p>
        </p:txBody>
      </p:sp>
      <p:sp>
        <p:nvSpPr>
          <p:cNvPr id="25" name="Shape 23"/>
          <p:cNvSpPr/>
          <p:nvPr/>
        </p:nvSpPr>
        <p:spPr>
          <a:xfrm>
            <a:off x="6688836" y="1828800"/>
            <a:ext cx="2423160" cy="502920"/>
          </a:xfrm>
          <a:prstGeom prst="rect">
            <a:avLst/>
          </a:prstGeom>
          <a:solidFill>
            <a:srgbClr val="4E8B9F"/>
          </a:solidFill>
          <a:ln w="12700">
            <a:solidFill>
              <a:srgbClr val="333333"/>
            </a:solidFill>
            <a:prstDash val="solid"/>
          </a:ln>
        </p:spPr>
        <p:txBody>
          <a:bodyPr/>
          <a:lstStyle/>
          <a:p>
            <a:endParaRPr lang="es-PE"/>
          </a:p>
        </p:txBody>
      </p:sp>
      <p:sp>
        <p:nvSpPr>
          <p:cNvPr id="26" name="Shape 24"/>
          <p:cNvSpPr/>
          <p:nvPr/>
        </p:nvSpPr>
        <p:spPr>
          <a:xfrm>
            <a:off x="6917436" y="1965960"/>
            <a:ext cx="502920" cy="502920"/>
          </a:xfrm>
          <a:prstGeom prst="ellipse">
            <a:avLst/>
          </a:prstGeom>
          <a:solidFill>
            <a:srgbClr val="FFFFFF"/>
          </a:solidFill>
          <a:ln w="25400">
            <a:solidFill>
              <a:srgbClr val="4E8B9F"/>
            </a:solidFill>
            <a:prstDash val="solid"/>
          </a:ln>
        </p:spPr>
        <p:txBody>
          <a:bodyPr/>
          <a:lstStyle/>
          <a:p>
            <a:endParaRPr lang="es-PE"/>
          </a:p>
        </p:txBody>
      </p:sp>
      <p:sp>
        <p:nvSpPr>
          <p:cNvPr id="27" name="Text 25"/>
          <p:cNvSpPr/>
          <p:nvPr/>
        </p:nvSpPr>
        <p:spPr>
          <a:xfrm>
            <a:off x="6917436" y="1965960"/>
            <a:ext cx="502920" cy="502920"/>
          </a:xfrm>
          <a:prstGeom prst="rect">
            <a:avLst/>
          </a:prstGeom>
          <a:noFill/>
          <a:ln/>
        </p:spPr>
        <p:txBody>
          <a:bodyPr wrap="square" lIns="0" tIns="0" rIns="0" bIns="0" rtlCol="0" anchor="ctr"/>
          <a:lstStyle/>
          <a:p>
            <a:pPr marL="0" indent="0" algn="ctr">
              <a:buNone/>
            </a:pPr>
            <a:r>
              <a:rPr lang="en-US" sz="2000" b="1" dirty="0">
                <a:solidFill>
                  <a:srgbClr val="4E8B9F"/>
                </a:solidFill>
                <a:latin typeface="Georgia" pitchFamily="34" charset="0"/>
                <a:ea typeface="Georgia" pitchFamily="34" charset="-122"/>
                <a:cs typeface="Georgia" pitchFamily="34" charset="-120"/>
              </a:rPr>
              <a:t>3</a:t>
            </a:r>
            <a:endParaRPr lang="en-US" sz="2000" dirty="0"/>
          </a:p>
        </p:txBody>
      </p:sp>
      <p:sp>
        <p:nvSpPr>
          <p:cNvPr id="28" name="Text 26"/>
          <p:cNvSpPr/>
          <p:nvPr/>
        </p:nvSpPr>
        <p:spPr>
          <a:xfrm>
            <a:off x="7511796" y="1901952"/>
            <a:ext cx="1508760" cy="25603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ACCIÓN</a:t>
            </a:r>
            <a:endParaRPr lang="en-US" sz="1400" dirty="0"/>
          </a:p>
        </p:txBody>
      </p:sp>
      <p:sp>
        <p:nvSpPr>
          <p:cNvPr id="29" name="Text 27"/>
          <p:cNvSpPr/>
          <p:nvPr/>
        </p:nvSpPr>
        <p:spPr>
          <a:xfrm>
            <a:off x="7511796" y="2130552"/>
            <a:ext cx="1508760" cy="201168"/>
          </a:xfrm>
          <a:prstGeom prst="rect">
            <a:avLst/>
          </a:prstGeom>
          <a:noFill/>
          <a:ln/>
        </p:spPr>
        <p:txBody>
          <a:bodyPr wrap="square" lIns="0" tIns="0" rIns="0" bIns="0" rtlCol="0" anchor="ctr"/>
          <a:lstStyle/>
          <a:p>
            <a:pPr marL="0" indent="0">
              <a:buNone/>
            </a:pPr>
            <a:r>
              <a:rPr lang="en-US" sz="850" i="1" dirty="0">
                <a:solidFill>
                  <a:srgbClr val="FFFFFF"/>
                </a:solidFill>
                <a:latin typeface="Calibri" pitchFamily="34" charset="0"/>
                <a:ea typeface="Calibri" pitchFamily="34" charset="-122"/>
                <a:cs typeface="Calibri" pitchFamily="34" charset="-120"/>
              </a:rPr>
              <a:t>Next-Best-Action ejecutada por dueño</a:t>
            </a:r>
            <a:endParaRPr lang="en-US" sz="850" dirty="0"/>
          </a:p>
        </p:txBody>
      </p:sp>
      <p:sp>
        <p:nvSpPr>
          <p:cNvPr id="30" name="Text 28"/>
          <p:cNvSpPr/>
          <p:nvPr/>
        </p:nvSpPr>
        <p:spPr>
          <a:xfrm>
            <a:off x="6871716" y="2514600"/>
            <a:ext cx="2103120" cy="3017520"/>
          </a:xfrm>
          <a:prstGeom prst="rect">
            <a:avLst/>
          </a:prstGeom>
          <a:noFill/>
          <a:ln/>
        </p:spPr>
        <p:txBody>
          <a:bodyPr wrap="square" lIns="0" tIns="0" rIns="0" bIns="0" rtlCol="0" anchor="ctr"/>
          <a:lstStyle/>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Reunión C-level / workshop</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Propuesta cruzada (Tax+Advisory)</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Revisión de pricing</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Nurturing automatizado</a:t>
            </a:r>
            <a:endParaRPr lang="en-US" sz="1000" dirty="0"/>
          </a:p>
        </p:txBody>
      </p:sp>
      <p:sp>
        <p:nvSpPr>
          <p:cNvPr id="31" name="Text 29"/>
          <p:cNvSpPr/>
          <p:nvPr/>
        </p:nvSpPr>
        <p:spPr>
          <a:xfrm>
            <a:off x="6871716" y="5349240"/>
            <a:ext cx="2103120" cy="457200"/>
          </a:xfrm>
          <a:prstGeom prst="rect">
            <a:avLst/>
          </a:prstGeom>
          <a:noFill/>
          <a:ln/>
        </p:spPr>
        <p:txBody>
          <a:bodyPr wrap="square" lIns="0" tIns="0" rIns="0" bIns="0" rtlCol="0" anchor="ctr"/>
          <a:lstStyle/>
          <a:p>
            <a:pPr marL="0" indent="0" algn="r">
              <a:buNone/>
            </a:pPr>
            <a:r>
              <a:rPr lang="en-US" sz="2800" b="1" dirty="0">
                <a:solidFill>
                  <a:srgbClr val="4E8B9F"/>
                </a:solidFill>
                <a:latin typeface="Georgia" pitchFamily="34" charset="0"/>
                <a:ea typeface="Georgia" pitchFamily="34" charset="-122"/>
                <a:cs typeface="Georgia" pitchFamily="34" charset="-120"/>
              </a:rPr>
              <a:t>▶</a:t>
            </a:r>
            <a:endParaRPr lang="en-US" sz="2800" dirty="0"/>
          </a:p>
        </p:txBody>
      </p:sp>
      <p:sp>
        <p:nvSpPr>
          <p:cNvPr id="32" name="Shape 30"/>
          <p:cNvSpPr/>
          <p:nvPr/>
        </p:nvSpPr>
        <p:spPr>
          <a:xfrm rot="5400000">
            <a:off x="9130284" y="3749040"/>
            <a:ext cx="228600" cy="274320"/>
          </a:xfrm>
          <a:prstGeom prst="rtTriangle">
            <a:avLst/>
          </a:prstGeom>
          <a:solidFill>
            <a:srgbClr val="333333"/>
          </a:solidFill>
          <a:ln w="12700">
            <a:solidFill>
              <a:srgbClr val="333333"/>
            </a:solidFill>
            <a:prstDash val="solid"/>
          </a:ln>
        </p:spPr>
        <p:txBody>
          <a:bodyPr/>
          <a:lstStyle/>
          <a:p>
            <a:endParaRPr lang="es-PE"/>
          </a:p>
        </p:txBody>
      </p:sp>
      <p:sp>
        <p:nvSpPr>
          <p:cNvPr id="33" name="Shape 31"/>
          <p:cNvSpPr/>
          <p:nvPr/>
        </p:nvSpPr>
        <p:spPr>
          <a:xfrm>
            <a:off x="9386316" y="1828800"/>
            <a:ext cx="2423160" cy="4114800"/>
          </a:xfrm>
          <a:prstGeom prst="rect">
            <a:avLst/>
          </a:prstGeom>
          <a:solidFill>
            <a:srgbClr val="FFFFFF"/>
          </a:solidFill>
          <a:ln w="25400">
            <a:solidFill>
              <a:srgbClr val="27AE60"/>
            </a:solidFill>
            <a:prstDash val="solid"/>
          </a:ln>
        </p:spPr>
        <p:txBody>
          <a:bodyPr/>
          <a:lstStyle/>
          <a:p>
            <a:endParaRPr lang="es-PE"/>
          </a:p>
        </p:txBody>
      </p:sp>
      <p:sp>
        <p:nvSpPr>
          <p:cNvPr id="34" name="Shape 32"/>
          <p:cNvSpPr/>
          <p:nvPr/>
        </p:nvSpPr>
        <p:spPr>
          <a:xfrm>
            <a:off x="9386316" y="1828800"/>
            <a:ext cx="2423160" cy="502920"/>
          </a:xfrm>
          <a:prstGeom prst="rect">
            <a:avLst/>
          </a:prstGeom>
          <a:solidFill>
            <a:srgbClr val="27AE60"/>
          </a:solidFill>
          <a:ln w="12700">
            <a:solidFill>
              <a:srgbClr val="333333"/>
            </a:solidFill>
            <a:prstDash val="solid"/>
          </a:ln>
        </p:spPr>
        <p:txBody>
          <a:bodyPr/>
          <a:lstStyle/>
          <a:p>
            <a:endParaRPr lang="es-PE"/>
          </a:p>
        </p:txBody>
      </p:sp>
      <p:sp>
        <p:nvSpPr>
          <p:cNvPr id="35" name="Shape 33"/>
          <p:cNvSpPr/>
          <p:nvPr/>
        </p:nvSpPr>
        <p:spPr>
          <a:xfrm>
            <a:off x="9614916" y="1965960"/>
            <a:ext cx="502920" cy="502920"/>
          </a:xfrm>
          <a:prstGeom prst="ellipse">
            <a:avLst/>
          </a:prstGeom>
          <a:solidFill>
            <a:srgbClr val="FFFFFF"/>
          </a:solidFill>
          <a:ln w="25400">
            <a:solidFill>
              <a:srgbClr val="27AE60"/>
            </a:solidFill>
            <a:prstDash val="solid"/>
          </a:ln>
        </p:spPr>
        <p:txBody>
          <a:bodyPr/>
          <a:lstStyle/>
          <a:p>
            <a:endParaRPr lang="es-PE"/>
          </a:p>
        </p:txBody>
      </p:sp>
      <p:sp>
        <p:nvSpPr>
          <p:cNvPr id="36" name="Text 34"/>
          <p:cNvSpPr/>
          <p:nvPr/>
        </p:nvSpPr>
        <p:spPr>
          <a:xfrm>
            <a:off x="9614916" y="1965960"/>
            <a:ext cx="502920" cy="502920"/>
          </a:xfrm>
          <a:prstGeom prst="rect">
            <a:avLst/>
          </a:prstGeom>
          <a:noFill/>
          <a:ln/>
        </p:spPr>
        <p:txBody>
          <a:bodyPr wrap="square" lIns="0" tIns="0" rIns="0" bIns="0" rtlCol="0" anchor="ctr"/>
          <a:lstStyle/>
          <a:p>
            <a:pPr marL="0" indent="0" algn="ctr">
              <a:buNone/>
            </a:pPr>
            <a:r>
              <a:rPr lang="en-US" sz="2000" b="1" dirty="0">
                <a:solidFill>
                  <a:srgbClr val="27AE60"/>
                </a:solidFill>
                <a:latin typeface="Georgia" pitchFamily="34" charset="0"/>
                <a:ea typeface="Georgia" pitchFamily="34" charset="-122"/>
                <a:cs typeface="Georgia" pitchFamily="34" charset="-120"/>
              </a:rPr>
              <a:t>4</a:t>
            </a:r>
            <a:endParaRPr lang="en-US" sz="2000" dirty="0"/>
          </a:p>
        </p:txBody>
      </p:sp>
      <p:sp>
        <p:nvSpPr>
          <p:cNvPr id="37" name="Text 35"/>
          <p:cNvSpPr/>
          <p:nvPr/>
        </p:nvSpPr>
        <p:spPr>
          <a:xfrm>
            <a:off x="10209276" y="1901952"/>
            <a:ext cx="1508760" cy="25603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MEDICIÓN</a:t>
            </a:r>
            <a:endParaRPr lang="en-US" sz="1400" dirty="0"/>
          </a:p>
        </p:txBody>
      </p:sp>
      <p:sp>
        <p:nvSpPr>
          <p:cNvPr id="38" name="Text 36"/>
          <p:cNvSpPr/>
          <p:nvPr/>
        </p:nvSpPr>
        <p:spPr>
          <a:xfrm>
            <a:off x="10209276" y="2130552"/>
            <a:ext cx="1508760" cy="201168"/>
          </a:xfrm>
          <a:prstGeom prst="rect">
            <a:avLst/>
          </a:prstGeom>
          <a:noFill/>
          <a:ln/>
        </p:spPr>
        <p:txBody>
          <a:bodyPr wrap="square" lIns="0" tIns="0" rIns="0" bIns="0" rtlCol="0" anchor="ctr"/>
          <a:lstStyle/>
          <a:p>
            <a:pPr marL="0" indent="0">
              <a:buNone/>
            </a:pPr>
            <a:r>
              <a:rPr lang="en-US" sz="850" i="1" dirty="0">
                <a:solidFill>
                  <a:srgbClr val="FFFFFF"/>
                </a:solidFill>
                <a:latin typeface="Calibri" pitchFamily="34" charset="0"/>
                <a:ea typeface="Calibri" pitchFamily="34" charset="-122"/>
                <a:cs typeface="Calibri" pitchFamily="34" charset="-120"/>
              </a:rPr>
              <a:t>KPI claro a 90 días</a:t>
            </a:r>
            <a:endParaRPr lang="en-US" sz="850" dirty="0"/>
          </a:p>
        </p:txBody>
      </p:sp>
      <p:sp>
        <p:nvSpPr>
          <p:cNvPr id="39" name="Text 37"/>
          <p:cNvSpPr/>
          <p:nvPr/>
        </p:nvSpPr>
        <p:spPr>
          <a:xfrm>
            <a:off x="9569196" y="2514600"/>
            <a:ext cx="2103120" cy="3017520"/>
          </a:xfrm>
          <a:prstGeom prst="rect">
            <a:avLst/>
          </a:prstGeom>
          <a:noFill/>
          <a:ln/>
        </p:spPr>
        <p:txBody>
          <a:bodyPr wrap="square" lIns="0" tIns="0" rIns="0" bIns="0" rtlCol="0" anchor="ctr"/>
          <a:lstStyle/>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Revenue incremental</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Upsell Potential consumido</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Score actualizado</a:t>
            </a:r>
            <a:endParaRPr lang="en-US" sz="1000" dirty="0"/>
          </a:p>
          <a:p>
            <a:pPr marL="342900" indent="-342900">
              <a:lnSpc>
                <a:spcPct val="140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Segment migration</a:t>
            </a:r>
            <a:endParaRPr lang="en-US" sz="1000" dirty="0"/>
          </a:p>
        </p:txBody>
      </p:sp>
      <p:sp>
        <p:nvSpPr>
          <p:cNvPr id="40" name="Text 38"/>
          <p:cNvSpPr/>
          <p:nvPr/>
        </p:nvSpPr>
        <p:spPr>
          <a:xfrm>
            <a:off x="9569196" y="5349240"/>
            <a:ext cx="2103120" cy="457200"/>
          </a:xfrm>
          <a:prstGeom prst="rect">
            <a:avLst/>
          </a:prstGeom>
          <a:noFill/>
          <a:ln/>
        </p:spPr>
        <p:txBody>
          <a:bodyPr wrap="square" lIns="0" tIns="0" rIns="0" bIns="0" rtlCol="0" anchor="ctr"/>
          <a:lstStyle/>
          <a:p>
            <a:pPr marL="0" indent="0" algn="r">
              <a:buNone/>
            </a:pPr>
            <a:r>
              <a:rPr lang="en-US" sz="2800" b="1" dirty="0">
                <a:solidFill>
                  <a:srgbClr val="27AE60"/>
                </a:solidFill>
                <a:latin typeface="Georgia" pitchFamily="34" charset="0"/>
                <a:ea typeface="Georgia" pitchFamily="34" charset="-122"/>
                <a:cs typeface="Georgia" pitchFamily="34" charset="-120"/>
              </a:rPr>
              <a:t>✓</a:t>
            </a:r>
            <a:endParaRPr lang="en-US" sz="2800" dirty="0"/>
          </a:p>
        </p:txBody>
      </p:sp>
      <p:sp>
        <p:nvSpPr>
          <p:cNvPr id="41" name="Shape 39"/>
          <p:cNvSpPr/>
          <p:nvPr/>
        </p:nvSpPr>
        <p:spPr>
          <a:xfrm>
            <a:off x="457200" y="6126480"/>
            <a:ext cx="11247120" cy="347472"/>
          </a:xfrm>
          <a:prstGeom prst="rect">
            <a:avLst/>
          </a:prstGeom>
          <a:solidFill>
            <a:srgbClr val="FFF3ED"/>
          </a:solidFill>
          <a:ln w="12700">
            <a:solidFill>
              <a:srgbClr val="333333"/>
            </a:solidFill>
            <a:prstDash val="solid"/>
          </a:ln>
        </p:spPr>
        <p:txBody>
          <a:bodyPr/>
          <a:lstStyle/>
          <a:p>
            <a:endParaRPr lang="es-PE"/>
          </a:p>
        </p:txBody>
      </p:sp>
      <p:sp>
        <p:nvSpPr>
          <p:cNvPr id="42" name="Text 40"/>
          <p:cNvSpPr/>
          <p:nvPr/>
        </p:nvSpPr>
        <p:spPr>
          <a:xfrm>
            <a:off x="548640" y="6172200"/>
            <a:ext cx="11064240" cy="274320"/>
          </a:xfrm>
          <a:prstGeom prst="rect">
            <a:avLst/>
          </a:prstGeom>
          <a:noFill/>
          <a:ln/>
        </p:spPr>
        <p:txBody>
          <a:bodyPr wrap="square" lIns="0" tIns="0" rIns="0" bIns="0" rtlCol="0" anchor="ctr"/>
          <a:lstStyle/>
          <a:p>
            <a:pPr marL="0" indent="0">
              <a:buNone/>
            </a:pPr>
            <a:r>
              <a:rPr lang="en-US" sz="1000" b="1" dirty="0">
                <a:solidFill>
                  <a:srgbClr val="D04A02"/>
                </a:solidFill>
                <a:latin typeface="Calibri" pitchFamily="34" charset="0"/>
                <a:ea typeface="Calibri" pitchFamily="34" charset="-122"/>
                <a:cs typeface="Calibri" pitchFamily="34" charset="-120"/>
              </a:rPr>
              <a:t>Ejemplo — </a:t>
            </a:r>
            <a:r>
              <a:rPr lang="en-US" sz="1000" b="1" dirty="0">
                <a:solidFill>
                  <a:srgbClr val="333333"/>
                </a:solidFill>
                <a:latin typeface="Calibri" pitchFamily="34" charset="0"/>
                <a:ea typeface="Calibri" pitchFamily="34" charset="-122"/>
                <a:cs typeface="Calibri" pitchFamily="34" charset="-120"/>
              </a:rPr>
              <a:t>Cerro Verde (PROTECT &amp; GROW)</a:t>
            </a:r>
            <a:r>
              <a:rPr lang="en-US" sz="1000" dirty="0">
                <a:solidFill>
                  <a:srgbClr val="666666"/>
                </a:solidFill>
                <a:latin typeface="Calibri" pitchFamily="34" charset="0"/>
                <a:ea typeface="Calibri" pitchFamily="34" charset="-122"/>
                <a:cs typeface="Calibri" pitchFamily="34" charset="-120"/>
              </a:rPr>
              <a:t>  →  </a:t>
            </a:r>
            <a:r>
              <a:rPr lang="en-US" sz="1000" b="1" dirty="0">
                <a:solidFill>
                  <a:srgbClr val="C0392B"/>
                </a:solidFill>
                <a:latin typeface="Calibri" pitchFamily="34" charset="0"/>
                <a:ea typeface="Calibri" pitchFamily="34" charset="-122"/>
                <a:cs typeface="Calibri" pitchFamily="34" charset="-120"/>
              </a:rPr>
              <a:t>Trigger: </a:t>
            </a:r>
            <a:r>
              <a:rPr lang="en-US" sz="1000" dirty="0">
                <a:solidFill>
                  <a:srgbClr val="333333"/>
                </a:solidFill>
                <a:latin typeface="Calibri" pitchFamily="34" charset="0"/>
                <a:ea typeface="Calibri" pitchFamily="34" charset="-122"/>
                <a:cs typeface="Calibri" pitchFamily="34" charset="-120"/>
              </a:rPr>
              <a:t>score bajó a 68 </a:t>
            </a:r>
            <a:r>
              <a:rPr lang="en-US" sz="1000" dirty="0">
                <a:solidFill>
                  <a:srgbClr val="666666"/>
                </a:solidFill>
                <a:latin typeface="Calibri" pitchFamily="34" charset="0"/>
                <a:ea typeface="Calibri" pitchFamily="34" charset="-122"/>
                <a:cs typeface="Calibri" pitchFamily="34" charset="-120"/>
              </a:rPr>
              <a:t>→  </a:t>
            </a:r>
            <a:r>
              <a:rPr lang="en-US" sz="1000" b="1" dirty="0">
                <a:solidFill>
                  <a:srgbClr val="D4A843"/>
                </a:solidFill>
                <a:latin typeface="Calibri" pitchFamily="34" charset="0"/>
                <a:ea typeface="Calibri" pitchFamily="34" charset="-122"/>
                <a:cs typeface="Calibri" pitchFamily="34" charset="-120"/>
              </a:rPr>
              <a:t>Diagnóstico: </a:t>
            </a:r>
            <a:r>
              <a:rPr lang="en-US" sz="1000" dirty="0">
                <a:solidFill>
                  <a:srgbClr val="333333"/>
                </a:solidFill>
                <a:latin typeface="Calibri" pitchFamily="34" charset="0"/>
                <a:ea typeface="Calibri" pitchFamily="34" charset="-122"/>
                <a:cs typeface="Calibri" pitchFamily="34" charset="-120"/>
              </a:rPr>
              <a:t>falta ESG+Sustainability </a:t>
            </a:r>
            <a:r>
              <a:rPr lang="en-US" sz="1000" dirty="0">
                <a:solidFill>
                  <a:srgbClr val="666666"/>
                </a:solidFill>
                <a:latin typeface="Calibri" pitchFamily="34" charset="0"/>
                <a:ea typeface="Calibri" pitchFamily="34" charset="-122"/>
                <a:cs typeface="Calibri" pitchFamily="34" charset="-120"/>
              </a:rPr>
              <a:t>→  </a:t>
            </a:r>
            <a:r>
              <a:rPr lang="en-US" sz="1000" b="1" dirty="0">
                <a:solidFill>
                  <a:srgbClr val="4E8B9F"/>
                </a:solidFill>
                <a:latin typeface="Calibri" pitchFamily="34" charset="0"/>
                <a:ea typeface="Calibri" pitchFamily="34" charset="-122"/>
                <a:cs typeface="Calibri" pitchFamily="34" charset="-120"/>
              </a:rPr>
              <a:t>Acción: </a:t>
            </a:r>
            <a:r>
              <a:rPr lang="en-US" sz="1000" dirty="0">
                <a:solidFill>
                  <a:srgbClr val="333333"/>
                </a:solidFill>
                <a:latin typeface="Calibri" pitchFamily="34" charset="0"/>
                <a:ea typeface="Calibri" pitchFamily="34" charset="-122"/>
                <a:cs typeface="Calibri" pitchFamily="34" charset="-120"/>
              </a:rPr>
              <a:t>workshop con Partner + propuesta Advisory </a:t>
            </a:r>
            <a:r>
              <a:rPr lang="en-US" sz="1000" dirty="0">
                <a:solidFill>
                  <a:srgbClr val="666666"/>
                </a:solidFill>
                <a:latin typeface="Calibri" pitchFamily="34" charset="0"/>
                <a:ea typeface="Calibri" pitchFamily="34" charset="-122"/>
                <a:cs typeface="Calibri" pitchFamily="34" charset="-120"/>
              </a:rPr>
              <a:t>→  </a:t>
            </a:r>
            <a:r>
              <a:rPr lang="en-US" sz="1000" b="1" dirty="0">
                <a:solidFill>
                  <a:srgbClr val="27AE60"/>
                </a:solidFill>
                <a:latin typeface="Calibri" pitchFamily="34" charset="0"/>
                <a:ea typeface="Calibri" pitchFamily="34" charset="-122"/>
                <a:cs typeface="Calibri" pitchFamily="34" charset="-120"/>
              </a:rPr>
              <a:t>Medición: </a:t>
            </a:r>
            <a:r>
              <a:rPr lang="en-US" sz="1000" b="1" dirty="0">
                <a:solidFill>
                  <a:srgbClr val="333333"/>
                </a:solidFill>
                <a:latin typeface="Calibri" pitchFamily="34" charset="0"/>
                <a:ea typeface="Calibri" pitchFamily="34" charset="-122"/>
                <a:cs typeface="Calibri" pitchFamily="34" charset="-120"/>
              </a:rPr>
              <a:t>+S/.850K engagement 60 días</a:t>
            </a:r>
            <a:endParaRPr lang="en-US" sz="1000" dirty="0"/>
          </a:p>
        </p:txBody>
      </p:sp>
      <p:sp>
        <p:nvSpPr>
          <p:cNvPr id="43" name="Text 41"/>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44" name="Text 42"/>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28/32</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402846"/>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Riesgo Financiero — Metodología detallada de cada métrica</a:t>
            </a:r>
            <a:endParaRPr lang="en-US" sz="2600" dirty="0"/>
          </a:p>
        </p:txBody>
      </p:sp>
      <p:sp>
        <p:nvSpPr>
          <p:cNvPr id="5" name="Text 3"/>
          <p:cNvSpPr/>
          <p:nvPr/>
        </p:nvSpPr>
        <p:spPr>
          <a:xfrm>
            <a:off x="470916" y="782322"/>
            <a:ext cx="11247120" cy="41148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Cuatro métricas · cuatro preguntas distintas. Cada panel explica qué se calculó, por qué y cuándo usarlo.</a:t>
            </a:r>
            <a:endParaRPr lang="en-US" sz="1100" dirty="0"/>
          </a:p>
        </p:txBody>
      </p:sp>
      <p:sp>
        <p:nvSpPr>
          <p:cNvPr id="6" name="Shape 4"/>
          <p:cNvSpPr/>
          <p:nvPr/>
        </p:nvSpPr>
        <p:spPr>
          <a:xfrm>
            <a:off x="457200" y="1185168"/>
            <a:ext cx="5532120" cy="2607816"/>
          </a:xfrm>
          <a:prstGeom prst="rect">
            <a:avLst/>
          </a:prstGeom>
          <a:solidFill>
            <a:srgbClr val="FFFFFF"/>
          </a:solidFill>
          <a:ln w="19050">
            <a:solidFill>
              <a:srgbClr val="1A5490"/>
            </a:solidFill>
            <a:prstDash val="solid"/>
          </a:ln>
        </p:spPr>
        <p:txBody>
          <a:bodyPr/>
          <a:lstStyle/>
          <a:p>
            <a:endParaRPr lang="es-PE"/>
          </a:p>
        </p:txBody>
      </p:sp>
      <p:sp>
        <p:nvSpPr>
          <p:cNvPr id="7" name="Shape 5"/>
          <p:cNvSpPr/>
          <p:nvPr/>
        </p:nvSpPr>
        <p:spPr>
          <a:xfrm>
            <a:off x="457200" y="1185168"/>
            <a:ext cx="5532120" cy="384048"/>
          </a:xfrm>
          <a:prstGeom prst="rect">
            <a:avLst/>
          </a:prstGeom>
          <a:solidFill>
            <a:srgbClr val="1A5490"/>
          </a:solidFill>
          <a:ln w="12700">
            <a:solidFill>
              <a:srgbClr val="333333"/>
            </a:solidFill>
            <a:prstDash val="solid"/>
          </a:ln>
        </p:spPr>
        <p:txBody>
          <a:bodyPr/>
          <a:lstStyle/>
          <a:p>
            <a:endParaRPr lang="es-PE"/>
          </a:p>
        </p:txBody>
      </p:sp>
      <p:sp>
        <p:nvSpPr>
          <p:cNvPr id="8" name="Text 6"/>
          <p:cNvSpPr/>
          <p:nvPr/>
        </p:nvSpPr>
        <p:spPr>
          <a:xfrm>
            <a:off x="594360" y="1221744"/>
            <a:ext cx="5257800" cy="310896"/>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1. Expected Loss (EL) — Basel II</a:t>
            </a:r>
            <a:endParaRPr lang="en-US" sz="1250" dirty="0"/>
          </a:p>
        </p:txBody>
      </p:sp>
      <p:sp>
        <p:nvSpPr>
          <p:cNvPr id="9" name="Shape 7"/>
          <p:cNvSpPr/>
          <p:nvPr/>
        </p:nvSpPr>
        <p:spPr>
          <a:xfrm>
            <a:off x="594360" y="1624080"/>
            <a:ext cx="5257800" cy="292608"/>
          </a:xfrm>
          <a:prstGeom prst="rect">
            <a:avLst/>
          </a:prstGeom>
          <a:solidFill>
            <a:srgbClr val="F5F5F5"/>
          </a:solidFill>
          <a:ln w="12700">
            <a:solidFill>
              <a:srgbClr val="333333"/>
            </a:solidFill>
            <a:prstDash val="solid"/>
          </a:ln>
        </p:spPr>
        <p:txBody>
          <a:bodyPr/>
          <a:lstStyle/>
          <a:p>
            <a:endParaRPr lang="es-PE"/>
          </a:p>
        </p:txBody>
      </p:sp>
      <p:sp>
        <p:nvSpPr>
          <p:cNvPr id="10" name="Text 8"/>
          <p:cNvSpPr/>
          <p:nvPr/>
        </p:nvSpPr>
        <p:spPr>
          <a:xfrm>
            <a:off x="658368" y="1642368"/>
            <a:ext cx="5129784" cy="274320"/>
          </a:xfrm>
          <a:prstGeom prst="rect">
            <a:avLst/>
          </a:prstGeom>
          <a:noFill/>
          <a:ln/>
        </p:spPr>
        <p:txBody>
          <a:bodyPr wrap="square" lIns="0" tIns="0" rIns="0" bIns="0" rtlCol="0" anchor="ctr"/>
          <a:lstStyle/>
          <a:p>
            <a:pPr marL="0" indent="0">
              <a:buNone/>
            </a:pPr>
            <a:r>
              <a:rPr lang="en-US" sz="950" b="1" dirty="0">
                <a:solidFill>
                  <a:srgbClr val="333333"/>
                </a:solidFill>
                <a:latin typeface="Courier New" pitchFamily="34" charset="0"/>
                <a:ea typeface="Courier New" pitchFamily="34" charset="-122"/>
                <a:cs typeface="Courier New" pitchFamily="34" charset="-120"/>
              </a:rPr>
              <a:t>EL_i = EAD_i × PD_i     ·     EAD = Revenue_reciente   ·   PD = ChurnScore/100</a:t>
            </a:r>
            <a:endParaRPr lang="en-US" sz="950" dirty="0"/>
          </a:p>
        </p:txBody>
      </p:sp>
      <p:sp>
        <p:nvSpPr>
          <p:cNvPr id="11" name="Text 9"/>
          <p:cNvSpPr/>
          <p:nvPr/>
        </p:nvSpPr>
        <p:spPr>
          <a:xfrm>
            <a:off x="594360" y="1962408"/>
            <a:ext cx="5257800" cy="393192"/>
          </a:xfrm>
          <a:prstGeom prst="rect">
            <a:avLst/>
          </a:prstGeom>
          <a:noFill/>
          <a:ln/>
        </p:spPr>
        <p:txBody>
          <a:bodyPr wrap="square" lIns="0" tIns="0" rIns="0" bIns="0" rtlCol="0" anchor="ctr"/>
          <a:lstStyle/>
          <a:p>
            <a:pPr marL="0" indent="0">
              <a:buNone/>
            </a:pPr>
            <a:r>
              <a:rPr lang="en-US" sz="900" b="1" dirty="0">
                <a:solidFill>
                  <a:srgbClr val="1A5490"/>
                </a:solidFill>
                <a:latin typeface="Calibri" pitchFamily="34" charset="0"/>
                <a:ea typeface="Calibri" pitchFamily="34" charset="-122"/>
                <a:cs typeface="Calibri" pitchFamily="34" charset="-120"/>
              </a:rPr>
              <a:t>Lectura: </a:t>
            </a:r>
            <a:r>
              <a:rPr lang="es-ES" sz="900" dirty="0">
                <a:latin typeface="Calibri" pitchFamily="34" charset="0"/>
                <a:ea typeface="Calibri" pitchFamily="34" charset="-122"/>
                <a:cs typeface="Calibri" pitchFamily="34" charset="-120"/>
              </a:rPr>
              <a:t>¿Cuánto </a:t>
            </a:r>
            <a:r>
              <a:rPr lang="es-ES" sz="900" dirty="0" err="1">
                <a:latin typeface="Calibri" pitchFamily="34" charset="0"/>
                <a:ea typeface="Calibri" pitchFamily="34" charset="-122"/>
                <a:cs typeface="Calibri" pitchFamily="34" charset="-120"/>
              </a:rPr>
              <a:t>revenue</a:t>
            </a:r>
            <a:r>
              <a:rPr lang="es-ES" sz="900" dirty="0">
                <a:latin typeface="Calibri" pitchFamily="34" charset="0"/>
                <a:ea typeface="Calibri" pitchFamily="34" charset="-122"/>
                <a:cs typeface="Calibri" pitchFamily="34" charset="-120"/>
              </a:rPr>
              <a:t> del portafolio actual está realmente "bajo fuego"? El </a:t>
            </a:r>
            <a:r>
              <a:rPr lang="es-ES" sz="900" dirty="0" err="1">
                <a:latin typeface="Calibri" pitchFamily="34" charset="0"/>
                <a:ea typeface="Calibri" pitchFamily="34" charset="-122"/>
                <a:cs typeface="Calibri" pitchFamily="34" charset="-120"/>
              </a:rPr>
              <a:t>EL</a:t>
            </a:r>
            <a:r>
              <a:rPr lang="es-ES" sz="900" dirty="0">
                <a:latin typeface="Calibri" pitchFamily="34" charset="0"/>
                <a:ea typeface="Calibri" pitchFamily="34" charset="-122"/>
                <a:cs typeface="Calibri" pitchFamily="34" charset="-120"/>
              </a:rPr>
              <a:t> no es una predicción de pérdida exacta por cliente, sino la provisión estadística que la firma debe considerar para su planeamiento de crecimiento neto.</a:t>
            </a:r>
            <a:endParaRPr lang="en-US" sz="900" dirty="0"/>
          </a:p>
        </p:txBody>
      </p:sp>
      <p:sp>
        <p:nvSpPr>
          <p:cNvPr id="12" name="Text 10"/>
          <p:cNvSpPr/>
          <p:nvPr/>
        </p:nvSpPr>
        <p:spPr>
          <a:xfrm>
            <a:off x="594360" y="2447040"/>
            <a:ext cx="5257800" cy="292608"/>
          </a:xfrm>
          <a:prstGeom prst="rect">
            <a:avLst/>
          </a:prstGeom>
          <a:noFill/>
          <a:ln/>
        </p:spPr>
        <p:txBody>
          <a:bodyPr wrap="square" lIns="0" tIns="0" rIns="0" bIns="0" rtlCol="0" anchor="ctr"/>
          <a:lstStyle/>
          <a:p>
            <a:pPr marL="0" indent="0">
              <a:buNone/>
            </a:pPr>
            <a:r>
              <a:rPr lang="es-ES" sz="900" b="1" dirty="0">
                <a:solidFill>
                  <a:srgbClr val="1A5490"/>
                </a:solidFill>
                <a:latin typeface="Calibri" pitchFamily="34" charset="0"/>
                <a:ea typeface="Calibri" pitchFamily="34" charset="-122"/>
                <a:cs typeface="Calibri" pitchFamily="34" charset="-120"/>
              </a:rPr>
              <a:t>EAD </a:t>
            </a:r>
            <a:r>
              <a:rPr lang="es-ES" sz="900" b="1" dirty="0">
                <a:latin typeface="Calibri" pitchFamily="34" charset="0"/>
                <a:ea typeface="Calibri" pitchFamily="34" charset="-122"/>
                <a:cs typeface="Calibri" pitchFamily="34" charset="-120"/>
              </a:rPr>
              <a:t>(</a:t>
            </a:r>
            <a:r>
              <a:rPr lang="es-ES" sz="900" b="1" dirty="0" err="1">
                <a:latin typeface="Calibri" pitchFamily="34" charset="0"/>
                <a:ea typeface="Calibri" pitchFamily="34" charset="-122"/>
                <a:cs typeface="Calibri" pitchFamily="34" charset="-120"/>
              </a:rPr>
              <a:t>Exposure</a:t>
            </a:r>
            <a:r>
              <a:rPr lang="es-ES" sz="900" b="1" dirty="0">
                <a:latin typeface="Calibri" pitchFamily="34" charset="0"/>
                <a:ea typeface="Calibri" pitchFamily="34" charset="-122"/>
                <a:cs typeface="Calibri" pitchFamily="34" charset="-120"/>
              </a:rPr>
              <a:t> at Default): </a:t>
            </a:r>
            <a:r>
              <a:rPr lang="es-ES" sz="900" b="1" dirty="0" err="1">
                <a:latin typeface="Calibri" pitchFamily="34" charset="0"/>
                <a:ea typeface="Calibri" pitchFamily="34" charset="-122"/>
                <a:cs typeface="Calibri" pitchFamily="34" charset="-120"/>
              </a:rPr>
              <a:t>Revenue</a:t>
            </a:r>
            <a:r>
              <a:rPr lang="es-ES" sz="900" b="1" dirty="0">
                <a:latin typeface="Calibri" pitchFamily="34" charset="0"/>
                <a:ea typeface="Calibri" pitchFamily="34" charset="-122"/>
                <a:cs typeface="Calibri" pitchFamily="34" charset="-120"/>
              </a:rPr>
              <a:t> actual del cliente (el monto total expuesto).PD (</a:t>
            </a:r>
            <a:r>
              <a:rPr lang="es-ES" sz="900" b="1" dirty="0" err="1">
                <a:latin typeface="Calibri" pitchFamily="34" charset="0"/>
                <a:ea typeface="Calibri" pitchFamily="34" charset="-122"/>
                <a:cs typeface="Calibri" pitchFamily="34" charset="-120"/>
              </a:rPr>
              <a:t>Probability</a:t>
            </a:r>
            <a:r>
              <a:rPr lang="es-ES" sz="900" b="1" dirty="0">
                <a:latin typeface="Calibri" pitchFamily="34" charset="0"/>
                <a:ea typeface="Calibri" pitchFamily="34" charset="-122"/>
                <a:cs typeface="Calibri" pitchFamily="34" charset="-120"/>
              </a:rPr>
              <a:t> </a:t>
            </a:r>
            <a:r>
              <a:rPr lang="es-ES" sz="900" b="1" dirty="0" err="1">
                <a:latin typeface="Calibri" pitchFamily="34" charset="0"/>
                <a:ea typeface="Calibri" pitchFamily="34" charset="-122"/>
                <a:cs typeface="Calibri" pitchFamily="34" charset="-120"/>
              </a:rPr>
              <a:t>of</a:t>
            </a:r>
            <a:r>
              <a:rPr lang="es-ES" sz="900" b="1" dirty="0">
                <a:latin typeface="Calibri" pitchFamily="34" charset="0"/>
                <a:ea typeface="Calibri" pitchFamily="34" charset="-122"/>
                <a:cs typeface="Calibri" pitchFamily="34" charset="-120"/>
              </a:rPr>
              <a:t> Default): Probabilidad de abandono calibrada desde el </a:t>
            </a:r>
            <a:r>
              <a:rPr lang="es-ES" sz="900" b="1" dirty="0" err="1">
                <a:latin typeface="Calibri" pitchFamily="34" charset="0"/>
                <a:ea typeface="Calibri" pitchFamily="34" charset="-122"/>
                <a:cs typeface="Calibri" pitchFamily="34" charset="-120"/>
              </a:rPr>
              <a:t>Churn</a:t>
            </a:r>
            <a:r>
              <a:rPr lang="es-ES" sz="900" b="1" dirty="0">
                <a:latin typeface="Calibri" pitchFamily="34" charset="0"/>
                <a:ea typeface="Calibri" pitchFamily="34" charset="-122"/>
                <a:cs typeface="Calibri" pitchFamily="34" charset="-120"/>
              </a:rPr>
              <a:t> Score.</a:t>
            </a:r>
            <a:endParaRPr lang="en-US" sz="900" dirty="0"/>
          </a:p>
        </p:txBody>
      </p:sp>
      <p:sp>
        <p:nvSpPr>
          <p:cNvPr id="13" name="Text 11"/>
          <p:cNvSpPr/>
          <p:nvPr/>
        </p:nvSpPr>
        <p:spPr>
          <a:xfrm>
            <a:off x="594360" y="2818128"/>
            <a:ext cx="5257800" cy="457200"/>
          </a:xfrm>
          <a:prstGeom prst="rect">
            <a:avLst/>
          </a:prstGeom>
          <a:noFill/>
          <a:ln/>
        </p:spPr>
        <p:txBody>
          <a:bodyPr wrap="square" lIns="0" tIns="0" rIns="0" bIns="0" rtlCol="0" anchor="ctr"/>
          <a:lstStyle/>
          <a:p>
            <a:pPr marL="0" indent="0">
              <a:buNone/>
            </a:pPr>
            <a:r>
              <a:rPr lang="es-ES" sz="850" b="1" dirty="0">
                <a:solidFill>
                  <a:srgbClr val="B00020"/>
                </a:solidFill>
                <a:latin typeface="Calibri" pitchFamily="34" charset="0"/>
                <a:ea typeface="Calibri" pitchFamily="34" charset="-122"/>
                <a:cs typeface="Calibri" pitchFamily="34" charset="-120"/>
              </a:rPr>
              <a:t>Criterio</a:t>
            </a:r>
            <a:r>
              <a:rPr lang="es-ES" sz="850" b="1" dirty="0">
                <a:solidFill>
                  <a:srgbClr val="B00020"/>
                </a:solidFill>
                <a:latin typeface="Calibri" pitchFamily="34" charset="0"/>
                <a:cs typeface="Calibri" pitchFamily="34" charset="-120"/>
              </a:rPr>
              <a:t>:</a:t>
            </a:r>
            <a:r>
              <a:rPr lang="es-ES" sz="850" b="1" dirty="0">
                <a:latin typeface="Calibri" pitchFamily="34" charset="0"/>
                <a:ea typeface="Calibri" pitchFamily="34" charset="-122"/>
                <a:cs typeface="Calibri" pitchFamily="34" charset="-120"/>
              </a:rPr>
              <a:t> </a:t>
            </a:r>
            <a:r>
              <a:rPr lang="es-ES" sz="850" dirty="0">
                <a:latin typeface="Calibri" pitchFamily="34" charset="0"/>
                <a:ea typeface="Calibri" pitchFamily="34" charset="-122"/>
                <a:cs typeface="Calibri" pitchFamily="34" charset="-120"/>
              </a:rPr>
              <a:t>Dado que el riesgo es binario, el modelo complementa el </a:t>
            </a:r>
            <a:r>
              <a:rPr lang="es-ES" sz="850" dirty="0" err="1">
                <a:latin typeface="Calibri" pitchFamily="34" charset="0"/>
                <a:ea typeface="Calibri" pitchFamily="34" charset="-122"/>
                <a:cs typeface="Calibri" pitchFamily="34" charset="-120"/>
              </a:rPr>
              <a:t>EL</a:t>
            </a:r>
            <a:r>
              <a:rPr lang="es-ES" sz="850" dirty="0">
                <a:latin typeface="Calibri" pitchFamily="34" charset="0"/>
                <a:ea typeface="Calibri" pitchFamily="34" charset="-122"/>
                <a:cs typeface="Calibri" pitchFamily="34" charset="-120"/>
              </a:rPr>
              <a:t> con simulaciones de Monte Carlo (</a:t>
            </a:r>
            <a:r>
              <a:rPr lang="es-ES" sz="850" dirty="0" err="1">
                <a:latin typeface="Calibri" pitchFamily="34" charset="0"/>
                <a:ea typeface="Calibri" pitchFamily="34" charset="-122"/>
                <a:cs typeface="Calibri" pitchFamily="34" charset="-120"/>
              </a:rPr>
              <a:t>Value</a:t>
            </a:r>
            <a:r>
              <a:rPr lang="es-ES" sz="850" dirty="0">
                <a:latin typeface="Calibri" pitchFamily="34" charset="0"/>
                <a:ea typeface="Calibri" pitchFamily="34" charset="-122"/>
                <a:cs typeface="Calibri" pitchFamily="34" charset="-120"/>
              </a:rPr>
              <a:t> at </a:t>
            </a:r>
            <a:r>
              <a:rPr lang="es-ES" sz="850" dirty="0" err="1">
                <a:latin typeface="Calibri" pitchFamily="34" charset="0"/>
                <a:ea typeface="Calibri" pitchFamily="34" charset="-122"/>
                <a:cs typeface="Calibri" pitchFamily="34" charset="-120"/>
              </a:rPr>
              <a:t>Risk</a:t>
            </a:r>
            <a:r>
              <a:rPr lang="es-ES" sz="850" dirty="0">
                <a:latin typeface="Calibri" pitchFamily="34" charset="0"/>
                <a:ea typeface="Calibri" pitchFamily="34" charset="-122"/>
                <a:cs typeface="Calibri" pitchFamily="34" charset="-120"/>
              </a:rPr>
              <a:t>) para entender el impacto de escenarios de fuga masiva y estrés de portafolio. El PD deriva de un score ordinal (0-100) normalizado a [0,1] — sirve como proxy calibrado, no como PD regulatoria. </a:t>
            </a:r>
            <a:r>
              <a:rPr lang="es-ES" sz="850" dirty="0" err="1">
                <a:latin typeface="Calibri" pitchFamily="34" charset="0"/>
                <a:ea typeface="Calibri" pitchFamily="34" charset="-122"/>
                <a:cs typeface="Calibri" pitchFamily="34" charset="-120"/>
              </a:rPr>
              <a:t>Basel</a:t>
            </a:r>
            <a:r>
              <a:rPr lang="es-ES" sz="850" dirty="0">
                <a:latin typeface="Calibri" pitchFamily="34" charset="0"/>
                <a:ea typeface="Calibri" pitchFamily="34" charset="-122"/>
                <a:cs typeface="Calibri" pitchFamily="34" charset="-120"/>
              </a:rPr>
              <a:t> II formal exige </a:t>
            </a:r>
            <a:r>
              <a:rPr lang="es-ES" sz="850" dirty="0" err="1">
                <a:latin typeface="Calibri" pitchFamily="34" charset="0"/>
                <a:ea typeface="Calibri" pitchFamily="34" charset="-122"/>
                <a:cs typeface="Calibri" pitchFamily="34" charset="-120"/>
              </a:rPr>
              <a:t>backtesting</a:t>
            </a:r>
            <a:r>
              <a:rPr lang="es-ES" sz="850" dirty="0">
                <a:latin typeface="Calibri" pitchFamily="34" charset="0"/>
                <a:ea typeface="Calibri" pitchFamily="34" charset="-122"/>
                <a:cs typeface="Calibri" pitchFamily="34" charset="-120"/>
              </a:rPr>
              <a:t> histórico.</a:t>
            </a:r>
            <a:endParaRPr lang="en-US" sz="850" dirty="0"/>
          </a:p>
        </p:txBody>
      </p:sp>
      <p:sp>
        <p:nvSpPr>
          <p:cNvPr id="14" name="Text 12"/>
          <p:cNvSpPr/>
          <p:nvPr/>
        </p:nvSpPr>
        <p:spPr>
          <a:xfrm>
            <a:off x="594360" y="3428910"/>
            <a:ext cx="5257800" cy="274320"/>
          </a:xfrm>
          <a:prstGeom prst="rect">
            <a:avLst/>
          </a:prstGeom>
          <a:noFill/>
          <a:ln/>
        </p:spPr>
        <p:txBody>
          <a:bodyPr wrap="square" lIns="0" tIns="0" rIns="0" bIns="0" rtlCol="0" anchor="ctr"/>
          <a:lstStyle/>
          <a:p>
            <a:pPr marL="0" indent="0">
              <a:buNone/>
            </a:pPr>
            <a:r>
              <a:rPr lang="es-ES" sz="850" i="1" dirty="0">
                <a:latin typeface="Calibri" pitchFamily="34" charset="0"/>
                <a:ea typeface="Calibri" pitchFamily="34" charset="-122"/>
                <a:cs typeface="Calibri" pitchFamily="34" charset="-120"/>
              </a:rPr>
              <a:t>El PD es un indicador predictivo calibrado (score 0-100), no una PD regulatoria. Sirve para medir sentimiento y desgaste, no solvencia financiera. </a:t>
            </a:r>
            <a:endParaRPr lang="en-US" sz="850" i="1" dirty="0"/>
          </a:p>
        </p:txBody>
      </p:sp>
      <p:sp>
        <p:nvSpPr>
          <p:cNvPr id="15" name="Shape 13"/>
          <p:cNvSpPr/>
          <p:nvPr/>
        </p:nvSpPr>
        <p:spPr>
          <a:xfrm>
            <a:off x="6172200" y="1185168"/>
            <a:ext cx="5532120" cy="2607816"/>
          </a:xfrm>
          <a:prstGeom prst="rect">
            <a:avLst/>
          </a:prstGeom>
          <a:solidFill>
            <a:srgbClr val="FFFFFF"/>
          </a:solidFill>
          <a:ln w="19050">
            <a:solidFill>
              <a:srgbClr val="D04A02"/>
            </a:solidFill>
            <a:prstDash val="solid"/>
          </a:ln>
        </p:spPr>
        <p:txBody>
          <a:bodyPr/>
          <a:lstStyle/>
          <a:p>
            <a:endParaRPr lang="es-PE"/>
          </a:p>
        </p:txBody>
      </p:sp>
      <p:sp>
        <p:nvSpPr>
          <p:cNvPr id="16" name="Shape 14"/>
          <p:cNvSpPr/>
          <p:nvPr/>
        </p:nvSpPr>
        <p:spPr>
          <a:xfrm>
            <a:off x="6172200" y="1185168"/>
            <a:ext cx="5532120" cy="384048"/>
          </a:xfrm>
          <a:prstGeom prst="rect">
            <a:avLst/>
          </a:prstGeom>
          <a:solidFill>
            <a:srgbClr val="D04A02"/>
          </a:solidFill>
          <a:ln w="12700">
            <a:solidFill>
              <a:srgbClr val="333333"/>
            </a:solidFill>
            <a:prstDash val="solid"/>
          </a:ln>
        </p:spPr>
        <p:txBody>
          <a:bodyPr/>
          <a:lstStyle/>
          <a:p>
            <a:endParaRPr lang="es-PE"/>
          </a:p>
        </p:txBody>
      </p:sp>
      <p:sp>
        <p:nvSpPr>
          <p:cNvPr id="17" name="Text 15"/>
          <p:cNvSpPr/>
          <p:nvPr/>
        </p:nvSpPr>
        <p:spPr>
          <a:xfrm>
            <a:off x="6309360" y="1221744"/>
            <a:ext cx="5257800" cy="310896"/>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2. VaR(95%) &amp; CVaR(95%) · Monte Carlo</a:t>
            </a:r>
            <a:endParaRPr lang="en-US" sz="1250" dirty="0"/>
          </a:p>
        </p:txBody>
      </p:sp>
      <p:sp>
        <p:nvSpPr>
          <p:cNvPr id="18" name="Shape 16"/>
          <p:cNvSpPr/>
          <p:nvPr/>
        </p:nvSpPr>
        <p:spPr>
          <a:xfrm>
            <a:off x="6309360" y="1624080"/>
            <a:ext cx="5257800" cy="292608"/>
          </a:xfrm>
          <a:prstGeom prst="rect">
            <a:avLst/>
          </a:prstGeom>
          <a:solidFill>
            <a:srgbClr val="F5F5F5"/>
          </a:solidFill>
          <a:ln w="12700">
            <a:solidFill>
              <a:srgbClr val="333333"/>
            </a:solidFill>
            <a:prstDash val="solid"/>
          </a:ln>
        </p:spPr>
        <p:txBody>
          <a:bodyPr/>
          <a:lstStyle/>
          <a:p>
            <a:endParaRPr lang="es-PE"/>
          </a:p>
        </p:txBody>
      </p:sp>
      <p:sp>
        <p:nvSpPr>
          <p:cNvPr id="19" name="Text 17"/>
          <p:cNvSpPr/>
          <p:nvPr/>
        </p:nvSpPr>
        <p:spPr>
          <a:xfrm>
            <a:off x="6373368" y="1642368"/>
            <a:ext cx="5129784" cy="274320"/>
          </a:xfrm>
          <a:prstGeom prst="rect">
            <a:avLst/>
          </a:prstGeom>
          <a:noFill/>
          <a:ln/>
        </p:spPr>
        <p:txBody>
          <a:bodyPr wrap="square" lIns="0" tIns="0" rIns="0" bIns="0" rtlCol="0" anchor="ctr"/>
          <a:lstStyle/>
          <a:p>
            <a:pPr marL="0" indent="0">
              <a:buNone/>
            </a:pPr>
            <a:r>
              <a:rPr lang="en-US" sz="950" b="1" dirty="0">
                <a:solidFill>
                  <a:srgbClr val="333333"/>
                </a:solidFill>
                <a:latin typeface="Courier New" pitchFamily="34" charset="0"/>
                <a:ea typeface="Courier New" pitchFamily="34" charset="-122"/>
                <a:cs typeface="Courier New" pitchFamily="34" charset="-120"/>
              </a:rPr>
              <a:t>10,000 escenarios Bernoulli(PD_i) × EAD_i  →  VaR = P95(Losses) · CVaR = E[L | L ≥ VaR]</a:t>
            </a:r>
            <a:endParaRPr lang="en-US" sz="950" dirty="0"/>
          </a:p>
        </p:txBody>
      </p:sp>
      <p:sp>
        <p:nvSpPr>
          <p:cNvPr id="20" name="Text 18"/>
          <p:cNvSpPr/>
          <p:nvPr/>
        </p:nvSpPr>
        <p:spPr>
          <a:xfrm>
            <a:off x="6309360" y="1962408"/>
            <a:ext cx="5257800" cy="530352"/>
          </a:xfrm>
          <a:prstGeom prst="rect">
            <a:avLst/>
          </a:prstGeom>
          <a:noFill/>
          <a:ln/>
        </p:spPr>
        <p:txBody>
          <a:bodyPr wrap="square" lIns="0" tIns="0" rIns="0" bIns="0" rtlCol="0" anchor="ctr"/>
          <a:lstStyle/>
          <a:p>
            <a:pPr marL="0" indent="0">
              <a:buNone/>
            </a:pPr>
            <a:r>
              <a:rPr lang="en-US" sz="900" b="1" dirty="0">
                <a:solidFill>
                  <a:srgbClr val="D04A02"/>
                </a:solidFill>
                <a:latin typeface="Calibri" pitchFamily="34" charset="0"/>
                <a:ea typeface="Calibri" pitchFamily="34" charset="-122"/>
                <a:cs typeface="Calibri" pitchFamily="34" charset="-120"/>
              </a:rPr>
              <a:t>Lectura: </a:t>
            </a:r>
            <a:r>
              <a:rPr lang="es-ES" sz="900" dirty="0">
                <a:solidFill>
                  <a:srgbClr val="333333"/>
                </a:solidFill>
                <a:latin typeface="Calibri" pitchFamily="34" charset="0"/>
                <a:ea typeface="Calibri" pitchFamily="34" charset="-122"/>
                <a:cs typeface="Calibri" pitchFamily="34" charset="-120"/>
              </a:rPr>
              <a:t>Implementamos Monte Carlo y VaR porque la facturación en consultoría es binaria: un cliente no se va "un poco", se va al 100%. Mientras que los promedios tradicionales ocultan el peligro de perder cuentas críticas, estas métricas actúan como un test de estrés que cuantifica el impacto financiero de los peores escenarios posibles.</a:t>
            </a:r>
            <a:endParaRPr lang="en-US" sz="900" dirty="0"/>
          </a:p>
        </p:txBody>
      </p:sp>
      <p:sp>
        <p:nvSpPr>
          <p:cNvPr id="23" name="Text 21"/>
          <p:cNvSpPr/>
          <p:nvPr/>
        </p:nvSpPr>
        <p:spPr>
          <a:xfrm>
            <a:off x="6309360" y="2843784"/>
            <a:ext cx="5257800" cy="274320"/>
          </a:xfrm>
          <a:prstGeom prst="rect">
            <a:avLst/>
          </a:prstGeom>
          <a:noFill/>
          <a:ln/>
        </p:spPr>
        <p:txBody>
          <a:bodyPr wrap="square" lIns="0" tIns="0" rIns="0" bIns="0" rtlCol="0" anchor="ctr"/>
          <a:lstStyle/>
          <a:p>
            <a:r>
              <a:rPr lang="en-US" sz="850" b="1" dirty="0">
                <a:solidFill>
                  <a:srgbClr val="27AE60"/>
                </a:solidFill>
                <a:latin typeface="Calibri" pitchFamily="34" charset="0"/>
                <a:ea typeface="Calibri" pitchFamily="34" charset="-122"/>
                <a:cs typeface="Calibri" pitchFamily="34" charset="-120"/>
              </a:rPr>
              <a:t>Uso ideal: </a:t>
            </a:r>
            <a:r>
              <a:rPr lang="en-US" sz="850" dirty="0">
                <a:solidFill>
                  <a:srgbClr val="333333"/>
                </a:solidFill>
                <a:latin typeface="Calibri" pitchFamily="34" charset="0"/>
                <a:ea typeface="Calibri" pitchFamily="34" charset="-122"/>
                <a:cs typeface="Calibri" pitchFamily="34" charset="-120"/>
              </a:rPr>
              <a:t>Capital económico y contingencia: cuánto reservar para escenarios de </a:t>
            </a:r>
            <a:r>
              <a:rPr lang="en-US" sz="850" dirty="0" err="1">
                <a:solidFill>
                  <a:srgbClr val="333333"/>
                </a:solidFill>
                <a:latin typeface="Calibri" pitchFamily="34" charset="0"/>
                <a:ea typeface="Calibri" pitchFamily="34" charset="-122"/>
                <a:cs typeface="Calibri" pitchFamily="34" charset="-120"/>
              </a:rPr>
              <a:t>estrés</a:t>
            </a:r>
            <a:r>
              <a:rPr lang="en-US" sz="850" dirty="0">
                <a:solidFill>
                  <a:srgbClr val="333333"/>
                </a:solidFill>
                <a:latin typeface="Calibri" pitchFamily="34" charset="0"/>
                <a:ea typeface="Calibri" pitchFamily="34" charset="-122"/>
                <a:cs typeface="Calibri" pitchFamily="34" charset="-120"/>
              </a:rPr>
              <a:t>. </a:t>
            </a:r>
            <a:r>
              <a:rPr lang="es-ES" sz="900" dirty="0"/>
              <a:t>Sirve para ver la realidad del negocio más allá del optimismo. Al restar el dinero en riesgo de la meta de ventas, se obtienen objetivos reales que aseguran no perder dinero. Es la guía para que los jefes enfoquen su esfuerzo en cuidar a los clientes más importantes, garantizando que el éxito sea lo que realmente se queda en la empresa y no solo lo que se intenta vender.</a:t>
            </a:r>
          </a:p>
          <a:p>
            <a:endParaRPr lang="en-US" sz="850" dirty="0"/>
          </a:p>
        </p:txBody>
      </p:sp>
      <p:sp>
        <p:nvSpPr>
          <p:cNvPr id="24" name="Shape 22"/>
          <p:cNvSpPr/>
          <p:nvPr/>
        </p:nvSpPr>
        <p:spPr>
          <a:xfrm>
            <a:off x="457200" y="3930144"/>
            <a:ext cx="5532120" cy="2331720"/>
          </a:xfrm>
          <a:prstGeom prst="rect">
            <a:avLst/>
          </a:prstGeom>
          <a:solidFill>
            <a:srgbClr val="FFFFFF"/>
          </a:solidFill>
          <a:ln w="19050">
            <a:solidFill>
              <a:srgbClr val="27AE60"/>
            </a:solidFill>
            <a:prstDash val="solid"/>
          </a:ln>
        </p:spPr>
        <p:txBody>
          <a:bodyPr/>
          <a:lstStyle/>
          <a:p>
            <a:endParaRPr lang="es-PE"/>
          </a:p>
        </p:txBody>
      </p:sp>
      <p:sp>
        <p:nvSpPr>
          <p:cNvPr id="25" name="Shape 23"/>
          <p:cNvSpPr/>
          <p:nvPr/>
        </p:nvSpPr>
        <p:spPr>
          <a:xfrm>
            <a:off x="457200" y="3930144"/>
            <a:ext cx="5532120" cy="384048"/>
          </a:xfrm>
          <a:prstGeom prst="rect">
            <a:avLst/>
          </a:prstGeom>
          <a:solidFill>
            <a:srgbClr val="27AE60"/>
          </a:solidFill>
          <a:ln w="12700">
            <a:solidFill>
              <a:srgbClr val="333333"/>
            </a:solidFill>
            <a:prstDash val="solid"/>
          </a:ln>
        </p:spPr>
        <p:txBody>
          <a:bodyPr/>
          <a:lstStyle/>
          <a:p>
            <a:endParaRPr lang="es-PE"/>
          </a:p>
        </p:txBody>
      </p:sp>
      <p:sp>
        <p:nvSpPr>
          <p:cNvPr id="26" name="Text 24"/>
          <p:cNvSpPr/>
          <p:nvPr/>
        </p:nvSpPr>
        <p:spPr>
          <a:xfrm>
            <a:off x="594360" y="3966720"/>
            <a:ext cx="5257800" cy="310896"/>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3. NRAO — Net Risk-Adjusted Opportunity</a:t>
            </a:r>
            <a:endParaRPr lang="en-US" sz="1250" dirty="0"/>
          </a:p>
        </p:txBody>
      </p:sp>
      <p:sp>
        <p:nvSpPr>
          <p:cNvPr id="27" name="Shape 25"/>
          <p:cNvSpPr/>
          <p:nvPr/>
        </p:nvSpPr>
        <p:spPr>
          <a:xfrm>
            <a:off x="594360" y="4369056"/>
            <a:ext cx="5257800" cy="292608"/>
          </a:xfrm>
          <a:prstGeom prst="rect">
            <a:avLst/>
          </a:prstGeom>
          <a:solidFill>
            <a:srgbClr val="F5F5F5"/>
          </a:solidFill>
          <a:ln w="12700">
            <a:solidFill>
              <a:srgbClr val="333333"/>
            </a:solidFill>
            <a:prstDash val="solid"/>
          </a:ln>
        </p:spPr>
        <p:txBody>
          <a:bodyPr/>
          <a:lstStyle/>
          <a:p>
            <a:endParaRPr lang="es-PE"/>
          </a:p>
        </p:txBody>
      </p:sp>
      <p:sp>
        <p:nvSpPr>
          <p:cNvPr id="28" name="Text 26"/>
          <p:cNvSpPr/>
          <p:nvPr/>
        </p:nvSpPr>
        <p:spPr>
          <a:xfrm>
            <a:off x="658368" y="4387344"/>
            <a:ext cx="5129784" cy="274320"/>
          </a:xfrm>
          <a:prstGeom prst="rect">
            <a:avLst/>
          </a:prstGeom>
          <a:noFill/>
          <a:ln/>
        </p:spPr>
        <p:txBody>
          <a:bodyPr wrap="square" lIns="0" tIns="0" rIns="0" bIns="0" rtlCol="0" anchor="ctr"/>
          <a:lstStyle/>
          <a:p>
            <a:r>
              <a:rPr lang="en-US" sz="950" b="1" dirty="0" err="1">
                <a:solidFill>
                  <a:srgbClr val="333333"/>
                </a:solidFill>
                <a:latin typeface="Courier New" pitchFamily="34" charset="0"/>
                <a:ea typeface="Courier New" pitchFamily="34" charset="-122"/>
                <a:cs typeface="Courier New" pitchFamily="34" charset="-120"/>
              </a:rPr>
              <a:t>NRAO_i</a:t>
            </a:r>
            <a:r>
              <a:rPr lang="en-US" sz="950" b="1" dirty="0">
                <a:solidFill>
                  <a:srgbClr val="333333"/>
                </a:solidFill>
                <a:latin typeface="Courier New" pitchFamily="34" charset="0"/>
                <a:ea typeface="Courier New" pitchFamily="34" charset="-122"/>
                <a:cs typeface="Courier New" pitchFamily="34" charset="-120"/>
              </a:rPr>
              <a:t> = Margin </a:t>
            </a:r>
            <a:r>
              <a:rPr lang="en-US" sz="950" b="1" dirty="0" err="1">
                <a:solidFill>
                  <a:srgbClr val="333333"/>
                </a:solidFill>
                <a:latin typeface="Courier New" pitchFamily="34" charset="0"/>
                <a:ea typeface="Courier New" pitchFamily="34" charset="-122"/>
                <a:cs typeface="Courier New" pitchFamily="34" charset="-120"/>
              </a:rPr>
              <a:t>Upsell_i</a:t>
            </a:r>
            <a:r>
              <a:rPr lang="en-US" sz="950" b="1" dirty="0">
                <a:solidFill>
                  <a:srgbClr val="333333"/>
                </a:solidFill>
                <a:latin typeface="Courier New" pitchFamily="34" charset="0"/>
                <a:ea typeface="Courier New" pitchFamily="34" charset="-122"/>
                <a:cs typeface="Courier New" pitchFamily="34" charset="-120"/>
              </a:rPr>
              <a:t> − (</a:t>
            </a:r>
            <a:r>
              <a:rPr lang="en-US" sz="950" b="1" dirty="0" err="1">
                <a:solidFill>
                  <a:srgbClr val="333333"/>
                </a:solidFill>
                <a:latin typeface="Courier New" pitchFamily="34" charset="0"/>
                <a:ea typeface="Courier New" pitchFamily="34" charset="-122"/>
                <a:cs typeface="Courier New" pitchFamily="34" charset="-120"/>
              </a:rPr>
              <a:t>EL_i</a:t>
            </a:r>
            <a:r>
              <a:rPr lang="en-US" sz="950" b="1" dirty="0">
                <a:solidFill>
                  <a:srgbClr val="333333"/>
                </a:solidFill>
                <a:latin typeface="Courier New" pitchFamily="34" charset="0"/>
                <a:ea typeface="Courier New" pitchFamily="34" charset="-122"/>
                <a:cs typeface="Courier New" pitchFamily="34" charset="-120"/>
              </a:rPr>
              <a:t> × Margin%) </a:t>
            </a:r>
            <a:endParaRPr lang="en-US" sz="950" dirty="0"/>
          </a:p>
        </p:txBody>
      </p:sp>
      <p:sp>
        <p:nvSpPr>
          <p:cNvPr id="29" name="Text 27"/>
          <p:cNvSpPr/>
          <p:nvPr/>
        </p:nvSpPr>
        <p:spPr>
          <a:xfrm>
            <a:off x="594360" y="4707384"/>
            <a:ext cx="5257800" cy="530352"/>
          </a:xfrm>
          <a:prstGeom prst="rect">
            <a:avLst/>
          </a:prstGeom>
          <a:noFill/>
          <a:ln/>
        </p:spPr>
        <p:txBody>
          <a:bodyPr wrap="square" lIns="0" tIns="0" rIns="0" bIns="0" rtlCol="0" anchor="ctr"/>
          <a:lstStyle/>
          <a:p>
            <a:pPr marL="0" indent="0">
              <a:buNone/>
            </a:pPr>
            <a:r>
              <a:rPr lang="en-US" sz="900" b="1" dirty="0" err="1">
                <a:solidFill>
                  <a:srgbClr val="27AE60"/>
                </a:solidFill>
                <a:latin typeface="Calibri" pitchFamily="34" charset="0"/>
                <a:ea typeface="Calibri" pitchFamily="34" charset="-122"/>
                <a:cs typeface="Calibri" pitchFamily="34" charset="-120"/>
              </a:rPr>
              <a:t>Definición</a:t>
            </a:r>
            <a:r>
              <a:rPr lang="en-US" sz="900" b="1" dirty="0">
                <a:solidFill>
                  <a:srgbClr val="27AE60"/>
                </a:solidFill>
                <a:latin typeface="Calibri" pitchFamily="34" charset="0"/>
                <a:ea typeface="Calibri" pitchFamily="34" charset="-122"/>
                <a:cs typeface="Calibri" pitchFamily="34" charset="-120"/>
              </a:rPr>
              <a:t>: </a:t>
            </a:r>
            <a:r>
              <a:rPr lang="es-ES" sz="900" b="1" dirty="0">
                <a:solidFill>
                  <a:srgbClr val="333333"/>
                </a:solidFill>
                <a:latin typeface="Calibri" pitchFamily="34" charset="0"/>
                <a:ea typeface="Calibri" pitchFamily="34" charset="-122"/>
                <a:cs typeface="Calibri" pitchFamily="34" charset="-120"/>
              </a:rPr>
              <a:t>E</a:t>
            </a:r>
            <a:r>
              <a:rPr lang="es-ES" sz="900" dirty="0">
                <a:solidFill>
                  <a:srgbClr val="333333"/>
                </a:solidFill>
                <a:latin typeface="Calibri" pitchFamily="34" charset="0"/>
                <a:ea typeface="Calibri" pitchFamily="34" charset="-122"/>
                <a:cs typeface="Calibri" pitchFamily="34" charset="-120"/>
              </a:rPr>
              <a:t>l valor neto real de un cliente para la firma después de ajustar las expectativas por el riesgo de que se vaya. Es la métrica que da referente a las proyecciones de venta.</a:t>
            </a:r>
            <a:endParaRPr lang="en-US" sz="900" dirty="0"/>
          </a:p>
        </p:txBody>
      </p:sp>
      <p:sp>
        <p:nvSpPr>
          <p:cNvPr id="31" name="Text 29"/>
          <p:cNvSpPr/>
          <p:nvPr/>
        </p:nvSpPr>
        <p:spPr>
          <a:xfrm>
            <a:off x="594360" y="5146296"/>
            <a:ext cx="5257800" cy="457200"/>
          </a:xfrm>
          <a:prstGeom prst="rect">
            <a:avLst/>
          </a:prstGeom>
          <a:noFill/>
          <a:ln/>
        </p:spPr>
        <p:txBody>
          <a:bodyPr wrap="square" lIns="0" tIns="0" rIns="0" bIns="0" rtlCol="0" anchor="ctr"/>
          <a:lstStyle/>
          <a:p>
            <a:r>
              <a:rPr lang="en-US" sz="850" b="1" dirty="0" err="1">
                <a:solidFill>
                  <a:srgbClr val="B00020"/>
                </a:solidFill>
                <a:latin typeface="Calibri" pitchFamily="34" charset="0"/>
                <a:ea typeface="Calibri" pitchFamily="34" charset="-122"/>
                <a:cs typeface="Calibri" pitchFamily="34" charset="-120"/>
              </a:rPr>
              <a:t>Criterio</a:t>
            </a:r>
            <a:r>
              <a:rPr lang="en-US" sz="850" b="1" dirty="0">
                <a:solidFill>
                  <a:srgbClr val="B00020"/>
                </a:solidFill>
                <a:latin typeface="Calibri" pitchFamily="34" charset="0"/>
                <a:ea typeface="Calibri" pitchFamily="34" charset="-122"/>
                <a:cs typeface="Calibri" pitchFamily="34" charset="-120"/>
              </a:rPr>
              <a:t>: </a:t>
            </a:r>
            <a:r>
              <a:rPr lang="es-ES" sz="900" dirty="0"/>
              <a:t>El modelo contrasta el riesgo de pérdida inmediata (horizonte de 12 meses) con el potencial de expansión a mediano plazo (basado en la duración estimada del proyecto). Este desfase temporal actúa como un margen de seguridad, priorizando la consolidación del ingreso actual antes de capitalizar nuevas oportunidades.</a:t>
            </a:r>
            <a:endParaRPr lang="en-US" sz="850" dirty="0"/>
          </a:p>
        </p:txBody>
      </p:sp>
      <p:sp>
        <p:nvSpPr>
          <p:cNvPr id="32" name="Text 30"/>
          <p:cNvSpPr/>
          <p:nvPr/>
        </p:nvSpPr>
        <p:spPr>
          <a:xfrm>
            <a:off x="594360" y="5789838"/>
            <a:ext cx="5257800" cy="274320"/>
          </a:xfrm>
          <a:prstGeom prst="rect">
            <a:avLst/>
          </a:prstGeom>
          <a:noFill/>
          <a:ln/>
        </p:spPr>
        <p:txBody>
          <a:bodyPr wrap="square" lIns="0" tIns="0" rIns="0" bIns="0" rtlCol="0" anchor="ctr"/>
          <a:lstStyle/>
          <a:p>
            <a:r>
              <a:rPr lang="en-US" sz="850" b="1" dirty="0">
                <a:solidFill>
                  <a:srgbClr val="27AE60"/>
                </a:solidFill>
                <a:latin typeface="Calibri" pitchFamily="34" charset="0"/>
                <a:ea typeface="Calibri" pitchFamily="34" charset="-122"/>
                <a:cs typeface="Calibri" pitchFamily="34" charset="-120"/>
              </a:rPr>
              <a:t>Uso ideal: </a:t>
            </a:r>
            <a:r>
              <a:rPr lang="es-ES" sz="900" dirty="0"/>
              <a:t>Sirve como referente estratégico para proyectar la rentabilidad neta real a futuro. Al descontar proactivamente el riesgo del potencial comercial, este indicador permite a la Dirección establecer metas de crecimiento realistas y asegurar que el esfuerzo de hoy se traduzca en utilidad líquida mañana.</a:t>
            </a:r>
            <a:endParaRPr lang="en-US" sz="900" dirty="0"/>
          </a:p>
        </p:txBody>
      </p:sp>
      <p:sp>
        <p:nvSpPr>
          <p:cNvPr id="33" name="Shape 31"/>
          <p:cNvSpPr/>
          <p:nvPr/>
        </p:nvSpPr>
        <p:spPr>
          <a:xfrm>
            <a:off x="6185916" y="3930144"/>
            <a:ext cx="5532120" cy="2331720"/>
          </a:xfrm>
          <a:prstGeom prst="rect">
            <a:avLst/>
          </a:prstGeom>
          <a:solidFill>
            <a:srgbClr val="FFFFFF"/>
          </a:solidFill>
          <a:ln w="19050">
            <a:solidFill>
              <a:srgbClr val="D4A843"/>
            </a:solidFill>
            <a:prstDash val="solid"/>
          </a:ln>
        </p:spPr>
        <p:txBody>
          <a:bodyPr/>
          <a:lstStyle/>
          <a:p>
            <a:endParaRPr lang="es-PE"/>
          </a:p>
        </p:txBody>
      </p:sp>
      <p:sp>
        <p:nvSpPr>
          <p:cNvPr id="34" name="Shape 32"/>
          <p:cNvSpPr/>
          <p:nvPr/>
        </p:nvSpPr>
        <p:spPr>
          <a:xfrm>
            <a:off x="6185916" y="3930144"/>
            <a:ext cx="5532120" cy="384048"/>
          </a:xfrm>
          <a:prstGeom prst="rect">
            <a:avLst/>
          </a:prstGeom>
          <a:solidFill>
            <a:srgbClr val="D4A843"/>
          </a:solidFill>
          <a:ln w="12700">
            <a:solidFill>
              <a:srgbClr val="333333"/>
            </a:solidFill>
            <a:prstDash val="solid"/>
          </a:ln>
        </p:spPr>
        <p:txBody>
          <a:bodyPr/>
          <a:lstStyle/>
          <a:p>
            <a:endParaRPr lang="es-PE"/>
          </a:p>
        </p:txBody>
      </p:sp>
      <p:sp>
        <p:nvSpPr>
          <p:cNvPr id="35" name="Text 33"/>
          <p:cNvSpPr/>
          <p:nvPr/>
        </p:nvSpPr>
        <p:spPr>
          <a:xfrm>
            <a:off x="6323076" y="3966720"/>
            <a:ext cx="5257800" cy="310896"/>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4. Flag de Inconsistencia — Desviación Modelo</a:t>
            </a:r>
            <a:endParaRPr lang="en-US" sz="1250" dirty="0"/>
          </a:p>
        </p:txBody>
      </p:sp>
      <p:sp>
        <p:nvSpPr>
          <p:cNvPr id="36" name="Shape 34"/>
          <p:cNvSpPr/>
          <p:nvPr/>
        </p:nvSpPr>
        <p:spPr>
          <a:xfrm>
            <a:off x="6323076" y="4369056"/>
            <a:ext cx="5257800" cy="292608"/>
          </a:xfrm>
          <a:prstGeom prst="rect">
            <a:avLst/>
          </a:prstGeom>
          <a:solidFill>
            <a:srgbClr val="F5F5F5"/>
          </a:solidFill>
          <a:ln w="12700">
            <a:solidFill>
              <a:srgbClr val="333333"/>
            </a:solidFill>
            <a:prstDash val="solid"/>
          </a:ln>
        </p:spPr>
        <p:txBody>
          <a:bodyPr/>
          <a:lstStyle/>
          <a:p>
            <a:endParaRPr lang="es-PE"/>
          </a:p>
        </p:txBody>
      </p:sp>
      <p:sp>
        <p:nvSpPr>
          <p:cNvPr id="37" name="Text 35"/>
          <p:cNvSpPr/>
          <p:nvPr/>
        </p:nvSpPr>
        <p:spPr>
          <a:xfrm>
            <a:off x="6387084" y="4387344"/>
            <a:ext cx="5129784" cy="274320"/>
          </a:xfrm>
          <a:prstGeom prst="rect">
            <a:avLst/>
          </a:prstGeom>
          <a:noFill/>
          <a:ln/>
        </p:spPr>
        <p:txBody>
          <a:bodyPr wrap="square" lIns="0" tIns="0" rIns="0" bIns="0" rtlCol="0" anchor="ctr"/>
          <a:lstStyle/>
          <a:p>
            <a:pPr marL="0" indent="0">
              <a:buNone/>
            </a:pPr>
            <a:r>
              <a:rPr lang="en-US" sz="950" b="1" dirty="0">
                <a:solidFill>
                  <a:srgbClr val="333333"/>
                </a:solidFill>
                <a:latin typeface="Courier New" pitchFamily="34" charset="0"/>
                <a:ea typeface="Courier New" pitchFamily="34" charset="-122"/>
                <a:cs typeface="Courier New" pitchFamily="34" charset="-120"/>
              </a:rPr>
              <a:t>Flag = 1  si  Target_Score ≥ P75  ∧  Venta FY25 &lt; Venta FY24</a:t>
            </a:r>
            <a:endParaRPr lang="en-US" sz="950" dirty="0"/>
          </a:p>
        </p:txBody>
      </p:sp>
      <p:sp>
        <p:nvSpPr>
          <p:cNvPr id="38" name="Text 36"/>
          <p:cNvSpPr/>
          <p:nvPr/>
        </p:nvSpPr>
        <p:spPr>
          <a:xfrm>
            <a:off x="6323076" y="4707384"/>
            <a:ext cx="5257800" cy="530352"/>
          </a:xfrm>
          <a:prstGeom prst="rect">
            <a:avLst/>
          </a:prstGeom>
          <a:noFill/>
          <a:ln/>
        </p:spPr>
        <p:txBody>
          <a:bodyPr wrap="square" lIns="0" tIns="0" rIns="0" bIns="0" rtlCol="0" anchor="ctr"/>
          <a:lstStyle/>
          <a:p>
            <a:pPr marL="0" indent="0">
              <a:buNone/>
            </a:pPr>
            <a:r>
              <a:rPr lang="en-US" sz="900" b="1" dirty="0">
                <a:solidFill>
                  <a:srgbClr val="D4A843"/>
                </a:solidFill>
                <a:latin typeface="Calibri" pitchFamily="34" charset="0"/>
                <a:ea typeface="Calibri" pitchFamily="34" charset="-122"/>
                <a:cs typeface="Calibri" pitchFamily="34" charset="-120"/>
              </a:rPr>
              <a:t>Lectura: </a:t>
            </a:r>
            <a:r>
              <a:rPr lang="en-US" sz="900" dirty="0">
                <a:solidFill>
                  <a:srgbClr val="333333"/>
                </a:solidFill>
                <a:latin typeface="Calibri" pitchFamily="34" charset="0"/>
                <a:ea typeface="Calibri" pitchFamily="34" charset="-122"/>
                <a:cs typeface="Calibri" pitchFamily="34" charset="-120"/>
              </a:rPr>
              <a:t>¿Dónde el modelo y la realidad disienten? Empresas top-score que ya están en caída — señal temprana de una variable que el modelo aún no captura.</a:t>
            </a:r>
            <a:endParaRPr lang="en-US" sz="900" dirty="0"/>
          </a:p>
        </p:txBody>
      </p:sp>
      <p:sp>
        <p:nvSpPr>
          <p:cNvPr id="39" name="Text 37"/>
          <p:cNvSpPr/>
          <p:nvPr/>
        </p:nvSpPr>
        <p:spPr>
          <a:xfrm>
            <a:off x="6323076" y="5228592"/>
            <a:ext cx="5257800" cy="292608"/>
          </a:xfrm>
          <a:prstGeom prst="rect">
            <a:avLst/>
          </a:prstGeom>
          <a:noFill/>
          <a:ln/>
        </p:spPr>
        <p:txBody>
          <a:bodyPr wrap="square" lIns="0" tIns="0" rIns="0" bIns="0" rtlCol="0" anchor="ctr"/>
          <a:lstStyle/>
          <a:p>
            <a:pPr marL="0" indent="0">
              <a:buNone/>
            </a:pPr>
            <a:r>
              <a:rPr lang="en-US" sz="950" b="1" dirty="0">
                <a:solidFill>
                  <a:srgbClr val="1A5490"/>
                </a:solidFill>
                <a:latin typeface="Calibri" pitchFamily="34" charset="0"/>
                <a:ea typeface="Calibri" pitchFamily="34" charset="-122"/>
                <a:cs typeface="Calibri" pitchFamily="34" charset="-120"/>
              </a:rPr>
              <a:t>Resultado v7e: </a:t>
            </a:r>
            <a:r>
              <a:rPr lang="en-US" sz="950" b="1" dirty="0">
                <a:solidFill>
                  <a:srgbClr val="333333"/>
                </a:solidFill>
                <a:latin typeface="Calibri" pitchFamily="34" charset="0"/>
                <a:ea typeface="Calibri" pitchFamily="34" charset="-122"/>
                <a:cs typeface="Calibri" pitchFamily="34" charset="-120"/>
              </a:rPr>
              <a:t>104 empresas flaggeadas · S/.29.4M margin expuesto · revisión manual Partner</a:t>
            </a:r>
            <a:endParaRPr lang="en-US" sz="950" dirty="0"/>
          </a:p>
        </p:txBody>
      </p:sp>
      <p:sp>
        <p:nvSpPr>
          <p:cNvPr id="40" name="Text 38"/>
          <p:cNvSpPr/>
          <p:nvPr/>
        </p:nvSpPr>
        <p:spPr>
          <a:xfrm>
            <a:off x="6323076" y="5521200"/>
            <a:ext cx="5257800" cy="457200"/>
          </a:xfrm>
          <a:prstGeom prst="rect">
            <a:avLst/>
          </a:prstGeom>
          <a:noFill/>
          <a:ln/>
        </p:spPr>
        <p:txBody>
          <a:bodyPr wrap="square" lIns="0" tIns="0" rIns="0" bIns="0" rtlCol="0" anchor="ctr"/>
          <a:lstStyle/>
          <a:p>
            <a:pPr marL="0" indent="0">
              <a:buNone/>
            </a:pPr>
            <a:r>
              <a:rPr lang="en-US" sz="850" b="1" dirty="0" err="1">
                <a:solidFill>
                  <a:srgbClr val="B00020"/>
                </a:solidFill>
                <a:latin typeface="Calibri" pitchFamily="34" charset="0"/>
                <a:ea typeface="Calibri" pitchFamily="34" charset="-122"/>
                <a:cs typeface="Calibri" pitchFamily="34" charset="-120"/>
              </a:rPr>
              <a:t>Criterio</a:t>
            </a:r>
            <a:r>
              <a:rPr lang="en-US" sz="850" b="1" dirty="0">
                <a:solidFill>
                  <a:srgbClr val="B00020"/>
                </a:solidFill>
                <a:latin typeface="Calibri" pitchFamily="34" charset="0"/>
                <a:ea typeface="Calibri" pitchFamily="34" charset="-122"/>
                <a:cs typeface="Calibri" pitchFamily="34" charset="-120"/>
              </a:rPr>
              <a:t>: </a:t>
            </a:r>
            <a:r>
              <a:rPr lang="es-ES" sz="850" i="1" dirty="0">
                <a:solidFill>
                  <a:srgbClr val="666666"/>
                </a:solidFill>
                <a:latin typeface="Calibri" pitchFamily="34" charset="0"/>
                <a:ea typeface="Calibri" pitchFamily="34" charset="-122"/>
                <a:cs typeface="Calibri" pitchFamily="34" charset="-120"/>
              </a:rPr>
              <a:t>Alarma operativa que detecta discrepancias entre la proyección del modelo y el desempeño real, disparando una revisión cualitativa inmediata ante desviaciones críticas en la cuenta.</a:t>
            </a:r>
            <a:endParaRPr lang="en-US" sz="850" dirty="0"/>
          </a:p>
        </p:txBody>
      </p:sp>
      <p:sp>
        <p:nvSpPr>
          <p:cNvPr id="41" name="Text 39"/>
          <p:cNvSpPr/>
          <p:nvPr/>
        </p:nvSpPr>
        <p:spPr>
          <a:xfrm>
            <a:off x="6323076" y="5960112"/>
            <a:ext cx="5257800" cy="274320"/>
          </a:xfrm>
          <a:prstGeom prst="rect">
            <a:avLst/>
          </a:prstGeom>
          <a:noFill/>
          <a:ln/>
        </p:spPr>
        <p:txBody>
          <a:bodyPr wrap="square" lIns="0" tIns="0" rIns="0" bIns="0" rtlCol="0" anchor="ctr"/>
          <a:lstStyle/>
          <a:p>
            <a:pPr marL="0" indent="0">
              <a:buNone/>
            </a:pPr>
            <a:r>
              <a:rPr lang="en-US" sz="850" b="1" dirty="0">
                <a:solidFill>
                  <a:srgbClr val="27AE60"/>
                </a:solidFill>
                <a:latin typeface="Calibri" pitchFamily="34" charset="0"/>
                <a:ea typeface="Calibri" pitchFamily="34" charset="-122"/>
                <a:cs typeface="Calibri" pitchFamily="34" charset="-120"/>
              </a:rPr>
              <a:t>Uso ideal: </a:t>
            </a:r>
            <a:r>
              <a:rPr lang="en-US" sz="850" dirty="0">
                <a:solidFill>
                  <a:srgbClr val="333333"/>
                </a:solidFill>
                <a:latin typeface="Calibri" pitchFamily="34" charset="0"/>
                <a:ea typeface="Calibri" pitchFamily="34" charset="-122"/>
                <a:cs typeface="Calibri" pitchFamily="34" charset="-120"/>
              </a:rPr>
              <a:t>Governance del modelo: 1× al trimestre, Partners revisan flags y re-clasifican si aplica.</a:t>
            </a:r>
            <a:endParaRPr lang="en-US" sz="850" dirty="0"/>
          </a:p>
        </p:txBody>
      </p:sp>
      <p:sp>
        <p:nvSpPr>
          <p:cNvPr id="42" name="Text 40"/>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43" name="Text 41"/>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24/32</a:t>
            </a:r>
            <a:endParaRPr lang="en-US" sz="800" dirty="0"/>
          </a:p>
        </p:txBody>
      </p:sp>
      <p:sp>
        <p:nvSpPr>
          <p:cNvPr id="44" name="Text 20">
            <a:extLst>
              <a:ext uri="{FF2B5EF4-FFF2-40B4-BE49-F238E27FC236}">
                <a16:creationId xmlns:a16="http://schemas.microsoft.com/office/drawing/2014/main" id="{716D7E5D-5DBF-3189-4D14-CE252CF4A9D4}"/>
              </a:ext>
            </a:extLst>
          </p:cNvPr>
          <p:cNvSpPr/>
          <p:nvPr/>
        </p:nvSpPr>
        <p:spPr>
          <a:xfrm>
            <a:off x="6309360" y="3282696"/>
            <a:ext cx="5257800" cy="457200"/>
          </a:xfrm>
          <a:prstGeom prst="rect">
            <a:avLst/>
          </a:prstGeom>
          <a:noFill/>
          <a:ln/>
        </p:spPr>
        <p:txBody>
          <a:bodyPr wrap="square" lIns="0" tIns="0" rIns="0" bIns="0" rtlCol="0" anchor="ctr"/>
          <a:lstStyle/>
          <a:p>
            <a:pPr marL="0" indent="0">
              <a:buNone/>
            </a:pPr>
            <a:r>
              <a:rPr lang="en-US" sz="850" b="1" dirty="0" err="1">
                <a:solidFill>
                  <a:srgbClr val="B00020"/>
                </a:solidFill>
                <a:latin typeface="Calibri" pitchFamily="34" charset="0"/>
                <a:ea typeface="Calibri" pitchFamily="34" charset="-122"/>
                <a:cs typeface="Calibri" pitchFamily="34" charset="-120"/>
              </a:rPr>
              <a:t>Criterio</a:t>
            </a:r>
            <a:r>
              <a:rPr lang="en-US" sz="850" b="1" dirty="0">
                <a:solidFill>
                  <a:srgbClr val="B00020"/>
                </a:solidFill>
                <a:latin typeface="Calibri" pitchFamily="34" charset="0"/>
                <a:ea typeface="Calibri" pitchFamily="34" charset="-122"/>
                <a:cs typeface="Calibri" pitchFamily="34" charset="-120"/>
              </a:rPr>
              <a:t>: </a:t>
            </a:r>
            <a:r>
              <a:rPr lang="en-US" sz="850" i="1" dirty="0">
                <a:solidFill>
                  <a:srgbClr val="666666"/>
                </a:solidFill>
                <a:latin typeface="Calibri" pitchFamily="34" charset="0"/>
                <a:ea typeface="Calibri" pitchFamily="34" charset="-122"/>
                <a:cs typeface="Calibri" pitchFamily="34" charset="-120"/>
              </a:rPr>
              <a:t>Asume independencia entre empresas (sin contagio sectorial). Si hay clustering de riesgo (ej. crisis minera), el CVaR real subestima.</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59436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Analítica de Riesgo Financiero — La cartera como portafolio (Basel II)</a:t>
            </a:r>
            <a:endParaRPr lang="en-US" sz="2600" dirty="0"/>
          </a:p>
        </p:txBody>
      </p:sp>
      <p:sp>
        <p:nvSpPr>
          <p:cNvPr id="5" name="Text 3"/>
          <p:cNvSpPr/>
          <p:nvPr/>
        </p:nvSpPr>
        <p:spPr>
          <a:xfrm>
            <a:off x="457200" y="1234440"/>
            <a:ext cx="11247120" cy="45720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Tratamos el book como portafolio de crédito: EAD (Revenue) × PD (churn calibrado) = Expected Loss. Luego simulamos 10,000 escenarios Monte Carlo para medir VaR y CVaR al </a:t>
            </a:r>
            <a:r>
              <a:rPr lang="en-US" sz="1100" i="1" dirty="0" err="1">
                <a:solidFill>
                  <a:srgbClr val="666666"/>
                </a:solidFill>
                <a:latin typeface="Calibri" pitchFamily="34" charset="0"/>
                <a:ea typeface="Calibri" pitchFamily="34" charset="-122"/>
                <a:cs typeface="Calibri" pitchFamily="34" charset="-120"/>
              </a:rPr>
              <a:t>nivel</a:t>
            </a:r>
            <a:r>
              <a:rPr lang="en-US" sz="1100" i="1" dirty="0">
                <a:solidFill>
                  <a:srgbClr val="666666"/>
                </a:solidFill>
                <a:latin typeface="Calibri" pitchFamily="34" charset="0"/>
                <a:ea typeface="Calibri" pitchFamily="34" charset="-122"/>
                <a:cs typeface="Calibri" pitchFamily="34" charset="-120"/>
              </a:rPr>
              <a:t> de confianza de 95%.</a:t>
            </a:r>
            <a:endParaRPr lang="en-US" sz="1100" dirty="0"/>
          </a:p>
        </p:txBody>
      </p:sp>
      <p:sp>
        <p:nvSpPr>
          <p:cNvPr id="6" name="Shape 4"/>
          <p:cNvSpPr/>
          <p:nvPr/>
        </p:nvSpPr>
        <p:spPr>
          <a:xfrm>
            <a:off x="457200" y="1828800"/>
            <a:ext cx="2697480" cy="1508760"/>
          </a:xfrm>
          <a:prstGeom prst="rect">
            <a:avLst/>
          </a:prstGeom>
          <a:solidFill>
            <a:srgbClr val="F2F2F2"/>
          </a:solidFill>
          <a:ln w="25400">
            <a:solidFill>
              <a:srgbClr val="1A5490"/>
            </a:solidFill>
            <a:prstDash val="solid"/>
          </a:ln>
        </p:spPr>
        <p:txBody>
          <a:bodyPr/>
          <a:lstStyle/>
          <a:p>
            <a:endParaRPr lang="es-PE"/>
          </a:p>
        </p:txBody>
      </p:sp>
      <p:sp>
        <p:nvSpPr>
          <p:cNvPr id="7" name="Shape 5"/>
          <p:cNvSpPr/>
          <p:nvPr/>
        </p:nvSpPr>
        <p:spPr>
          <a:xfrm>
            <a:off x="457200" y="1828800"/>
            <a:ext cx="2697480" cy="320040"/>
          </a:xfrm>
          <a:prstGeom prst="rect">
            <a:avLst/>
          </a:prstGeom>
          <a:solidFill>
            <a:srgbClr val="1A5490"/>
          </a:solidFill>
          <a:ln w="12700">
            <a:solidFill>
              <a:srgbClr val="333333"/>
            </a:solidFill>
            <a:prstDash val="solid"/>
          </a:ln>
        </p:spPr>
        <p:txBody>
          <a:bodyPr/>
          <a:lstStyle/>
          <a:p>
            <a:endParaRPr lang="es-PE"/>
          </a:p>
        </p:txBody>
      </p:sp>
      <p:sp>
        <p:nvSpPr>
          <p:cNvPr id="8" name="Text 6"/>
          <p:cNvSpPr/>
          <p:nvPr/>
        </p:nvSpPr>
        <p:spPr>
          <a:xfrm>
            <a:off x="457200" y="1847088"/>
            <a:ext cx="269748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EXPECTED LOSS (EL)</a:t>
            </a:r>
            <a:endParaRPr lang="en-US" sz="1000" dirty="0"/>
          </a:p>
        </p:txBody>
      </p:sp>
      <p:sp>
        <p:nvSpPr>
          <p:cNvPr id="9" name="Text 7"/>
          <p:cNvSpPr/>
          <p:nvPr/>
        </p:nvSpPr>
        <p:spPr>
          <a:xfrm>
            <a:off x="457200" y="2194560"/>
            <a:ext cx="2697480" cy="548640"/>
          </a:xfrm>
          <a:prstGeom prst="rect">
            <a:avLst/>
          </a:prstGeom>
          <a:noFill/>
          <a:ln/>
        </p:spPr>
        <p:txBody>
          <a:bodyPr wrap="square" lIns="0" tIns="0" rIns="0" bIns="0" rtlCol="0" anchor="ctr"/>
          <a:lstStyle/>
          <a:p>
            <a:pPr marL="0" indent="0" algn="ctr">
              <a:buNone/>
            </a:pPr>
            <a:r>
              <a:rPr lang="en-US" sz="2200" b="1" dirty="0">
                <a:solidFill>
                  <a:srgbClr val="1A5490"/>
                </a:solidFill>
                <a:latin typeface="Georgia" pitchFamily="34" charset="0"/>
                <a:ea typeface="Georgia" pitchFamily="34" charset="-122"/>
                <a:cs typeface="Georgia" pitchFamily="34" charset="-120"/>
              </a:rPr>
              <a:t>S/.10.73M</a:t>
            </a:r>
            <a:endParaRPr lang="en-US" sz="2200" dirty="0"/>
          </a:p>
        </p:txBody>
      </p:sp>
      <p:sp>
        <p:nvSpPr>
          <p:cNvPr id="10" name="Text 8"/>
          <p:cNvSpPr/>
          <p:nvPr/>
        </p:nvSpPr>
        <p:spPr>
          <a:xfrm>
            <a:off x="530352" y="2743200"/>
            <a:ext cx="2560320" cy="640080"/>
          </a:xfrm>
          <a:prstGeom prst="rect">
            <a:avLst/>
          </a:prstGeom>
          <a:noFill/>
          <a:ln/>
        </p:spPr>
        <p:txBody>
          <a:bodyPr wrap="square" lIns="0" tIns="0" rIns="0" bIns="0"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Σ EAD × PD · pérdida promedio esperada (Basel II)</a:t>
            </a:r>
            <a:endParaRPr lang="en-US" sz="900" dirty="0"/>
          </a:p>
        </p:txBody>
      </p:sp>
      <p:sp>
        <p:nvSpPr>
          <p:cNvPr id="11" name="Shape 9"/>
          <p:cNvSpPr/>
          <p:nvPr/>
        </p:nvSpPr>
        <p:spPr>
          <a:xfrm>
            <a:off x="3291840" y="1828800"/>
            <a:ext cx="2697480" cy="1508760"/>
          </a:xfrm>
          <a:prstGeom prst="rect">
            <a:avLst/>
          </a:prstGeom>
          <a:solidFill>
            <a:srgbClr val="F2F2F2"/>
          </a:solidFill>
          <a:ln w="25400">
            <a:solidFill>
              <a:srgbClr val="D04A02"/>
            </a:solidFill>
            <a:prstDash val="solid"/>
          </a:ln>
        </p:spPr>
        <p:txBody>
          <a:bodyPr/>
          <a:lstStyle/>
          <a:p>
            <a:endParaRPr lang="es-PE"/>
          </a:p>
        </p:txBody>
      </p:sp>
      <p:sp>
        <p:nvSpPr>
          <p:cNvPr id="12" name="Shape 10"/>
          <p:cNvSpPr/>
          <p:nvPr/>
        </p:nvSpPr>
        <p:spPr>
          <a:xfrm>
            <a:off x="3291840" y="1828800"/>
            <a:ext cx="2697480" cy="320040"/>
          </a:xfrm>
          <a:prstGeom prst="rect">
            <a:avLst/>
          </a:prstGeom>
          <a:solidFill>
            <a:srgbClr val="D04A02"/>
          </a:solidFill>
          <a:ln w="12700">
            <a:solidFill>
              <a:srgbClr val="333333"/>
            </a:solidFill>
            <a:prstDash val="solid"/>
          </a:ln>
        </p:spPr>
        <p:txBody>
          <a:bodyPr/>
          <a:lstStyle/>
          <a:p>
            <a:endParaRPr lang="es-PE"/>
          </a:p>
        </p:txBody>
      </p:sp>
      <p:sp>
        <p:nvSpPr>
          <p:cNvPr id="13" name="Text 11"/>
          <p:cNvSpPr/>
          <p:nvPr/>
        </p:nvSpPr>
        <p:spPr>
          <a:xfrm>
            <a:off x="3291840" y="1847088"/>
            <a:ext cx="269748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VaR(95%) Monte Carlo</a:t>
            </a:r>
            <a:endParaRPr lang="en-US" sz="1000" dirty="0"/>
          </a:p>
        </p:txBody>
      </p:sp>
      <p:sp>
        <p:nvSpPr>
          <p:cNvPr id="14" name="Text 12"/>
          <p:cNvSpPr/>
          <p:nvPr/>
        </p:nvSpPr>
        <p:spPr>
          <a:xfrm>
            <a:off x="3291840" y="2194560"/>
            <a:ext cx="2697480" cy="548640"/>
          </a:xfrm>
          <a:prstGeom prst="rect">
            <a:avLst/>
          </a:prstGeom>
          <a:noFill/>
          <a:ln/>
        </p:spPr>
        <p:txBody>
          <a:bodyPr wrap="square" lIns="0" tIns="0" rIns="0" bIns="0" rtlCol="0" anchor="ctr"/>
          <a:lstStyle/>
          <a:p>
            <a:pPr marL="0" indent="0" algn="ctr">
              <a:buNone/>
            </a:pPr>
            <a:r>
              <a:rPr lang="en-US" sz="2200" b="1" dirty="0">
                <a:solidFill>
                  <a:srgbClr val="D04A02"/>
                </a:solidFill>
                <a:latin typeface="Georgia" pitchFamily="34" charset="0"/>
                <a:ea typeface="Georgia" pitchFamily="34" charset="-122"/>
                <a:cs typeface="Georgia" pitchFamily="34" charset="-120"/>
              </a:rPr>
              <a:t>S/.14.6M</a:t>
            </a:r>
            <a:endParaRPr lang="en-US" sz="2200" dirty="0"/>
          </a:p>
        </p:txBody>
      </p:sp>
      <p:sp>
        <p:nvSpPr>
          <p:cNvPr id="15" name="Text 13"/>
          <p:cNvSpPr/>
          <p:nvPr/>
        </p:nvSpPr>
        <p:spPr>
          <a:xfrm>
            <a:off x="3364992" y="2743200"/>
            <a:ext cx="2560320" cy="640080"/>
          </a:xfrm>
          <a:prstGeom prst="rect">
            <a:avLst/>
          </a:prstGeom>
          <a:noFill/>
          <a:ln/>
        </p:spPr>
        <p:txBody>
          <a:bodyPr wrap="square" lIns="0" tIns="0" rIns="0" bIns="0"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Peor pérdida 1-en-20 · 10,000 simulaciones Bernoulli</a:t>
            </a:r>
            <a:endParaRPr lang="en-US" sz="900" dirty="0"/>
          </a:p>
        </p:txBody>
      </p:sp>
      <p:sp>
        <p:nvSpPr>
          <p:cNvPr id="16" name="Shape 14"/>
          <p:cNvSpPr/>
          <p:nvPr/>
        </p:nvSpPr>
        <p:spPr>
          <a:xfrm>
            <a:off x="6126480" y="1828800"/>
            <a:ext cx="2697480" cy="1508760"/>
          </a:xfrm>
          <a:prstGeom prst="rect">
            <a:avLst/>
          </a:prstGeom>
          <a:solidFill>
            <a:srgbClr val="F2F2F2"/>
          </a:solidFill>
          <a:ln w="25400">
            <a:solidFill>
              <a:srgbClr val="C0392B"/>
            </a:solidFill>
            <a:prstDash val="solid"/>
          </a:ln>
        </p:spPr>
        <p:txBody>
          <a:bodyPr/>
          <a:lstStyle/>
          <a:p>
            <a:endParaRPr lang="es-PE"/>
          </a:p>
        </p:txBody>
      </p:sp>
      <p:sp>
        <p:nvSpPr>
          <p:cNvPr id="17" name="Shape 15"/>
          <p:cNvSpPr/>
          <p:nvPr/>
        </p:nvSpPr>
        <p:spPr>
          <a:xfrm>
            <a:off x="6126480" y="1828800"/>
            <a:ext cx="2697480" cy="320040"/>
          </a:xfrm>
          <a:prstGeom prst="rect">
            <a:avLst/>
          </a:prstGeom>
          <a:solidFill>
            <a:srgbClr val="C0392B"/>
          </a:solidFill>
          <a:ln w="12700">
            <a:solidFill>
              <a:srgbClr val="333333"/>
            </a:solidFill>
            <a:prstDash val="solid"/>
          </a:ln>
        </p:spPr>
        <p:txBody>
          <a:bodyPr/>
          <a:lstStyle/>
          <a:p>
            <a:endParaRPr lang="es-PE"/>
          </a:p>
        </p:txBody>
      </p:sp>
      <p:sp>
        <p:nvSpPr>
          <p:cNvPr id="18" name="Text 16"/>
          <p:cNvSpPr/>
          <p:nvPr/>
        </p:nvSpPr>
        <p:spPr>
          <a:xfrm>
            <a:off x="6126480" y="1847088"/>
            <a:ext cx="269748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CVaR(95%) Monte Carlo</a:t>
            </a:r>
            <a:endParaRPr lang="en-US" sz="1000" dirty="0"/>
          </a:p>
        </p:txBody>
      </p:sp>
      <p:sp>
        <p:nvSpPr>
          <p:cNvPr id="19" name="Text 17"/>
          <p:cNvSpPr/>
          <p:nvPr/>
        </p:nvSpPr>
        <p:spPr>
          <a:xfrm>
            <a:off x="6126480" y="2194560"/>
            <a:ext cx="2697480" cy="548640"/>
          </a:xfrm>
          <a:prstGeom prst="rect">
            <a:avLst/>
          </a:prstGeom>
          <a:noFill/>
          <a:ln/>
        </p:spPr>
        <p:txBody>
          <a:bodyPr wrap="square" lIns="0" tIns="0" rIns="0" bIns="0" rtlCol="0" anchor="ctr"/>
          <a:lstStyle/>
          <a:p>
            <a:pPr marL="0" indent="0" algn="ctr">
              <a:buNone/>
            </a:pPr>
            <a:r>
              <a:rPr lang="en-US" sz="2200" b="1" dirty="0">
                <a:solidFill>
                  <a:srgbClr val="C0392B"/>
                </a:solidFill>
                <a:latin typeface="Georgia" pitchFamily="34" charset="0"/>
                <a:ea typeface="Georgia" pitchFamily="34" charset="-122"/>
                <a:cs typeface="Georgia" pitchFamily="34" charset="-120"/>
              </a:rPr>
              <a:t>S/.15.67M</a:t>
            </a:r>
            <a:endParaRPr lang="en-US" sz="2200" dirty="0"/>
          </a:p>
        </p:txBody>
      </p:sp>
      <p:sp>
        <p:nvSpPr>
          <p:cNvPr id="20" name="Text 18"/>
          <p:cNvSpPr/>
          <p:nvPr/>
        </p:nvSpPr>
        <p:spPr>
          <a:xfrm>
            <a:off x="6199632" y="2743200"/>
            <a:ext cx="2560320" cy="640080"/>
          </a:xfrm>
          <a:prstGeom prst="rect">
            <a:avLst/>
          </a:prstGeom>
          <a:noFill/>
          <a:ln/>
        </p:spPr>
        <p:txBody>
          <a:bodyPr wrap="square" lIns="0" tIns="0" rIns="0" bIns="0"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Promedio en cola del 5% peor · severidad extrema</a:t>
            </a:r>
            <a:endParaRPr lang="en-US" sz="900" dirty="0"/>
          </a:p>
        </p:txBody>
      </p:sp>
      <p:sp>
        <p:nvSpPr>
          <p:cNvPr id="21" name="Shape 19"/>
          <p:cNvSpPr/>
          <p:nvPr/>
        </p:nvSpPr>
        <p:spPr>
          <a:xfrm>
            <a:off x="8961120" y="1828800"/>
            <a:ext cx="2697480" cy="1508760"/>
          </a:xfrm>
          <a:prstGeom prst="rect">
            <a:avLst/>
          </a:prstGeom>
          <a:solidFill>
            <a:srgbClr val="F2F2F2"/>
          </a:solidFill>
          <a:ln w="25400">
            <a:solidFill>
              <a:srgbClr val="27AE60"/>
            </a:solidFill>
            <a:prstDash val="solid"/>
          </a:ln>
        </p:spPr>
        <p:txBody>
          <a:bodyPr/>
          <a:lstStyle/>
          <a:p>
            <a:endParaRPr lang="es-PE"/>
          </a:p>
        </p:txBody>
      </p:sp>
      <p:sp>
        <p:nvSpPr>
          <p:cNvPr id="22" name="Shape 20"/>
          <p:cNvSpPr/>
          <p:nvPr/>
        </p:nvSpPr>
        <p:spPr>
          <a:xfrm>
            <a:off x="8961120" y="1828800"/>
            <a:ext cx="2697480" cy="320040"/>
          </a:xfrm>
          <a:prstGeom prst="rect">
            <a:avLst/>
          </a:prstGeom>
          <a:solidFill>
            <a:srgbClr val="27AE60"/>
          </a:solidFill>
          <a:ln w="12700">
            <a:solidFill>
              <a:srgbClr val="333333"/>
            </a:solidFill>
            <a:prstDash val="solid"/>
          </a:ln>
        </p:spPr>
        <p:txBody>
          <a:bodyPr/>
          <a:lstStyle/>
          <a:p>
            <a:endParaRPr lang="es-PE"/>
          </a:p>
        </p:txBody>
      </p:sp>
      <p:sp>
        <p:nvSpPr>
          <p:cNvPr id="23" name="Text 21"/>
          <p:cNvSpPr/>
          <p:nvPr/>
        </p:nvSpPr>
        <p:spPr>
          <a:xfrm>
            <a:off x="8961120" y="1847088"/>
            <a:ext cx="269748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NRAO NETO</a:t>
            </a:r>
            <a:endParaRPr lang="en-US" sz="1000" dirty="0"/>
          </a:p>
        </p:txBody>
      </p:sp>
      <p:sp>
        <p:nvSpPr>
          <p:cNvPr id="24" name="Text 22"/>
          <p:cNvSpPr/>
          <p:nvPr/>
        </p:nvSpPr>
        <p:spPr>
          <a:xfrm>
            <a:off x="8961120" y="2194560"/>
            <a:ext cx="2697480" cy="548640"/>
          </a:xfrm>
          <a:prstGeom prst="rect">
            <a:avLst/>
          </a:prstGeom>
          <a:noFill/>
          <a:ln/>
        </p:spPr>
        <p:txBody>
          <a:bodyPr wrap="square" lIns="0" tIns="0" rIns="0" bIns="0" rtlCol="0" anchor="ctr"/>
          <a:lstStyle/>
          <a:p>
            <a:pPr marL="0" indent="0" algn="ctr">
              <a:buNone/>
            </a:pPr>
            <a:r>
              <a:rPr lang="en-US" sz="2200" b="1" dirty="0">
                <a:solidFill>
                  <a:srgbClr val="27AE60"/>
                </a:solidFill>
                <a:latin typeface="Georgia" pitchFamily="34" charset="0"/>
                <a:ea typeface="Georgia" pitchFamily="34" charset="-122"/>
                <a:cs typeface="Georgia" pitchFamily="34" charset="-120"/>
              </a:rPr>
              <a:t>+S/.214.7M</a:t>
            </a:r>
            <a:endParaRPr lang="en-US" sz="2200" dirty="0"/>
          </a:p>
        </p:txBody>
      </p:sp>
      <p:sp>
        <p:nvSpPr>
          <p:cNvPr id="25" name="Text 23"/>
          <p:cNvSpPr/>
          <p:nvPr/>
        </p:nvSpPr>
        <p:spPr>
          <a:xfrm>
            <a:off x="9034272" y="2743200"/>
            <a:ext cx="2560320" cy="640080"/>
          </a:xfrm>
          <a:prstGeom prst="rect">
            <a:avLst/>
          </a:prstGeom>
          <a:noFill/>
          <a:ln/>
        </p:spPr>
        <p:txBody>
          <a:bodyPr wrap="square" lIns="0" tIns="0" rIns="0" bIns="0"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Upsell − EL · 1000 empresas con upside&gt;riesgo</a:t>
            </a:r>
            <a:endParaRPr lang="en-US" sz="900" dirty="0"/>
          </a:p>
        </p:txBody>
      </p:sp>
      <p:sp>
        <p:nvSpPr>
          <p:cNvPr id="26" name="Text 24"/>
          <p:cNvSpPr/>
          <p:nvPr/>
        </p:nvSpPr>
        <p:spPr>
          <a:xfrm>
            <a:off x="457200" y="3520440"/>
            <a:ext cx="11247120" cy="274320"/>
          </a:xfrm>
          <a:prstGeom prst="rect">
            <a:avLst/>
          </a:prstGeom>
          <a:noFill/>
          <a:ln/>
        </p:spPr>
        <p:txBody>
          <a:bodyPr wrap="square" lIns="0" tIns="0" rIns="0" bIns="0" rtlCol="0" anchor="ctr"/>
          <a:lstStyle/>
          <a:p>
            <a:pPr marL="0" indent="0">
              <a:buNone/>
            </a:pPr>
            <a:r>
              <a:rPr lang="en-US" sz="1300" b="1" dirty="0">
                <a:solidFill>
                  <a:srgbClr val="D04A02"/>
                </a:solidFill>
                <a:latin typeface="Georgia" pitchFamily="34" charset="0"/>
                <a:ea typeface="Georgia" pitchFamily="34" charset="-122"/>
                <a:cs typeface="Georgia" pitchFamily="34" charset="-120"/>
              </a:rPr>
              <a:t>Riesgo y oportunidad por segmento</a:t>
            </a:r>
            <a:endParaRPr lang="en-US" sz="1300" dirty="0"/>
          </a:p>
        </p:txBody>
      </p:sp>
      <p:sp>
        <p:nvSpPr>
          <p:cNvPr id="27" name="Shape 25"/>
          <p:cNvSpPr/>
          <p:nvPr/>
        </p:nvSpPr>
        <p:spPr>
          <a:xfrm>
            <a:off x="110971" y="3886200"/>
            <a:ext cx="2011680" cy="320040"/>
          </a:xfrm>
          <a:prstGeom prst="rect">
            <a:avLst/>
          </a:prstGeom>
          <a:solidFill>
            <a:srgbClr val="2D2D2D"/>
          </a:solidFill>
          <a:ln w="12700">
            <a:solidFill>
              <a:srgbClr val="333333"/>
            </a:solidFill>
            <a:prstDash val="solid"/>
          </a:ln>
        </p:spPr>
        <p:txBody>
          <a:bodyPr/>
          <a:lstStyle/>
          <a:p>
            <a:endParaRPr lang="es-PE"/>
          </a:p>
        </p:txBody>
      </p:sp>
      <p:sp>
        <p:nvSpPr>
          <p:cNvPr id="28" name="Text 26"/>
          <p:cNvSpPr/>
          <p:nvPr/>
        </p:nvSpPr>
        <p:spPr>
          <a:xfrm>
            <a:off x="110971" y="388620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Cluster</a:t>
            </a:r>
            <a:endParaRPr lang="en-US" sz="1000" dirty="0"/>
          </a:p>
        </p:txBody>
      </p:sp>
      <p:sp>
        <p:nvSpPr>
          <p:cNvPr id="29" name="Shape 27"/>
          <p:cNvSpPr/>
          <p:nvPr/>
        </p:nvSpPr>
        <p:spPr>
          <a:xfrm>
            <a:off x="2122651" y="3886200"/>
            <a:ext cx="914400" cy="320040"/>
          </a:xfrm>
          <a:prstGeom prst="rect">
            <a:avLst/>
          </a:prstGeom>
          <a:solidFill>
            <a:srgbClr val="2D2D2D"/>
          </a:solidFill>
          <a:ln w="12700">
            <a:solidFill>
              <a:srgbClr val="333333"/>
            </a:solidFill>
            <a:prstDash val="solid"/>
          </a:ln>
        </p:spPr>
        <p:txBody>
          <a:bodyPr/>
          <a:lstStyle/>
          <a:p>
            <a:endParaRPr lang="es-PE"/>
          </a:p>
        </p:txBody>
      </p:sp>
      <p:sp>
        <p:nvSpPr>
          <p:cNvPr id="30" name="Text 28"/>
          <p:cNvSpPr/>
          <p:nvPr/>
        </p:nvSpPr>
        <p:spPr>
          <a:xfrm>
            <a:off x="2122651" y="3886200"/>
            <a:ext cx="9144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a:t>
            </a:r>
            <a:endParaRPr lang="en-US" sz="1000" dirty="0"/>
          </a:p>
        </p:txBody>
      </p:sp>
      <p:sp>
        <p:nvSpPr>
          <p:cNvPr id="31" name="Shape 29"/>
          <p:cNvSpPr/>
          <p:nvPr/>
        </p:nvSpPr>
        <p:spPr>
          <a:xfrm>
            <a:off x="3037051" y="3886200"/>
            <a:ext cx="1645920" cy="320040"/>
          </a:xfrm>
          <a:prstGeom prst="rect">
            <a:avLst/>
          </a:prstGeom>
          <a:solidFill>
            <a:srgbClr val="2D2D2D"/>
          </a:solidFill>
          <a:ln w="12700">
            <a:solidFill>
              <a:srgbClr val="333333"/>
            </a:solidFill>
            <a:prstDash val="solid"/>
          </a:ln>
        </p:spPr>
        <p:txBody>
          <a:bodyPr/>
          <a:lstStyle/>
          <a:p>
            <a:endParaRPr lang="es-PE"/>
          </a:p>
        </p:txBody>
      </p:sp>
      <p:sp>
        <p:nvSpPr>
          <p:cNvPr id="32" name="Text 30"/>
          <p:cNvSpPr/>
          <p:nvPr/>
        </p:nvSpPr>
        <p:spPr>
          <a:xfrm>
            <a:off x="3037051" y="3886200"/>
            <a:ext cx="1645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EL Revenue (S/. M)</a:t>
            </a:r>
            <a:endParaRPr lang="en-US" sz="1000" dirty="0"/>
          </a:p>
        </p:txBody>
      </p:sp>
      <p:sp>
        <p:nvSpPr>
          <p:cNvPr id="33" name="Shape 31"/>
          <p:cNvSpPr/>
          <p:nvPr/>
        </p:nvSpPr>
        <p:spPr>
          <a:xfrm>
            <a:off x="4682971" y="3886200"/>
            <a:ext cx="1828800" cy="320040"/>
          </a:xfrm>
          <a:prstGeom prst="rect">
            <a:avLst/>
          </a:prstGeom>
          <a:solidFill>
            <a:srgbClr val="2D2D2D"/>
          </a:solidFill>
          <a:ln w="12700">
            <a:solidFill>
              <a:srgbClr val="333333"/>
            </a:solidFill>
            <a:prstDash val="solid"/>
          </a:ln>
        </p:spPr>
        <p:txBody>
          <a:bodyPr/>
          <a:lstStyle/>
          <a:p>
            <a:endParaRPr lang="es-PE"/>
          </a:p>
        </p:txBody>
      </p:sp>
      <p:sp>
        <p:nvSpPr>
          <p:cNvPr id="34" name="Text 32"/>
          <p:cNvSpPr/>
          <p:nvPr/>
        </p:nvSpPr>
        <p:spPr>
          <a:xfrm>
            <a:off x="4682971" y="3886200"/>
            <a:ext cx="1828800" cy="320040"/>
          </a:xfrm>
          <a:prstGeom prst="rect">
            <a:avLst/>
          </a:prstGeom>
          <a:noFill/>
          <a:ln/>
        </p:spPr>
        <p:txBody>
          <a:bodyPr wrap="square" lIns="0" tIns="0" rIns="0" bIns="0" rtlCol="0" anchor="ctr"/>
          <a:lstStyle/>
          <a:p>
            <a:pPr algn="ctr"/>
            <a:r>
              <a:rPr lang="es-PE" sz="1000" b="1" dirty="0" err="1">
                <a:solidFill>
                  <a:srgbClr val="FFFFFF"/>
                </a:solidFill>
                <a:latin typeface="Calibri" pitchFamily="34" charset="0"/>
                <a:cs typeface="Calibri" pitchFamily="34" charset="-120"/>
              </a:rPr>
              <a:t>EL_Margin</a:t>
            </a:r>
            <a:r>
              <a:rPr lang="en-US" sz="1000" b="1" dirty="0">
                <a:solidFill>
                  <a:srgbClr val="FFFFFF"/>
                </a:solidFill>
                <a:latin typeface="Calibri" pitchFamily="34" charset="0"/>
                <a:cs typeface="Calibri" pitchFamily="34" charset="-120"/>
              </a:rPr>
              <a:t> (S/. M)</a:t>
            </a:r>
          </a:p>
        </p:txBody>
      </p:sp>
      <p:sp>
        <p:nvSpPr>
          <p:cNvPr id="35" name="Shape 33"/>
          <p:cNvSpPr/>
          <p:nvPr/>
        </p:nvSpPr>
        <p:spPr>
          <a:xfrm>
            <a:off x="6511771" y="3886200"/>
            <a:ext cx="1828800" cy="320040"/>
          </a:xfrm>
          <a:prstGeom prst="rect">
            <a:avLst/>
          </a:prstGeom>
          <a:solidFill>
            <a:srgbClr val="2D2D2D"/>
          </a:solidFill>
          <a:ln w="12700">
            <a:solidFill>
              <a:srgbClr val="333333"/>
            </a:solidFill>
            <a:prstDash val="solid"/>
          </a:ln>
        </p:spPr>
        <p:txBody>
          <a:bodyPr/>
          <a:lstStyle/>
          <a:p>
            <a:endParaRPr lang="es-PE"/>
          </a:p>
        </p:txBody>
      </p:sp>
      <p:sp>
        <p:nvSpPr>
          <p:cNvPr id="36" name="Text 34"/>
          <p:cNvSpPr/>
          <p:nvPr/>
        </p:nvSpPr>
        <p:spPr>
          <a:xfrm>
            <a:off x="6511771" y="3886200"/>
            <a:ext cx="1828800" cy="320040"/>
          </a:xfrm>
          <a:prstGeom prst="rect">
            <a:avLst/>
          </a:prstGeom>
          <a:noFill/>
          <a:ln/>
        </p:spPr>
        <p:txBody>
          <a:bodyPr wrap="square" lIns="0" tIns="0" rIns="0" bIns="0" rtlCol="0" anchor="ctr"/>
          <a:lstStyle/>
          <a:p>
            <a:pPr algn="ctr"/>
            <a:r>
              <a:rPr lang="es-PE" sz="1000" b="1" dirty="0" err="1">
                <a:solidFill>
                  <a:srgbClr val="FFFFFF"/>
                </a:solidFill>
                <a:latin typeface="Calibri" pitchFamily="34" charset="0"/>
                <a:cs typeface="Calibri" pitchFamily="34" charset="-120"/>
              </a:rPr>
              <a:t>Upsell_Margin</a:t>
            </a:r>
            <a:r>
              <a:rPr lang="en-US" sz="1000" b="1" dirty="0">
                <a:solidFill>
                  <a:srgbClr val="FFFFFF"/>
                </a:solidFill>
                <a:latin typeface="Calibri" pitchFamily="34" charset="0"/>
                <a:cs typeface="Calibri" pitchFamily="34" charset="-120"/>
              </a:rPr>
              <a:t> (S/. M)</a:t>
            </a:r>
            <a:r>
              <a:rPr lang="es-PE" sz="1000" b="1" dirty="0">
                <a:solidFill>
                  <a:srgbClr val="FFFFFF"/>
                </a:solidFill>
                <a:latin typeface="Calibri" pitchFamily="34" charset="0"/>
                <a:cs typeface="Calibri" pitchFamily="34" charset="-120"/>
              </a:rPr>
              <a:t> </a:t>
            </a:r>
            <a:endParaRPr lang="en-US" sz="1000" b="1" dirty="0">
              <a:solidFill>
                <a:srgbClr val="FFFFFF"/>
              </a:solidFill>
              <a:latin typeface="Calibri" pitchFamily="34" charset="0"/>
              <a:cs typeface="Calibri" pitchFamily="34" charset="-120"/>
            </a:endParaRPr>
          </a:p>
        </p:txBody>
      </p:sp>
      <p:sp>
        <p:nvSpPr>
          <p:cNvPr id="37" name="Shape 35"/>
          <p:cNvSpPr/>
          <p:nvPr/>
        </p:nvSpPr>
        <p:spPr>
          <a:xfrm>
            <a:off x="8340571" y="3886200"/>
            <a:ext cx="1828800" cy="320040"/>
          </a:xfrm>
          <a:prstGeom prst="rect">
            <a:avLst/>
          </a:prstGeom>
          <a:solidFill>
            <a:srgbClr val="2D2D2D"/>
          </a:solidFill>
          <a:ln w="12700">
            <a:solidFill>
              <a:srgbClr val="333333"/>
            </a:solidFill>
            <a:prstDash val="solid"/>
          </a:ln>
        </p:spPr>
        <p:txBody>
          <a:bodyPr/>
          <a:lstStyle/>
          <a:p>
            <a:endParaRPr lang="es-PE"/>
          </a:p>
        </p:txBody>
      </p:sp>
      <p:sp>
        <p:nvSpPr>
          <p:cNvPr id="38" name="Text 36"/>
          <p:cNvSpPr/>
          <p:nvPr/>
        </p:nvSpPr>
        <p:spPr>
          <a:xfrm>
            <a:off x="8340571" y="3886200"/>
            <a:ext cx="1828800" cy="320040"/>
          </a:xfrm>
          <a:prstGeom prst="rect">
            <a:avLst/>
          </a:prstGeom>
          <a:noFill/>
          <a:ln/>
        </p:spPr>
        <p:txBody>
          <a:bodyPr wrap="square" lIns="0" tIns="0" rIns="0" bIns="0" rtlCol="0" anchor="ctr"/>
          <a:lstStyle/>
          <a:p>
            <a:pPr algn="ctr"/>
            <a:r>
              <a:rPr lang="es-PE" sz="1000" b="1" dirty="0" err="1">
                <a:solidFill>
                  <a:srgbClr val="FFFFFF"/>
                </a:solidFill>
                <a:latin typeface="Calibri" pitchFamily="34" charset="0"/>
                <a:cs typeface="Calibri" pitchFamily="34" charset="-120"/>
              </a:rPr>
              <a:t>NRAO</a:t>
            </a:r>
            <a:r>
              <a:rPr lang="es-PE" sz="1000" b="1" dirty="0" err="1">
                <a:solidFill>
                  <a:schemeClr val="bg1"/>
                </a:solidFill>
                <a:latin typeface="Calibri" pitchFamily="34" charset="0"/>
                <a:cs typeface="Calibri" pitchFamily="34" charset="-120"/>
              </a:rPr>
              <a:t>_Margin</a:t>
            </a:r>
            <a:r>
              <a:rPr lang="es-PE" sz="1000" b="1" dirty="0">
                <a:solidFill>
                  <a:schemeClr val="bg1"/>
                </a:solidFill>
                <a:latin typeface="Calibri" pitchFamily="34" charset="0"/>
                <a:cs typeface="Calibri" pitchFamily="34" charset="-120"/>
              </a:rPr>
              <a:t> </a:t>
            </a:r>
            <a:r>
              <a:rPr lang="en-US" sz="1000" b="1" dirty="0">
                <a:solidFill>
                  <a:srgbClr val="FFFFFF"/>
                </a:solidFill>
                <a:latin typeface="Calibri" pitchFamily="34" charset="0"/>
                <a:ea typeface="Calibri" pitchFamily="34" charset="-122"/>
                <a:cs typeface="Calibri" pitchFamily="34" charset="-120"/>
              </a:rPr>
              <a:t>(S/. M)</a:t>
            </a:r>
            <a:r>
              <a:rPr lang="es-PE" sz="1000" b="1" dirty="0">
                <a:solidFill>
                  <a:schemeClr val="bg1"/>
                </a:solidFill>
                <a:latin typeface="Calibri" pitchFamily="34" charset="0"/>
                <a:cs typeface="Calibri" pitchFamily="34" charset="-120"/>
              </a:rPr>
              <a:t> </a:t>
            </a:r>
            <a:endParaRPr lang="en-US" sz="1000" b="1" dirty="0">
              <a:solidFill>
                <a:srgbClr val="FFFFFF"/>
              </a:solidFill>
              <a:latin typeface="Calibri" pitchFamily="34" charset="0"/>
              <a:cs typeface="Calibri" pitchFamily="34" charset="-120"/>
            </a:endParaRPr>
          </a:p>
        </p:txBody>
      </p:sp>
      <p:sp>
        <p:nvSpPr>
          <p:cNvPr id="39" name="Shape 37"/>
          <p:cNvSpPr/>
          <p:nvPr/>
        </p:nvSpPr>
        <p:spPr>
          <a:xfrm>
            <a:off x="110971" y="4206240"/>
            <a:ext cx="2011680" cy="310896"/>
          </a:xfrm>
          <a:prstGeom prst="rect">
            <a:avLst/>
          </a:prstGeom>
          <a:solidFill>
            <a:srgbClr val="FFFFFF"/>
          </a:solidFill>
          <a:ln w="6350">
            <a:solidFill>
              <a:srgbClr val="E5E5E5"/>
            </a:solidFill>
            <a:prstDash val="solid"/>
          </a:ln>
        </p:spPr>
        <p:txBody>
          <a:bodyPr/>
          <a:lstStyle/>
          <a:p>
            <a:endParaRPr lang="es-PE"/>
          </a:p>
        </p:txBody>
      </p:sp>
      <p:sp>
        <p:nvSpPr>
          <p:cNvPr id="40" name="Text 38"/>
          <p:cNvSpPr/>
          <p:nvPr/>
        </p:nvSpPr>
        <p:spPr>
          <a:xfrm>
            <a:off x="110971" y="4206240"/>
            <a:ext cx="2011680" cy="310896"/>
          </a:xfrm>
          <a:prstGeom prst="rect">
            <a:avLst/>
          </a:prstGeom>
          <a:noFill/>
          <a:ln/>
        </p:spPr>
        <p:txBody>
          <a:bodyPr wrap="square" lIns="0" tIns="0" rIns="0" bIns="0" rtlCol="0" anchor="ctr"/>
          <a:lstStyle/>
          <a:p>
            <a:pPr marL="0" indent="0" algn="ctr">
              <a:buNone/>
            </a:pPr>
            <a:r>
              <a:rPr lang="en-US" sz="1000" b="1" dirty="0">
                <a:solidFill>
                  <a:srgbClr val="D04A02"/>
                </a:solidFill>
                <a:latin typeface="Calibri" pitchFamily="34" charset="0"/>
                <a:ea typeface="Calibri" pitchFamily="34" charset="-122"/>
                <a:cs typeface="Calibri" pitchFamily="34" charset="-120"/>
              </a:rPr>
              <a:t>PROTECT &amp; GROW</a:t>
            </a:r>
            <a:endParaRPr lang="en-US" sz="1000" dirty="0"/>
          </a:p>
        </p:txBody>
      </p:sp>
      <p:sp>
        <p:nvSpPr>
          <p:cNvPr id="41" name="Shape 39"/>
          <p:cNvSpPr/>
          <p:nvPr/>
        </p:nvSpPr>
        <p:spPr>
          <a:xfrm>
            <a:off x="2122651" y="4206240"/>
            <a:ext cx="914400" cy="310896"/>
          </a:xfrm>
          <a:prstGeom prst="rect">
            <a:avLst/>
          </a:prstGeom>
          <a:solidFill>
            <a:srgbClr val="FFFFFF"/>
          </a:solidFill>
          <a:ln w="6350">
            <a:solidFill>
              <a:srgbClr val="E5E5E5"/>
            </a:solidFill>
            <a:prstDash val="solid"/>
          </a:ln>
        </p:spPr>
        <p:txBody>
          <a:bodyPr/>
          <a:lstStyle/>
          <a:p>
            <a:endParaRPr lang="es-PE"/>
          </a:p>
        </p:txBody>
      </p:sp>
      <p:sp>
        <p:nvSpPr>
          <p:cNvPr id="42" name="Text 40"/>
          <p:cNvSpPr/>
          <p:nvPr/>
        </p:nvSpPr>
        <p:spPr>
          <a:xfrm>
            <a:off x="2122651" y="4206240"/>
            <a:ext cx="9144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32</a:t>
            </a:r>
            <a:endParaRPr lang="en-US" sz="1000" dirty="0"/>
          </a:p>
        </p:txBody>
      </p:sp>
      <p:sp>
        <p:nvSpPr>
          <p:cNvPr id="43" name="Shape 41"/>
          <p:cNvSpPr/>
          <p:nvPr/>
        </p:nvSpPr>
        <p:spPr>
          <a:xfrm>
            <a:off x="3037051" y="4206240"/>
            <a:ext cx="1645920" cy="310896"/>
          </a:xfrm>
          <a:prstGeom prst="rect">
            <a:avLst/>
          </a:prstGeom>
          <a:solidFill>
            <a:srgbClr val="FFFFFF"/>
          </a:solidFill>
          <a:ln w="6350">
            <a:solidFill>
              <a:srgbClr val="E5E5E5"/>
            </a:solidFill>
            <a:prstDash val="solid"/>
          </a:ln>
        </p:spPr>
        <p:txBody>
          <a:bodyPr/>
          <a:lstStyle/>
          <a:p>
            <a:endParaRPr lang="es-PE"/>
          </a:p>
        </p:txBody>
      </p:sp>
      <p:sp>
        <p:nvSpPr>
          <p:cNvPr id="44" name="Text 42"/>
          <p:cNvSpPr/>
          <p:nvPr/>
        </p:nvSpPr>
        <p:spPr>
          <a:xfrm>
            <a:off x="3037051" y="4206240"/>
            <a:ext cx="164592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3.57</a:t>
            </a:r>
            <a:endParaRPr lang="en-US" sz="1000" dirty="0"/>
          </a:p>
        </p:txBody>
      </p:sp>
      <p:sp>
        <p:nvSpPr>
          <p:cNvPr id="45" name="Shape 43"/>
          <p:cNvSpPr/>
          <p:nvPr/>
        </p:nvSpPr>
        <p:spPr>
          <a:xfrm>
            <a:off x="4682971" y="4206240"/>
            <a:ext cx="1828800" cy="310896"/>
          </a:xfrm>
          <a:prstGeom prst="rect">
            <a:avLst/>
          </a:prstGeom>
          <a:solidFill>
            <a:srgbClr val="FFFFFF"/>
          </a:solidFill>
          <a:ln w="6350">
            <a:solidFill>
              <a:srgbClr val="E5E5E5"/>
            </a:solidFill>
            <a:prstDash val="solid"/>
          </a:ln>
        </p:spPr>
        <p:txBody>
          <a:bodyPr/>
          <a:lstStyle/>
          <a:p>
            <a:endParaRPr lang="es-PE"/>
          </a:p>
        </p:txBody>
      </p:sp>
      <p:sp>
        <p:nvSpPr>
          <p:cNvPr id="46" name="Text 44"/>
          <p:cNvSpPr/>
          <p:nvPr/>
        </p:nvSpPr>
        <p:spPr>
          <a:xfrm>
            <a:off x="4682971" y="4206240"/>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1.43</a:t>
            </a:r>
            <a:endParaRPr lang="en-US" sz="1000" dirty="0">
              <a:solidFill>
                <a:srgbClr val="333333"/>
              </a:solidFill>
              <a:latin typeface="Calibri" pitchFamily="34" charset="0"/>
              <a:cs typeface="Calibri" pitchFamily="34" charset="-120"/>
            </a:endParaRPr>
          </a:p>
        </p:txBody>
      </p:sp>
      <p:sp>
        <p:nvSpPr>
          <p:cNvPr id="47" name="Shape 45"/>
          <p:cNvSpPr/>
          <p:nvPr/>
        </p:nvSpPr>
        <p:spPr>
          <a:xfrm>
            <a:off x="6511771" y="4206240"/>
            <a:ext cx="1828800" cy="310896"/>
          </a:xfrm>
          <a:prstGeom prst="rect">
            <a:avLst/>
          </a:prstGeom>
          <a:solidFill>
            <a:srgbClr val="FFFFFF"/>
          </a:solidFill>
          <a:ln w="6350">
            <a:solidFill>
              <a:srgbClr val="E5E5E5"/>
            </a:solidFill>
            <a:prstDash val="solid"/>
          </a:ln>
        </p:spPr>
        <p:txBody>
          <a:bodyPr/>
          <a:lstStyle/>
          <a:p>
            <a:endParaRPr lang="es-PE"/>
          </a:p>
        </p:txBody>
      </p:sp>
      <p:sp>
        <p:nvSpPr>
          <p:cNvPr id="48" name="Text 46"/>
          <p:cNvSpPr/>
          <p:nvPr/>
        </p:nvSpPr>
        <p:spPr>
          <a:xfrm>
            <a:off x="6511771" y="4206240"/>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27.99</a:t>
            </a:r>
            <a:endParaRPr lang="en-US" sz="1000" dirty="0">
              <a:solidFill>
                <a:srgbClr val="333333"/>
              </a:solidFill>
              <a:latin typeface="Calibri" pitchFamily="34" charset="0"/>
              <a:cs typeface="Calibri" pitchFamily="34" charset="-120"/>
            </a:endParaRPr>
          </a:p>
        </p:txBody>
      </p:sp>
      <p:sp>
        <p:nvSpPr>
          <p:cNvPr id="49" name="Shape 47"/>
          <p:cNvSpPr/>
          <p:nvPr/>
        </p:nvSpPr>
        <p:spPr>
          <a:xfrm>
            <a:off x="8340571" y="4206240"/>
            <a:ext cx="1828800" cy="310896"/>
          </a:xfrm>
          <a:prstGeom prst="rect">
            <a:avLst/>
          </a:prstGeom>
          <a:solidFill>
            <a:srgbClr val="FFFFFF"/>
          </a:solidFill>
          <a:ln w="6350">
            <a:solidFill>
              <a:srgbClr val="E5E5E5"/>
            </a:solidFill>
            <a:prstDash val="solid"/>
          </a:ln>
        </p:spPr>
        <p:txBody>
          <a:bodyPr/>
          <a:lstStyle/>
          <a:p>
            <a:endParaRPr lang="es-PE" dirty="0"/>
          </a:p>
        </p:txBody>
      </p:sp>
      <p:sp>
        <p:nvSpPr>
          <p:cNvPr id="50" name="Text 48"/>
          <p:cNvSpPr/>
          <p:nvPr/>
        </p:nvSpPr>
        <p:spPr>
          <a:xfrm>
            <a:off x="8340571" y="4206240"/>
            <a:ext cx="1828800" cy="310896"/>
          </a:xfrm>
          <a:prstGeom prst="rect">
            <a:avLst/>
          </a:prstGeom>
          <a:noFill/>
          <a:ln/>
        </p:spPr>
        <p:txBody>
          <a:bodyPr wrap="square" lIns="0" tIns="0" rIns="0" bIns="0" rtlCol="0" anchor="ctr"/>
          <a:lstStyle/>
          <a:p>
            <a:pPr algn="ctr"/>
            <a:r>
              <a:rPr lang="es-PE" sz="1000" b="1" dirty="0">
                <a:solidFill>
                  <a:srgbClr val="27AE60"/>
                </a:solidFill>
                <a:latin typeface="Calibri" pitchFamily="34" charset="0"/>
                <a:cs typeface="Calibri" pitchFamily="34" charset="-120"/>
              </a:rPr>
              <a:t>26.56</a:t>
            </a:r>
            <a:endParaRPr lang="en-US" sz="1000" b="1" dirty="0">
              <a:solidFill>
                <a:srgbClr val="27AE60"/>
              </a:solidFill>
              <a:latin typeface="Calibri" pitchFamily="34" charset="0"/>
              <a:cs typeface="Calibri" pitchFamily="34" charset="-120"/>
            </a:endParaRPr>
          </a:p>
        </p:txBody>
      </p:sp>
      <p:sp>
        <p:nvSpPr>
          <p:cNvPr id="51" name="Shape 49"/>
          <p:cNvSpPr/>
          <p:nvPr/>
        </p:nvSpPr>
        <p:spPr>
          <a:xfrm>
            <a:off x="110971" y="4517136"/>
            <a:ext cx="2011680" cy="310896"/>
          </a:xfrm>
          <a:prstGeom prst="rect">
            <a:avLst/>
          </a:prstGeom>
          <a:solidFill>
            <a:srgbClr val="F7F7F7"/>
          </a:solidFill>
          <a:ln w="6350">
            <a:solidFill>
              <a:srgbClr val="E5E5E5"/>
            </a:solidFill>
            <a:prstDash val="solid"/>
          </a:ln>
        </p:spPr>
        <p:txBody>
          <a:bodyPr/>
          <a:lstStyle/>
          <a:p>
            <a:endParaRPr lang="es-PE"/>
          </a:p>
        </p:txBody>
      </p:sp>
      <p:sp>
        <p:nvSpPr>
          <p:cNvPr id="52" name="Text 50"/>
          <p:cNvSpPr/>
          <p:nvPr/>
        </p:nvSpPr>
        <p:spPr>
          <a:xfrm>
            <a:off x="110971" y="4517136"/>
            <a:ext cx="2011680" cy="310896"/>
          </a:xfrm>
          <a:prstGeom prst="rect">
            <a:avLst/>
          </a:prstGeom>
          <a:noFill/>
          <a:ln/>
        </p:spPr>
        <p:txBody>
          <a:bodyPr wrap="square" lIns="0" tIns="0" rIns="0" bIns="0" rtlCol="0" anchor="ctr"/>
          <a:lstStyle/>
          <a:p>
            <a:pPr marL="0" indent="0" algn="ctr">
              <a:buNone/>
            </a:pPr>
            <a:r>
              <a:rPr lang="en-US" sz="1000" b="1" dirty="0">
                <a:solidFill>
                  <a:srgbClr val="D04A02"/>
                </a:solidFill>
                <a:latin typeface="Calibri" pitchFamily="34" charset="0"/>
                <a:ea typeface="Calibri" pitchFamily="34" charset="-122"/>
                <a:cs typeface="Calibri" pitchFamily="34" charset="-120"/>
              </a:rPr>
              <a:t>ACCELERATE</a:t>
            </a:r>
            <a:endParaRPr lang="en-US" sz="1000" dirty="0"/>
          </a:p>
        </p:txBody>
      </p:sp>
      <p:sp>
        <p:nvSpPr>
          <p:cNvPr id="53" name="Shape 51"/>
          <p:cNvSpPr/>
          <p:nvPr/>
        </p:nvSpPr>
        <p:spPr>
          <a:xfrm>
            <a:off x="2122651" y="4517136"/>
            <a:ext cx="914400" cy="310896"/>
          </a:xfrm>
          <a:prstGeom prst="rect">
            <a:avLst/>
          </a:prstGeom>
          <a:solidFill>
            <a:srgbClr val="F7F7F7"/>
          </a:solidFill>
          <a:ln w="6350">
            <a:solidFill>
              <a:srgbClr val="E5E5E5"/>
            </a:solidFill>
            <a:prstDash val="solid"/>
          </a:ln>
        </p:spPr>
        <p:txBody>
          <a:bodyPr/>
          <a:lstStyle/>
          <a:p>
            <a:endParaRPr lang="es-PE"/>
          </a:p>
        </p:txBody>
      </p:sp>
      <p:sp>
        <p:nvSpPr>
          <p:cNvPr id="54" name="Text 52"/>
          <p:cNvSpPr/>
          <p:nvPr/>
        </p:nvSpPr>
        <p:spPr>
          <a:xfrm>
            <a:off x="2122651" y="4517136"/>
            <a:ext cx="9144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114</a:t>
            </a:r>
            <a:endParaRPr lang="en-US" sz="1000" dirty="0"/>
          </a:p>
        </p:txBody>
      </p:sp>
      <p:sp>
        <p:nvSpPr>
          <p:cNvPr id="55" name="Shape 53"/>
          <p:cNvSpPr/>
          <p:nvPr/>
        </p:nvSpPr>
        <p:spPr>
          <a:xfrm>
            <a:off x="3037051" y="4517136"/>
            <a:ext cx="1645920" cy="310896"/>
          </a:xfrm>
          <a:prstGeom prst="rect">
            <a:avLst/>
          </a:prstGeom>
          <a:solidFill>
            <a:srgbClr val="F7F7F7"/>
          </a:solidFill>
          <a:ln w="6350">
            <a:solidFill>
              <a:srgbClr val="E5E5E5"/>
            </a:solidFill>
            <a:prstDash val="solid"/>
          </a:ln>
        </p:spPr>
        <p:txBody>
          <a:bodyPr/>
          <a:lstStyle/>
          <a:p>
            <a:endParaRPr lang="es-PE"/>
          </a:p>
        </p:txBody>
      </p:sp>
      <p:sp>
        <p:nvSpPr>
          <p:cNvPr id="56" name="Text 54"/>
          <p:cNvSpPr/>
          <p:nvPr/>
        </p:nvSpPr>
        <p:spPr>
          <a:xfrm>
            <a:off x="3037051" y="4517136"/>
            <a:ext cx="164592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2.24</a:t>
            </a:r>
            <a:endParaRPr lang="en-US" sz="1000" dirty="0"/>
          </a:p>
        </p:txBody>
      </p:sp>
      <p:sp>
        <p:nvSpPr>
          <p:cNvPr id="57" name="Shape 55"/>
          <p:cNvSpPr/>
          <p:nvPr/>
        </p:nvSpPr>
        <p:spPr>
          <a:xfrm>
            <a:off x="4682971" y="4517136"/>
            <a:ext cx="1828800" cy="310896"/>
          </a:xfrm>
          <a:prstGeom prst="rect">
            <a:avLst/>
          </a:prstGeom>
          <a:solidFill>
            <a:srgbClr val="F7F7F7"/>
          </a:solidFill>
          <a:ln w="6350">
            <a:solidFill>
              <a:srgbClr val="E5E5E5"/>
            </a:solidFill>
            <a:prstDash val="solid"/>
          </a:ln>
        </p:spPr>
        <p:txBody>
          <a:bodyPr/>
          <a:lstStyle/>
          <a:p>
            <a:endParaRPr lang="es-PE"/>
          </a:p>
        </p:txBody>
      </p:sp>
      <p:sp>
        <p:nvSpPr>
          <p:cNvPr id="58" name="Text 56"/>
          <p:cNvSpPr/>
          <p:nvPr/>
        </p:nvSpPr>
        <p:spPr>
          <a:xfrm>
            <a:off x="4682971" y="4517136"/>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1.02</a:t>
            </a:r>
            <a:endParaRPr lang="en-US" sz="1000" dirty="0">
              <a:solidFill>
                <a:srgbClr val="333333"/>
              </a:solidFill>
              <a:latin typeface="Calibri" pitchFamily="34" charset="0"/>
              <a:cs typeface="Calibri" pitchFamily="34" charset="-120"/>
            </a:endParaRPr>
          </a:p>
        </p:txBody>
      </p:sp>
      <p:sp>
        <p:nvSpPr>
          <p:cNvPr id="59" name="Shape 57"/>
          <p:cNvSpPr/>
          <p:nvPr/>
        </p:nvSpPr>
        <p:spPr>
          <a:xfrm>
            <a:off x="6511771" y="4517136"/>
            <a:ext cx="1828800" cy="310896"/>
          </a:xfrm>
          <a:prstGeom prst="rect">
            <a:avLst/>
          </a:prstGeom>
          <a:solidFill>
            <a:srgbClr val="F7F7F7"/>
          </a:solidFill>
          <a:ln w="6350">
            <a:solidFill>
              <a:srgbClr val="E5E5E5"/>
            </a:solidFill>
            <a:prstDash val="solid"/>
          </a:ln>
        </p:spPr>
        <p:txBody>
          <a:bodyPr/>
          <a:lstStyle/>
          <a:p>
            <a:endParaRPr lang="es-PE"/>
          </a:p>
        </p:txBody>
      </p:sp>
      <p:sp>
        <p:nvSpPr>
          <p:cNvPr id="60" name="Text 58"/>
          <p:cNvSpPr/>
          <p:nvPr/>
        </p:nvSpPr>
        <p:spPr>
          <a:xfrm>
            <a:off x="6511771" y="4517136"/>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34.50</a:t>
            </a:r>
            <a:endParaRPr lang="en-US" sz="1000" dirty="0">
              <a:solidFill>
                <a:srgbClr val="333333"/>
              </a:solidFill>
              <a:latin typeface="Calibri" pitchFamily="34" charset="0"/>
              <a:cs typeface="Calibri" pitchFamily="34" charset="-120"/>
            </a:endParaRPr>
          </a:p>
        </p:txBody>
      </p:sp>
      <p:sp>
        <p:nvSpPr>
          <p:cNvPr id="61" name="Shape 59"/>
          <p:cNvSpPr/>
          <p:nvPr/>
        </p:nvSpPr>
        <p:spPr>
          <a:xfrm>
            <a:off x="8340571" y="4517136"/>
            <a:ext cx="1828800" cy="310896"/>
          </a:xfrm>
          <a:prstGeom prst="rect">
            <a:avLst/>
          </a:prstGeom>
          <a:solidFill>
            <a:srgbClr val="F7F7F7"/>
          </a:solidFill>
          <a:ln w="6350">
            <a:solidFill>
              <a:srgbClr val="E5E5E5"/>
            </a:solidFill>
            <a:prstDash val="solid"/>
          </a:ln>
        </p:spPr>
        <p:txBody>
          <a:bodyPr/>
          <a:lstStyle/>
          <a:p>
            <a:endParaRPr lang="es-PE"/>
          </a:p>
        </p:txBody>
      </p:sp>
      <p:sp>
        <p:nvSpPr>
          <p:cNvPr id="62" name="Text 60"/>
          <p:cNvSpPr/>
          <p:nvPr/>
        </p:nvSpPr>
        <p:spPr>
          <a:xfrm>
            <a:off x="8340571" y="4517136"/>
            <a:ext cx="1828800" cy="310896"/>
          </a:xfrm>
          <a:prstGeom prst="rect">
            <a:avLst/>
          </a:prstGeom>
          <a:noFill/>
          <a:ln/>
        </p:spPr>
        <p:txBody>
          <a:bodyPr wrap="square" lIns="0" tIns="0" rIns="0" bIns="0" rtlCol="0" anchor="ctr"/>
          <a:lstStyle/>
          <a:p>
            <a:pPr algn="ctr"/>
            <a:r>
              <a:rPr lang="es-PE" sz="1000" b="1" dirty="0">
                <a:solidFill>
                  <a:srgbClr val="27AE60"/>
                </a:solidFill>
                <a:latin typeface="Calibri" pitchFamily="34" charset="0"/>
                <a:cs typeface="Calibri" pitchFamily="34" charset="-120"/>
              </a:rPr>
              <a:t>33.48</a:t>
            </a:r>
            <a:endParaRPr lang="en-US" sz="1000" b="1" dirty="0">
              <a:solidFill>
                <a:srgbClr val="27AE60"/>
              </a:solidFill>
              <a:latin typeface="Calibri" pitchFamily="34" charset="0"/>
              <a:cs typeface="Calibri" pitchFamily="34" charset="-120"/>
            </a:endParaRPr>
          </a:p>
        </p:txBody>
      </p:sp>
      <p:sp>
        <p:nvSpPr>
          <p:cNvPr id="63" name="Shape 61"/>
          <p:cNvSpPr/>
          <p:nvPr/>
        </p:nvSpPr>
        <p:spPr>
          <a:xfrm>
            <a:off x="110971" y="4828032"/>
            <a:ext cx="2011680" cy="310896"/>
          </a:xfrm>
          <a:prstGeom prst="rect">
            <a:avLst/>
          </a:prstGeom>
          <a:solidFill>
            <a:srgbClr val="FFFFFF"/>
          </a:solidFill>
          <a:ln w="6350">
            <a:solidFill>
              <a:srgbClr val="E5E5E5"/>
            </a:solidFill>
            <a:prstDash val="solid"/>
          </a:ln>
        </p:spPr>
        <p:txBody>
          <a:bodyPr/>
          <a:lstStyle/>
          <a:p>
            <a:endParaRPr lang="es-PE"/>
          </a:p>
        </p:txBody>
      </p:sp>
      <p:sp>
        <p:nvSpPr>
          <p:cNvPr id="64" name="Text 62"/>
          <p:cNvSpPr/>
          <p:nvPr/>
        </p:nvSpPr>
        <p:spPr>
          <a:xfrm>
            <a:off x="110971" y="4828032"/>
            <a:ext cx="2011680" cy="310896"/>
          </a:xfrm>
          <a:prstGeom prst="rect">
            <a:avLst/>
          </a:prstGeom>
          <a:noFill/>
          <a:ln/>
        </p:spPr>
        <p:txBody>
          <a:bodyPr wrap="square" lIns="0" tIns="0" rIns="0" bIns="0" rtlCol="0" anchor="ctr"/>
          <a:lstStyle/>
          <a:p>
            <a:pPr marL="0" indent="0" algn="ctr">
              <a:buNone/>
            </a:pPr>
            <a:r>
              <a:rPr lang="en-US" sz="1000" b="1" dirty="0">
                <a:solidFill>
                  <a:srgbClr val="D04A02"/>
                </a:solidFill>
                <a:latin typeface="Calibri" pitchFamily="34" charset="0"/>
                <a:ea typeface="Calibri" pitchFamily="34" charset="-122"/>
                <a:cs typeface="Calibri" pitchFamily="34" charset="-120"/>
              </a:rPr>
              <a:t>EXPAND</a:t>
            </a:r>
            <a:endParaRPr lang="en-US" sz="1000" dirty="0"/>
          </a:p>
        </p:txBody>
      </p:sp>
      <p:sp>
        <p:nvSpPr>
          <p:cNvPr id="65" name="Shape 63"/>
          <p:cNvSpPr/>
          <p:nvPr/>
        </p:nvSpPr>
        <p:spPr>
          <a:xfrm>
            <a:off x="2122651" y="4828032"/>
            <a:ext cx="914400" cy="310896"/>
          </a:xfrm>
          <a:prstGeom prst="rect">
            <a:avLst/>
          </a:prstGeom>
          <a:solidFill>
            <a:srgbClr val="FFFFFF"/>
          </a:solidFill>
          <a:ln w="6350">
            <a:solidFill>
              <a:srgbClr val="E5E5E5"/>
            </a:solidFill>
            <a:prstDash val="solid"/>
          </a:ln>
        </p:spPr>
        <p:txBody>
          <a:bodyPr/>
          <a:lstStyle/>
          <a:p>
            <a:endParaRPr lang="es-PE"/>
          </a:p>
        </p:txBody>
      </p:sp>
      <p:sp>
        <p:nvSpPr>
          <p:cNvPr id="66" name="Text 64"/>
          <p:cNvSpPr/>
          <p:nvPr/>
        </p:nvSpPr>
        <p:spPr>
          <a:xfrm>
            <a:off x="2122651" y="4828032"/>
            <a:ext cx="9144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211</a:t>
            </a:r>
            <a:endParaRPr lang="en-US" sz="1000" dirty="0"/>
          </a:p>
        </p:txBody>
      </p:sp>
      <p:sp>
        <p:nvSpPr>
          <p:cNvPr id="67" name="Shape 65"/>
          <p:cNvSpPr/>
          <p:nvPr/>
        </p:nvSpPr>
        <p:spPr>
          <a:xfrm>
            <a:off x="3037051" y="4828032"/>
            <a:ext cx="1645920" cy="310896"/>
          </a:xfrm>
          <a:prstGeom prst="rect">
            <a:avLst/>
          </a:prstGeom>
          <a:solidFill>
            <a:srgbClr val="FFFFFF"/>
          </a:solidFill>
          <a:ln w="6350">
            <a:solidFill>
              <a:srgbClr val="E5E5E5"/>
            </a:solidFill>
            <a:prstDash val="solid"/>
          </a:ln>
        </p:spPr>
        <p:txBody>
          <a:bodyPr/>
          <a:lstStyle/>
          <a:p>
            <a:endParaRPr lang="es-PE"/>
          </a:p>
        </p:txBody>
      </p:sp>
      <p:sp>
        <p:nvSpPr>
          <p:cNvPr id="68" name="Text 66"/>
          <p:cNvSpPr/>
          <p:nvPr/>
        </p:nvSpPr>
        <p:spPr>
          <a:xfrm>
            <a:off x="3037051" y="4828032"/>
            <a:ext cx="164592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3.82</a:t>
            </a:r>
            <a:endParaRPr lang="en-US" sz="1000" dirty="0"/>
          </a:p>
        </p:txBody>
      </p:sp>
      <p:sp>
        <p:nvSpPr>
          <p:cNvPr id="69" name="Shape 67"/>
          <p:cNvSpPr/>
          <p:nvPr/>
        </p:nvSpPr>
        <p:spPr>
          <a:xfrm>
            <a:off x="4682971" y="4828032"/>
            <a:ext cx="1828800" cy="310896"/>
          </a:xfrm>
          <a:prstGeom prst="rect">
            <a:avLst/>
          </a:prstGeom>
          <a:solidFill>
            <a:srgbClr val="FFFFFF"/>
          </a:solidFill>
          <a:ln w="6350">
            <a:solidFill>
              <a:srgbClr val="E5E5E5"/>
            </a:solidFill>
            <a:prstDash val="solid"/>
          </a:ln>
        </p:spPr>
        <p:txBody>
          <a:bodyPr/>
          <a:lstStyle/>
          <a:p>
            <a:endParaRPr lang="es-PE" dirty="0"/>
          </a:p>
        </p:txBody>
      </p:sp>
      <p:sp>
        <p:nvSpPr>
          <p:cNvPr id="70" name="Text 68"/>
          <p:cNvSpPr/>
          <p:nvPr/>
        </p:nvSpPr>
        <p:spPr>
          <a:xfrm>
            <a:off x="4682971" y="4828032"/>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1.42</a:t>
            </a:r>
            <a:endParaRPr lang="en-US" sz="1000" dirty="0">
              <a:solidFill>
                <a:srgbClr val="333333"/>
              </a:solidFill>
              <a:latin typeface="Calibri" pitchFamily="34" charset="0"/>
              <a:cs typeface="Calibri" pitchFamily="34" charset="-120"/>
            </a:endParaRPr>
          </a:p>
        </p:txBody>
      </p:sp>
      <p:sp>
        <p:nvSpPr>
          <p:cNvPr id="71" name="Shape 69"/>
          <p:cNvSpPr/>
          <p:nvPr/>
        </p:nvSpPr>
        <p:spPr>
          <a:xfrm>
            <a:off x="6511771" y="4828032"/>
            <a:ext cx="1828800" cy="310896"/>
          </a:xfrm>
          <a:prstGeom prst="rect">
            <a:avLst/>
          </a:prstGeom>
          <a:solidFill>
            <a:srgbClr val="FFFFFF"/>
          </a:solidFill>
          <a:ln w="6350">
            <a:solidFill>
              <a:srgbClr val="E5E5E5"/>
            </a:solidFill>
            <a:prstDash val="solid"/>
          </a:ln>
        </p:spPr>
        <p:txBody>
          <a:bodyPr/>
          <a:lstStyle/>
          <a:p>
            <a:endParaRPr lang="es-PE"/>
          </a:p>
        </p:txBody>
      </p:sp>
      <p:sp>
        <p:nvSpPr>
          <p:cNvPr id="72" name="Text 70"/>
          <p:cNvSpPr/>
          <p:nvPr/>
        </p:nvSpPr>
        <p:spPr>
          <a:xfrm>
            <a:off x="6511771" y="4828032"/>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27.00</a:t>
            </a:r>
            <a:endParaRPr lang="en-US" sz="1000" dirty="0">
              <a:solidFill>
                <a:srgbClr val="333333"/>
              </a:solidFill>
              <a:latin typeface="Calibri" pitchFamily="34" charset="0"/>
              <a:cs typeface="Calibri" pitchFamily="34" charset="-120"/>
            </a:endParaRPr>
          </a:p>
        </p:txBody>
      </p:sp>
      <p:sp>
        <p:nvSpPr>
          <p:cNvPr id="73" name="Shape 71"/>
          <p:cNvSpPr/>
          <p:nvPr/>
        </p:nvSpPr>
        <p:spPr>
          <a:xfrm>
            <a:off x="8340571" y="4828032"/>
            <a:ext cx="1828800" cy="310896"/>
          </a:xfrm>
          <a:prstGeom prst="rect">
            <a:avLst/>
          </a:prstGeom>
          <a:solidFill>
            <a:srgbClr val="FFFFFF"/>
          </a:solidFill>
          <a:ln w="6350">
            <a:solidFill>
              <a:srgbClr val="E5E5E5"/>
            </a:solidFill>
            <a:prstDash val="solid"/>
          </a:ln>
        </p:spPr>
        <p:txBody>
          <a:bodyPr/>
          <a:lstStyle/>
          <a:p>
            <a:endParaRPr lang="es-PE"/>
          </a:p>
        </p:txBody>
      </p:sp>
      <p:sp>
        <p:nvSpPr>
          <p:cNvPr id="74" name="Text 72"/>
          <p:cNvSpPr/>
          <p:nvPr/>
        </p:nvSpPr>
        <p:spPr>
          <a:xfrm>
            <a:off x="8340571" y="4828032"/>
            <a:ext cx="1828800" cy="310896"/>
          </a:xfrm>
          <a:prstGeom prst="rect">
            <a:avLst/>
          </a:prstGeom>
          <a:noFill/>
          <a:ln/>
        </p:spPr>
        <p:txBody>
          <a:bodyPr wrap="square" lIns="0" tIns="0" rIns="0" bIns="0" rtlCol="0" anchor="ctr"/>
          <a:lstStyle/>
          <a:p>
            <a:pPr algn="ctr"/>
            <a:r>
              <a:rPr lang="es-PE" sz="1000" b="1" dirty="0">
                <a:solidFill>
                  <a:srgbClr val="27AE60"/>
                </a:solidFill>
                <a:latin typeface="Calibri" pitchFamily="34" charset="0"/>
                <a:cs typeface="Calibri" pitchFamily="34" charset="-120"/>
              </a:rPr>
              <a:t>25.58</a:t>
            </a:r>
            <a:endParaRPr lang="en-US" sz="1000" b="1" dirty="0">
              <a:solidFill>
                <a:srgbClr val="27AE60"/>
              </a:solidFill>
              <a:latin typeface="Calibri" pitchFamily="34" charset="0"/>
              <a:cs typeface="Calibri" pitchFamily="34" charset="-120"/>
            </a:endParaRPr>
          </a:p>
        </p:txBody>
      </p:sp>
      <p:sp>
        <p:nvSpPr>
          <p:cNvPr id="75" name="Shape 73"/>
          <p:cNvSpPr/>
          <p:nvPr/>
        </p:nvSpPr>
        <p:spPr>
          <a:xfrm>
            <a:off x="110971" y="5138928"/>
            <a:ext cx="2011680" cy="310896"/>
          </a:xfrm>
          <a:prstGeom prst="rect">
            <a:avLst/>
          </a:prstGeom>
          <a:solidFill>
            <a:srgbClr val="F7F7F7"/>
          </a:solidFill>
          <a:ln w="6350">
            <a:solidFill>
              <a:srgbClr val="E5E5E5"/>
            </a:solidFill>
            <a:prstDash val="solid"/>
          </a:ln>
        </p:spPr>
        <p:txBody>
          <a:bodyPr/>
          <a:lstStyle/>
          <a:p>
            <a:endParaRPr lang="es-PE"/>
          </a:p>
        </p:txBody>
      </p:sp>
      <p:sp>
        <p:nvSpPr>
          <p:cNvPr id="76" name="Text 74"/>
          <p:cNvSpPr/>
          <p:nvPr/>
        </p:nvSpPr>
        <p:spPr>
          <a:xfrm>
            <a:off x="110971" y="5138928"/>
            <a:ext cx="2011680" cy="310896"/>
          </a:xfrm>
          <a:prstGeom prst="rect">
            <a:avLst/>
          </a:prstGeom>
          <a:noFill/>
          <a:ln/>
        </p:spPr>
        <p:txBody>
          <a:bodyPr wrap="square" lIns="0" tIns="0" rIns="0" bIns="0" rtlCol="0" anchor="ctr"/>
          <a:lstStyle/>
          <a:p>
            <a:pPr marL="0" indent="0" algn="ctr">
              <a:buNone/>
            </a:pPr>
            <a:r>
              <a:rPr lang="en-US" sz="1000" b="1" dirty="0">
                <a:solidFill>
                  <a:srgbClr val="D04A02"/>
                </a:solidFill>
                <a:latin typeface="Calibri" pitchFamily="34" charset="0"/>
                <a:ea typeface="Calibri" pitchFamily="34" charset="-122"/>
                <a:cs typeface="Calibri" pitchFamily="34" charset="-120"/>
              </a:rPr>
              <a:t>ACTIVATE</a:t>
            </a:r>
            <a:endParaRPr lang="en-US" sz="1000" dirty="0"/>
          </a:p>
        </p:txBody>
      </p:sp>
      <p:sp>
        <p:nvSpPr>
          <p:cNvPr id="77" name="Shape 75"/>
          <p:cNvSpPr/>
          <p:nvPr/>
        </p:nvSpPr>
        <p:spPr>
          <a:xfrm>
            <a:off x="2122651" y="5138928"/>
            <a:ext cx="914400" cy="310896"/>
          </a:xfrm>
          <a:prstGeom prst="rect">
            <a:avLst/>
          </a:prstGeom>
          <a:solidFill>
            <a:srgbClr val="F7F7F7"/>
          </a:solidFill>
          <a:ln w="6350">
            <a:solidFill>
              <a:srgbClr val="E5E5E5"/>
            </a:solidFill>
            <a:prstDash val="solid"/>
          </a:ln>
        </p:spPr>
        <p:txBody>
          <a:bodyPr/>
          <a:lstStyle/>
          <a:p>
            <a:endParaRPr lang="es-PE"/>
          </a:p>
        </p:txBody>
      </p:sp>
      <p:sp>
        <p:nvSpPr>
          <p:cNvPr id="78" name="Text 76"/>
          <p:cNvSpPr/>
          <p:nvPr/>
        </p:nvSpPr>
        <p:spPr>
          <a:xfrm>
            <a:off x="2122651" y="5138928"/>
            <a:ext cx="9144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135</a:t>
            </a:r>
            <a:endParaRPr lang="en-US" sz="1000" dirty="0"/>
          </a:p>
        </p:txBody>
      </p:sp>
      <p:sp>
        <p:nvSpPr>
          <p:cNvPr id="79" name="Shape 77"/>
          <p:cNvSpPr/>
          <p:nvPr/>
        </p:nvSpPr>
        <p:spPr>
          <a:xfrm>
            <a:off x="3037051" y="5138928"/>
            <a:ext cx="1645920" cy="310896"/>
          </a:xfrm>
          <a:prstGeom prst="rect">
            <a:avLst/>
          </a:prstGeom>
          <a:solidFill>
            <a:srgbClr val="F7F7F7"/>
          </a:solidFill>
          <a:ln w="6350">
            <a:solidFill>
              <a:srgbClr val="E5E5E5"/>
            </a:solidFill>
            <a:prstDash val="solid"/>
          </a:ln>
        </p:spPr>
        <p:txBody>
          <a:bodyPr/>
          <a:lstStyle/>
          <a:p>
            <a:endParaRPr lang="es-PE"/>
          </a:p>
        </p:txBody>
      </p:sp>
      <p:sp>
        <p:nvSpPr>
          <p:cNvPr id="80" name="Text 78"/>
          <p:cNvSpPr/>
          <p:nvPr/>
        </p:nvSpPr>
        <p:spPr>
          <a:xfrm>
            <a:off x="3037051" y="5138928"/>
            <a:ext cx="164592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0.40</a:t>
            </a:r>
            <a:endParaRPr lang="en-US" sz="1000" dirty="0"/>
          </a:p>
        </p:txBody>
      </p:sp>
      <p:sp>
        <p:nvSpPr>
          <p:cNvPr id="81" name="Shape 79"/>
          <p:cNvSpPr/>
          <p:nvPr/>
        </p:nvSpPr>
        <p:spPr>
          <a:xfrm>
            <a:off x="4682971" y="5138928"/>
            <a:ext cx="1828800" cy="310896"/>
          </a:xfrm>
          <a:prstGeom prst="rect">
            <a:avLst/>
          </a:prstGeom>
          <a:solidFill>
            <a:srgbClr val="F7F7F7"/>
          </a:solidFill>
          <a:ln w="6350">
            <a:solidFill>
              <a:srgbClr val="E5E5E5"/>
            </a:solidFill>
            <a:prstDash val="solid"/>
          </a:ln>
        </p:spPr>
        <p:txBody>
          <a:bodyPr/>
          <a:lstStyle/>
          <a:p>
            <a:endParaRPr lang="es-PE"/>
          </a:p>
        </p:txBody>
      </p:sp>
      <p:sp>
        <p:nvSpPr>
          <p:cNvPr id="82" name="Text 80"/>
          <p:cNvSpPr/>
          <p:nvPr/>
        </p:nvSpPr>
        <p:spPr>
          <a:xfrm>
            <a:off x="4682971" y="5138928"/>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0.21</a:t>
            </a:r>
            <a:endParaRPr lang="en-US" sz="1000" dirty="0">
              <a:solidFill>
                <a:srgbClr val="333333"/>
              </a:solidFill>
              <a:latin typeface="Calibri" pitchFamily="34" charset="0"/>
              <a:cs typeface="Calibri" pitchFamily="34" charset="-120"/>
            </a:endParaRPr>
          </a:p>
        </p:txBody>
      </p:sp>
      <p:sp>
        <p:nvSpPr>
          <p:cNvPr id="83" name="Shape 81"/>
          <p:cNvSpPr/>
          <p:nvPr/>
        </p:nvSpPr>
        <p:spPr>
          <a:xfrm>
            <a:off x="6511771" y="5138928"/>
            <a:ext cx="1828800" cy="310896"/>
          </a:xfrm>
          <a:prstGeom prst="rect">
            <a:avLst/>
          </a:prstGeom>
          <a:solidFill>
            <a:srgbClr val="F7F7F7"/>
          </a:solidFill>
          <a:ln w="6350">
            <a:solidFill>
              <a:srgbClr val="E5E5E5"/>
            </a:solidFill>
            <a:prstDash val="solid"/>
          </a:ln>
        </p:spPr>
        <p:txBody>
          <a:bodyPr/>
          <a:lstStyle/>
          <a:p>
            <a:endParaRPr lang="es-PE"/>
          </a:p>
        </p:txBody>
      </p:sp>
      <p:sp>
        <p:nvSpPr>
          <p:cNvPr id="84" name="Text 82"/>
          <p:cNvSpPr/>
          <p:nvPr/>
        </p:nvSpPr>
        <p:spPr>
          <a:xfrm>
            <a:off x="6511771" y="5138928"/>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20.01</a:t>
            </a:r>
            <a:endParaRPr lang="en-US" sz="1000" dirty="0">
              <a:solidFill>
                <a:srgbClr val="333333"/>
              </a:solidFill>
              <a:latin typeface="Calibri" pitchFamily="34" charset="0"/>
              <a:cs typeface="Calibri" pitchFamily="34" charset="-120"/>
            </a:endParaRPr>
          </a:p>
        </p:txBody>
      </p:sp>
      <p:sp>
        <p:nvSpPr>
          <p:cNvPr id="85" name="Shape 83"/>
          <p:cNvSpPr/>
          <p:nvPr/>
        </p:nvSpPr>
        <p:spPr>
          <a:xfrm>
            <a:off x="8340571" y="5138928"/>
            <a:ext cx="1828800" cy="310896"/>
          </a:xfrm>
          <a:prstGeom prst="rect">
            <a:avLst/>
          </a:prstGeom>
          <a:solidFill>
            <a:srgbClr val="F7F7F7"/>
          </a:solidFill>
          <a:ln w="6350">
            <a:solidFill>
              <a:srgbClr val="E5E5E5"/>
            </a:solidFill>
            <a:prstDash val="solid"/>
          </a:ln>
        </p:spPr>
        <p:txBody>
          <a:bodyPr/>
          <a:lstStyle/>
          <a:p>
            <a:endParaRPr lang="es-PE"/>
          </a:p>
        </p:txBody>
      </p:sp>
      <p:sp>
        <p:nvSpPr>
          <p:cNvPr id="86" name="Text 84"/>
          <p:cNvSpPr/>
          <p:nvPr/>
        </p:nvSpPr>
        <p:spPr>
          <a:xfrm>
            <a:off x="8340571" y="5138928"/>
            <a:ext cx="1828800" cy="310896"/>
          </a:xfrm>
          <a:prstGeom prst="rect">
            <a:avLst/>
          </a:prstGeom>
          <a:noFill/>
          <a:ln/>
        </p:spPr>
        <p:txBody>
          <a:bodyPr wrap="square" lIns="0" tIns="0" rIns="0" bIns="0" rtlCol="0" anchor="ctr"/>
          <a:lstStyle/>
          <a:p>
            <a:pPr algn="ctr"/>
            <a:r>
              <a:rPr lang="es-PE" sz="1000" b="1" dirty="0">
                <a:solidFill>
                  <a:srgbClr val="27AE60"/>
                </a:solidFill>
                <a:latin typeface="Calibri" pitchFamily="34" charset="0"/>
                <a:cs typeface="Calibri" pitchFamily="34" charset="-120"/>
              </a:rPr>
              <a:t>19.80</a:t>
            </a:r>
            <a:endParaRPr lang="en-US" sz="1000" b="1" dirty="0">
              <a:solidFill>
                <a:srgbClr val="27AE60"/>
              </a:solidFill>
              <a:latin typeface="Calibri" pitchFamily="34" charset="0"/>
              <a:cs typeface="Calibri" pitchFamily="34" charset="-120"/>
            </a:endParaRPr>
          </a:p>
        </p:txBody>
      </p:sp>
      <p:sp>
        <p:nvSpPr>
          <p:cNvPr id="87" name="Shape 85"/>
          <p:cNvSpPr/>
          <p:nvPr/>
        </p:nvSpPr>
        <p:spPr>
          <a:xfrm>
            <a:off x="110971" y="5449824"/>
            <a:ext cx="2011680" cy="310896"/>
          </a:xfrm>
          <a:prstGeom prst="rect">
            <a:avLst/>
          </a:prstGeom>
          <a:solidFill>
            <a:srgbClr val="FFFFFF"/>
          </a:solidFill>
          <a:ln w="6350">
            <a:solidFill>
              <a:srgbClr val="E5E5E5"/>
            </a:solidFill>
            <a:prstDash val="solid"/>
          </a:ln>
        </p:spPr>
        <p:txBody>
          <a:bodyPr/>
          <a:lstStyle/>
          <a:p>
            <a:endParaRPr lang="es-PE"/>
          </a:p>
        </p:txBody>
      </p:sp>
      <p:sp>
        <p:nvSpPr>
          <p:cNvPr id="88" name="Text 86"/>
          <p:cNvSpPr/>
          <p:nvPr/>
        </p:nvSpPr>
        <p:spPr>
          <a:xfrm>
            <a:off x="110971" y="5449824"/>
            <a:ext cx="2011680" cy="310896"/>
          </a:xfrm>
          <a:prstGeom prst="rect">
            <a:avLst/>
          </a:prstGeom>
          <a:noFill/>
          <a:ln/>
        </p:spPr>
        <p:txBody>
          <a:bodyPr wrap="square" lIns="0" tIns="0" rIns="0" bIns="0" rtlCol="0" anchor="ctr"/>
          <a:lstStyle/>
          <a:p>
            <a:pPr marL="0" indent="0" algn="ctr">
              <a:buNone/>
            </a:pPr>
            <a:r>
              <a:rPr lang="en-US" sz="1000" b="1" dirty="0">
                <a:solidFill>
                  <a:srgbClr val="D04A02"/>
                </a:solidFill>
                <a:latin typeface="Calibri" pitchFamily="34" charset="0"/>
                <a:ea typeface="Calibri" pitchFamily="34" charset="-122"/>
                <a:cs typeface="Calibri" pitchFamily="34" charset="-120"/>
              </a:rPr>
              <a:t>QUALIFY</a:t>
            </a:r>
            <a:endParaRPr lang="en-US" sz="1000" dirty="0"/>
          </a:p>
        </p:txBody>
      </p:sp>
      <p:sp>
        <p:nvSpPr>
          <p:cNvPr id="89" name="Shape 87"/>
          <p:cNvSpPr/>
          <p:nvPr/>
        </p:nvSpPr>
        <p:spPr>
          <a:xfrm>
            <a:off x="2122651" y="5449824"/>
            <a:ext cx="914400" cy="310896"/>
          </a:xfrm>
          <a:prstGeom prst="rect">
            <a:avLst/>
          </a:prstGeom>
          <a:solidFill>
            <a:srgbClr val="FFFFFF"/>
          </a:solidFill>
          <a:ln w="6350">
            <a:solidFill>
              <a:srgbClr val="E5E5E5"/>
            </a:solidFill>
            <a:prstDash val="solid"/>
          </a:ln>
        </p:spPr>
        <p:txBody>
          <a:bodyPr/>
          <a:lstStyle/>
          <a:p>
            <a:endParaRPr lang="es-PE"/>
          </a:p>
        </p:txBody>
      </p:sp>
      <p:sp>
        <p:nvSpPr>
          <p:cNvPr id="90" name="Text 88"/>
          <p:cNvSpPr/>
          <p:nvPr/>
        </p:nvSpPr>
        <p:spPr>
          <a:xfrm>
            <a:off x="2122651" y="5449824"/>
            <a:ext cx="9144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508</a:t>
            </a:r>
            <a:endParaRPr lang="en-US" sz="1000" dirty="0"/>
          </a:p>
        </p:txBody>
      </p:sp>
      <p:sp>
        <p:nvSpPr>
          <p:cNvPr id="91" name="Shape 89"/>
          <p:cNvSpPr/>
          <p:nvPr/>
        </p:nvSpPr>
        <p:spPr>
          <a:xfrm>
            <a:off x="3037051" y="5449824"/>
            <a:ext cx="1645920" cy="310896"/>
          </a:xfrm>
          <a:prstGeom prst="rect">
            <a:avLst/>
          </a:prstGeom>
          <a:solidFill>
            <a:srgbClr val="FFFFFF"/>
          </a:solidFill>
          <a:ln w="6350">
            <a:solidFill>
              <a:srgbClr val="E5E5E5"/>
            </a:solidFill>
            <a:prstDash val="solid"/>
          </a:ln>
        </p:spPr>
        <p:txBody>
          <a:bodyPr/>
          <a:lstStyle/>
          <a:p>
            <a:endParaRPr lang="es-PE"/>
          </a:p>
        </p:txBody>
      </p:sp>
      <p:sp>
        <p:nvSpPr>
          <p:cNvPr id="92" name="Text 90"/>
          <p:cNvSpPr/>
          <p:nvPr/>
        </p:nvSpPr>
        <p:spPr>
          <a:xfrm>
            <a:off x="3037051" y="5449824"/>
            <a:ext cx="164592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0.70</a:t>
            </a:r>
            <a:endParaRPr lang="en-US" sz="1000" dirty="0"/>
          </a:p>
        </p:txBody>
      </p:sp>
      <p:sp>
        <p:nvSpPr>
          <p:cNvPr id="93" name="Shape 91"/>
          <p:cNvSpPr/>
          <p:nvPr/>
        </p:nvSpPr>
        <p:spPr>
          <a:xfrm>
            <a:off x="4682971" y="5449824"/>
            <a:ext cx="1828800" cy="310896"/>
          </a:xfrm>
          <a:prstGeom prst="rect">
            <a:avLst/>
          </a:prstGeom>
          <a:solidFill>
            <a:srgbClr val="FFFFFF"/>
          </a:solidFill>
          <a:ln w="6350">
            <a:solidFill>
              <a:srgbClr val="E5E5E5"/>
            </a:solidFill>
            <a:prstDash val="solid"/>
          </a:ln>
        </p:spPr>
        <p:txBody>
          <a:bodyPr/>
          <a:lstStyle/>
          <a:p>
            <a:endParaRPr lang="es-PE"/>
          </a:p>
        </p:txBody>
      </p:sp>
      <p:sp>
        <p:nvSpPr>
          <p:cNvPr id="94" name="Text 92"/>
          <p:cNvSpPr/>
          <p:nvPr/>
        </p:nvSpPr>
        <p:spPr>
          <a:xfrm>
            <a:off x="4682971" y="5449824"/>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0.36</a:t>
            </a:r>
            <a:endParaRPr lang="en-US" sz="1000" dirty="0">
              <a:solidFill>
                <a:srgbClr val="333333"/>
              </a:solidFill>
              <a:latin typeface="Calibri" pitchFamily="34" charset="0"/>
              <a:cs typeface="Calibri" pitchFamily="34" charset="-120"/>
            </a:endParaRPr>
          </a:p>
        </p:txBody>
      </p:sp>
      <p:sp>
        <p:nvSpPr>
          <p:cNvPr id="95" name="Shape 93"/>
          <p:cNvSpPr/>
          <p:nvPr/>
        </p:nvSpPr>
        <p:spPr>
          <a:xfrm>
            <a:off x="6511771" y="5449824"/>
            <a:ext cx="1828800" cy="310896"/>
          </a:xfrm>
          <a:prstGeom prst="rect">
            <a:avLst/>
          </a:prstGeom>
          <a:solidFill>
            <a:srgbClr val="FFFFFF"/>
          </a:solidFill>
          <a:ln w="6350">
            <a:solidFill>
              <a:srgbClr val="E5E5E5"/>
            </a:solidFill>
            <a:prstDash val="solid"/>
          </a:ln>
        </p:spPr>
        <p:txBody>
          <a:bodyPr/>
          <a:lstStyle/>
          <a:p>
            <a:endParaRPr lang="es-PE"/>
          </a:p>
        </p:txBody>
      </p:sp>
      <p:sp>
        <p:nvSpPr>
          <p:cNvPr id="96" name="Text 94"/>
          <p:cNvSpPr/>
          <p:nvPr/>
        </p:nvSpPr>
        <p:spPr>
          <a:xfrm>
            <a:off x="6511771" y="5449824"/>
            <a:ext cx="1828800" cy="310896"/>
          </a:xfrm>
          <a:prstGeom prst="rect">
            <a:avLst/>
          </a:prstGeom>
          <a:noFill/>
          <a:ln/>
        </p:spPr>
        <p:txBody>
          <a:bodyPr wrap="square" lIns="0" tIns="0" rIns="0" bIns="0" rtlCol="0" anchor="ctr"/>
          <a:lstStyle/>
          <a:p>
            <a:pPr algn="ctr"/>
            <a:r>
              <a:rPr lang="es-PE" sz="1000" dirty="0">
                <a:solidFill>
                  <a:srgbClr val="333333"/>
                </a:solidFill>
                <a:latin typeface="Calibri" pitchFamily="34" charset="0"/>
                <a:cs typeface="Calibri" pitchFamily="34" charset="-120"/>
              </a:rPr>
              <a:t>109.64</a:t>
            </a:r>
            <a:endParaRPr lang="en-US" sz="1000" dirty="0">
              <a:solidFill>
                <a:srgbClr val="333333"/>
              </a:solidFill>
              <a:latin typeface="Calibri" pitchFamily="34" charset="0"/>
              <a:cs typeface="Calibri" pitchFamily="34" charset="-120"/>
            </a:endParaRPr>
          </a:p>
        </p:txBody>
      </p:sp>
      <p:sp>
        <p:nvSpPr>
          <p:cNvPr id="97" name="Shape 95"/>
          <p:cNvSpPr/>
          <p:nvPr/>
        </p:nvSpPr>
        <p:spPr>
          <a:xfrm>
            <a:off x="8340571" y="5449824"/>
            <a:ext cx="1828800" cy="310896"/>
          </a:xfrm>
          <a:prstGeom prst="rect">
            <a:avLst/>
          </a:prstGeom>
          <a:solidFill>
            <a:srgbClr val="FFFFFF"/>
          </a:solidFill>
          <a:ln w="6350">
            <a:solidFill>
              <a:srgbClr val="E5E5E5"/>
            </a:solidFill>
            <a:prstDash val="solid"/>
          </a:ln>
        </p:spPr>
        <p:txBody>
          <a:bodyPr/>
          <a:lstStyle/>
          <a:p>
            <a:endParaRPr lang="es-PE" dirty="0"/>
          </a:p>
        </p:txBody>
      </p:sp>
      <p:sp>
        <p:nvSpPr>
          <p:cNvPr id="98" name="Text 96"/>
          <p:cNvSpPr/>
          <p:nvPr/>
        </p:nvSpPr>
        <p:spPr>
          <a:xfrm>
            <a:off x="8340571" y="5449824"/>
            <a:ext cx="1828800" cy="310896"/>
          </a:xfrm>
          <a:prstGeom prst="rect">
            <a:avLst/>
          </a:prstGeom>
          <a:noFill/>
          <a:ln/>
        </p:spPr>
        <p:txBody>
          <a:bodyPr wrap="square" lIns="0" tIns="0" rIns="0" bIns="0" rtlCol="0" anchor="ctr"/>
          <a:lstStyle/>
          <a:p>
            <a:pPr algn="ctr"/>
            <a:r>
              <a:rPr lang="es-PE" sz="1000" b="1" dirty="0">
                <a:solidFill>
                  <a:srgbClr val="27AE60"/>
                </a:solidFill>
                <a:latin typeface="Calibri" pitchFamily="34" charset="0"/>
                <a:cs typeface="Calibri" pitchFamily="34" charset="-120"/>
              </a:rPr>
              <a:t>109.29</a:t>
            </a:r>
            <a:endParaRPr lang="en-US" sz="1000" b="1" dirty="0">
              <a:solidFill>
                <a:srgbClr val="27AE60"/>
              </a:solidFill>
              <a:latin typeface="Calibri" pitchFamily="34" charset="0"/>
              <a:cs typeface="Calibri" pitchFamily="34" charset="-120"/>
            </a:endParaRPr>
          </a:p>
        </p:txBody>
      </p:sp>
      <p:sp>
        <p:nvSpPr>
          <p:cNvPr id="99" name="Shape 97"/>
          <p:cNvSpPr/>
          <p:nvPr/>
        </p:nvSpPr>
        <p:spPr>
          <a:xfrm>
            <a:off x="457200" y="5897880"/>
            <a:ext cx="11247120" cy="841248"/>
          </a:xfrm>
          <a:prstGeom prst="rect">
            <a:avLst/>
          </a:prstGeom>
          <a:solidFill>
            <a:srgbClr val="FFF3ED"/>
          </a:solidFill>
          <a:ln w="12700">
            <a:solidFill>
              <a:srgbClr val="D04A02"/>
            </a:solidFill>
            <a:prstDash val="solid"/>
          </a:ln>
        </p:spPr>
        <p:txBody>
          <a:bodyPr/>
          <a:lstStyle/>
          <a:p>
            <a:endParaRPr lang="es-PE"/>
          </a:p>
        </p:txBody>
      </p:sp>
      <p:sp>
        <p:nvSpPr>
          <p:cNvPr id="100" name="Text 98"/>
          <p:cNvSpPr/>
          <p:nvPr/>
        </p:nvSpPr>
        <p:spPr>
          <a:xfrm>
            <a:off x="640080" y="5943600"/>
            <a:ext cx="10972800" cy="274320"/>
          </a:xfrm>
          <a:prstGeom prst="rect">
            <a:avLst/>
          </a:prstGeom>
          <a:noFill/>
          <a:ln/>
        </p:spPr>
        <p:txBody>
          <a:bodyPr wrap="square" lIns="0" tIns="0" rIns="0" bIns="0" rtlCol="0" anchor="ctr"/>
          <a:lstStyle/>
          <a:p>
            <a:pPr marL="0" indent="0">
              <a:buNone/>
            </a:pPr>
            <a:r>
              <a:rPr lang="en-US" sz="1100" b="1" dirty="0">
                <a:solidFill>
                  <a:srgbClr val="D04A02"/>
                </a:solidFill>
                <a:latin typeface="Georgia" pitchFamily="34" charset="0"/>
                <a:ea typeface="Georgia" pitchFamily="34" charset="-122"/>
                <a:cs typeface="Georgia" pitchFamily="34" charset="-120"/>
              </a:rPr>
              <a:t>Glosario</a:t>
            </a:r>
            <a:endParaRPr lang="en-US" sz="1100" dirty="0"/>
          </a:p>
        </p:txBody>
      </p:sp>
      <p:sp>
        <p:nvSpPr>
          <p:cNvPr id="101" name="Text 99"/>
          <p:cNvSpPr/>
          <p:nvPr/>
        </p:nvSpPr>
        <p:spPr>
          <a:xfrm>
            <a:off x="640080" y="6172200"/>
            <a:ext cx="10972800" cy="548640"/>
          </a:xfrm>
          <a:prstGeom prst="rect">
            <a:avLst/>
          </a:prstGeom>
          <a:noFill/>
          <a:ln/>
        </p:spPr>
        <p:txBody>
          <a:bodyPr wrap="square" lIns="0" tIns="0" rIns="0" bIns="0" rtlCol="0" anchor="ctr"/>
          <a:lstStyle/>
          <a:p>
            <a:pPr marL="0" indent="0">
              <a:buNone/>
            </a:pPr>
            <a:r>
              <a:rPr lang="en-US" sz="900" b="1" dirty="0">
                <a:solidFill>
                  <a:srgbClr val="333333"/>
                </a:solidFill>
                <a:latin typeface="Calibri" pitchFamily="34" charset="0"/>
                <a:ea typeface="Calibri" pitchFamily="34" charset="-122"/>
                <a:cs typeface="Calibri" pitchFamily="34" charset="-120"/>
              </a:rPr>
              <a:t>EL = EAD × PD</a:t>
            </a:r>
            <a:r>
              <a:rPr lang="en-US" sz="900" dirty="0">
                <a:solidFill>
                  <a:srgbClr val="666666"/>
                </a:solidFill>
                <a:latin typeface="Calibri" pitchFamily="34" charset="0"/>
                <a:ea typeface="Calibri" pitchFamily="34" charset="-122"/>
                <a:cs typeface="Calibri" pitchFamily="34" charset="-120"/>
              </a:rPr>
              <a:t> · Expected Loss (Basel II): Revenue × Prob. churn calibrada. </a:t>
            </a:r>
            <a:r>
              <a:rPr lang="en-US" sz="900" b="1" dirty="0">
                <a:solidFill>
                  <a:srgbClr val="333333"/>
                </a:solidFill>
                <a:latin typeface="Calibri" pitchFamily="34" charset="0"/>
                <a:ea typeface="Calibri" pitchFamily="34" charset="-122"/>
                <a:cs typeface="Calibri" pitchFamily="34" charset="-120"/>
              </a:rPr>
              <a:t>VaR(95%) MC = </a:t>
            </a:r>
            <a:r>
              <a:rPr lang="en-US" sz="900" dirty="0">
                <a:solidFill>
                  <a:srgbClr val="666666"/>
                </a:solidFill>
                <a:latin typeface="Calibri" pitchFamily="34" charset="0"/>
                <a:ea typeface="Calibri" pitchFamily="34" charset="-122"/>
                <a:cs typeface="Calibri" pitchFamily="34" charset="-120"/>
              </a:rPr>
              <a:t>percentil 95 de 10,000 escenarios Bernoulli. </a:t>
            </a:r>
            <a:r>
              <a:rPr lang="en-US" sz="900" b="1" dirty="0">
                <a:solidFill>
                  <a:srgbClr val="333333"/>
                </a:solidFill>
                <a:latin typeface="Calibri" pitchFamily="34" charset="0"/>
                <a:ea typeface="Calibri" pitchFamily="34" charset="-122"/>
                <a:cs typeface="Calibri" pitchFamily="34" charset="-120"/>
              </a:rPr>
              <a:t>CVaR(95%) = </a:t>
            </a:r>
            <a:r>
              <a:rPr lang="en-US" sz="900" dirty="0">
                <a:solidFill>
                  <a:srgbClr val="666666"/>
                </a:solidFill>
                <a:latin typeface="Calibri" pitchFamily="34" charset="0"/>
                <a:ea typeface="Calibri" pitchFamily="34" charset="-122"/>
                <a:cs typeface="Calibri" pitchFamily="34" charset="-120"/>
              </a:rPr>
              <a:t>promedio en la cola del 5% peor. </a:t>
            </a:r>
            <a:r>
              <a:rPr lang="en-US" sz="900" b="1" dirty="0">
                <a:solidFill>
                  <a:srgbClr val="333333"/>
                </a:solidFill>
                <a:latin typeface="Calibri" pitchFamily="34" charset="0"/>
                <a:ea typeface="Calibri" pitchFamily="34" charset="-122"/>
                <a:cs typeface="Calibri" pitchFamily="34" charset="-120"/>
              </a:rPr>
              <a:t>NRAO = Upsell − EL</a:t>
            </a:r>
            <a:r>
              <a:rPr lang="en-US" sz="900" dirty="0">
                <a:solidFill>
                  <a:srgbClr val="666666"/>
                </a:solidFill>
                <a:latin typeface="Calibri" pitchFamily="34" charset="0"/>
                <a:ea typeface="Calibri" pitchFamily="34" charset="-122"/>
                <a:cs typeface="Calibri" pitchFamily="34" charset="-120"/>
              </a:rPr>
              <a:t> · oportunidad neta de riesgo. </a:t>
            </a:r>
            <a:r>
              <a:rPr lang="en-US" sz="900" b="1" dirty="0">
                <a:solidFill>
                  <a:srgbClr val="333333"/>
                </a:solidFill>
                <a:latin typeface="Calibri" pitchFamily="34" charset="0"/>
                <a:ea typeface="Calibri" pitchFamily="34" charset="-122"/>
                <a:cs typeface="Calibri" pitchFamily="34" charset="-120"/>
              </a:rPr>
              <a:t>Inconsistencia</a:t>
            </a:r>
            <a:r>
              <a:rPr lang="en-US" sz="900" dirty="0">
                <a:solidFill>
                  <a:srgbClr val="666666"/>
                </a:solidFill>
                <a:latin typeface="Calibri" pitchFamily="34" charset="0"/>
                <a:ea typeface="Calibri" pitchFamily="34" charset="-122"/>
                <a:cs typeface="Calibri" pitchFamily="34" charset="-120"/>
              </a:rPr>
              <a:t> · Score ≥ P75 ∧ Venta FY25&lt;FY24 → flag de desviación modelo.</a:t>
            </a:r>
            <a:endParaRPr lang="en-US" sz="900" dirty="0"/>
          </a:p>
        </p:txBody>
      </p:sp>
      <p:sp>
        <p:nvSpPr>
          <p:cNvPr id="102" name="Text 100"/>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103" name="Text 101"/>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23/32</a:t>
            </a:r>
            <a:endParaRPr lang="en-US" sz="800" dirty="0"/>
          </a:p>
        </p:txBody>
      </p:sp>
      <p:sp>
        <p:nvSpPr>
          <p:cNvPr id="104" name="Shape 35">
            <a:extLst>
              <a:ext uri="{FF2B5EF4-FFF2-40B4-BE49-F238E27FC236}">
                <a16:creationId xmlns:a16="http://schemas.microsoft.com/office/drawing/2014/main" id="{3D52D592-186B-FBC4-EB5A-D8EEECFF7BCC}"/>
              </a:ext>
            </a:extLst>
          </p:cNvPr>
          <p:cNvSpPr/>
          <p:nvPr/>
        </p:nvSpPr>
        <p:spPr>
          <a:xfrm>
            <a:off x="10169371" y="3886200"/>
            <a:ext cx="1828800" cy="320040"/>
          </a:xfrm>
          <a:prstGeom prst="rect">
            <a:avLst/>
          </a:prstGeom>
          <a:solidFill>
            <a:srgbClr val="2D2D2D"/>
          </a:solidFill>
          <a:ln w="12700">
            <a:solidFill>
              <a:srgbClr val="333333"/>
            </a:solidFill>
            <a:prstDash val="solid"/>
          </a:ln>
        </p:spPr>
        <p:txBody>
          <a:bodyPr/>
          <a:lstStyle/>
          <a:p>
            <a:endParaRPr lang="es-PE"/>
          </a:p>
        </p:txBody>
      </p:sp>
      <p:sp>
        <p:nvSpPr>
          <p:cNvPr id="105" name="Text 36">
            <a:extLst>
              <a:ext uri="{FF2B5EF4-FFF2-40B4-BE49-F238E27FC236}">
                <a16:creationId xmlns:a16="http://schemas.microsoft.com/office/drawing/2014/main" id="{595F366E-DB28-7256-5EE8-90E0CF46CB51}"/>
              </a:ext>
            </a:extLst>
          </p:cNvPr>
          <p:cNvSpPr/>
          <p:nvPr/>
        </p:nvSpPr>
        <p:spPr>
          <a:xfrm>
            <a:off x="10169371" y="3886200"/>
            <a:ext cx="18288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Inconsistencia</a:t>
            </a:r>
            <a:endParaRPr lang="en-US" sz="1000" dirty="0"/>
          </a:p>
        </p:txBody>
      </p:sp>
      <p:sp>
        <p:nvSpPr>
          <p:cNvPr id="106" name="Shape 47">
            <a:extLst>
              <a:ext uri="{FF2B5EF4-FFF2-40B4-BE49-F238E27FC236}">
                <a16:creationId xmlns:a16="http://schemas.microsoft.com/office/drawing/2014/main" id="{0AB559DA-AEA6-DB64-6E71-1648ED4F970B}"/>
              </a:ext>
            </a:extLst>
          </p:cNvPr>
          <p:cNvSpPr/>
          <p:nvPr/>
        </p:nvSpPr>
        <p:spPr>
          <a:xfrm>
            <a:off x="10169371" y="4206240"/>
            <a:ext cx="1828800" cy="310896"/>
          </a:xfrm>
          <a:prstGeom prst="rect">
            <a:avLst/>
          </a:prstGeom>
          <a:solidFill>
            <a:srgbClr val="FFFFFF"/>
          </a:solidFill>
          <a:ln w="6350">
            <a:solidFill>
              <a:srgbClr val="E5E5E5"/>
            </a:solidFill>
            <a:prstDash val="solid"/>
          </a:ln>
        </p:spPr>
        <p:txBody>
          <a:bodyPr/>
          <a:lstStyle/>
          <a:p>
            <a:endParaRPr lang="es-PE" dirty="0"/>
          </a:p>
        </p:txBody>
      </p:sp>
      <p:sp>
        <p:nvSpPr>
          <p:cNvPr id="107" name="Text 48">
            <a:extLst>
              <a:ext uri="{FF2B5EF4-FFF2-40B4-BE49-F238E27FC236}">
                <a16:creationId xmlns:a16="http://schemas.microsoft.com/office/drawing/2014/main" id="{E0C52090-6864-0AB2-3C64-0DF9BF20A24A}"/>
              </a:ext>
            </a:extLst>
          </p:cNvPr>
          <p:cNvSpPr/>
          <p:nvPr/>
        </p:nvSpPr>
        <p:spPr>
          <a:xfrm>
            <a:off x="10169371" y="4206240"/>
            <a:ext cx="18288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12</a:t>
            </a:r>
            <a:endParaRPr lang="en-US" sz="1000" dirty="0"/>
          </a:p>
        </p:txBody>
      </p:sp>
      <p:sp>
        <p:nvSpPr>
          <p:cNvPr id="108" name="Shape 59">
            <a:extLst>
              <a:ext uri="{FF2B5EF4-FFF2-40B4-BE49-F238E27FC236}">
                <a16:creationId xmlns:a16="http://schemas.microsoft.com/office/drawing/2014/main" id="{8732E74F-71EF-FDAF-917D-BC49B8580FEE}"/>
              </a:ext>
            </a:extLst>
          </p:cNvPr>
          <p:cNvSpPr/>
          <p:nvPr/>
        </p:nvSpPr>
        <p:spPr>
          <a:xfrm>
            <a:off x="10169371" y="4517136"/>
            <a:ext cx="1828800" cy="310896"/>
          </a:xfrm>
          <a:prstGeom prst="rect">
            <a:avLst/>
          </a:prstGeom>
          <a:solidFill>
            <a:srgbClr val="F7F7F7"/>
          </a:solidFill>
          <a:ln w="6350">
            <a:solidFill>
              <a:srgbClr val="E5E5E5"/>
            </a:solidFill>
            <a:prstDash val="solid"/>
          </a:ln>
        </p:spPr>
        <p:txBody>
          <a:bodyPr/>
          <a:lstStyle/>
          <a:p>
            <a:endParaRPr lang="es-PE"/>
          </a:p>
        </p:txBody>
      </p:sp>
      <p:sp>
        <p:nvSpPr>
          <p:cNvPr id="109" name="Text 60">
            <a:extLst>
              <a:ext uri="{FF2B5EF4-FFF2-40B4-BE49-F238E27FC236}">
                <a16:creationId xmlns:a16="http://schemas.microsoft.com/office/drawing/2014/main" id="{5D358C7F-1AF2-8159-710B-E67884D57EFB}"/>
              </a:ext>
            </a:extLst>
          </p:cNvPr>
          <p:cNvSpPr/>
          <p:nvPr/>
        </p:nvSpPr>
        <p:spPr>
          <a:xfrm>
            <a:off x="10169371" y="4517136"/>
            <a:ext cx="18288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47</a:t>
            </a:r>
            <a:endParaRPr lang="en-US" sz="1000" dirty="0"/>
          </a:p>
        </p:txBody>
      </p:sp>
      <p:sp>
        <p:nvSpPr>
          <p:cNvPr id="110" name="Shape 71">
            <a:extLst>
              <a:ext uri="{FF2B5EF4-FFF2-40B4-BE49-F238E27FC236}">
                <a16:creationId xmlns:a16="http://schemas.microsoft.com/office/drawing/2014/main" id="{FF5C0396-B530-983F-524A-57ED6A9F3E47}"/>
              </a:ext>
            </a:extLst>
          </p:cNvPr>
          <p:cNvSpPr/>
          <p:nvPr/>
        </p:nvSpPr>
        <p:spPr>
          <a:xfrm>
            <a:off x="10169371" y="4828032"/>
            <a:ext cx="1828800" cy="310896"/>
          </a:xfrm>
          <a:prstGeom prst="rect">
            <a:avLst/>
          </a:prstGeom>
          <a:solidFill>
            <a:srgbClr val="FFFFFF"/>
          </a:solidFill>
          <a:ln w="6350">
            <a:solidFill>
              <a:srgbClr val="E5E5E5"/>
            </a:solidFill>
            <a:prstDash val="solid"/>
          </a:ln>
        </p:spPr>
        <p:txBody>
          <a:bodyPr/>
          <a:lstStyle/>
          <a:p>
            <a:endParaRPr lang="es-PE"/>
          </a:p>
        </p:txBody>
      </p:sp>
      <p:sp>
        <p:nvSpPr>
          <p:cNvPr id="111" name="Text 72">
            <a:extLst>
              <a:ext uri="{FF2B5EF4-FFF2-40B4-BE49-F238E27FC236}">
                <a16:creationId xmlns:a16="http://schemas.microsoft.com/office/drawing/2014/main" id="{9698691D-D38A-3738-8160-F005C188DF5C}"/>
              </a:ext>
            </a:extLst>
          </p:cNvPr>
          <p:cNvSpPr/>
          <p:nvPr/>
        </p:nvSpPr>
        <p:spPr>
          <a:xfrm>
            <a:off x="10169371" y="4828032"/>
            <a:ext cx="18288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34</a:t>
            </a:r>
            <a:endParaRPr lang="en-US" sz="1000" dirty="0"/>
          </a:p>
        </p:txBody>
      </p:sp>
      <p:sp>
        <p:nvSpPr>
          <p:cNvPr id="112" name="Shape 83">
            <a:extLst>
              <a:ext uri="{FF2B5EF4-FFF2-40B4-BE49-F238E27FC236}">
                <a16:creationId xmlns:a16="http://schemas.microsoft.com/office/drawing/2014/main" id="{59ADA754-3E2B-5281-4038-28B8BAC85A94}"/>
              </a:ext>
            </a:extLst>
          </p:cNvPr>
          <p:cNvSpPr/>
          <p:nvPr/>
        </p:nvSpPr>
        <p:spPr>
          <a:xfrm>
            <a:off x="10169371" y="5138928"/>
            <a:ext cx="1828800" cy="310896"/>
          </a:xfrm>
          <a:prstGeom prst="rect">
            <a:avLst/>
          </a:prstGeom>
          <a:solidFill>
            <a:srgbClr val="F7F7F7"/>
          </a:solidFill>
          <a:ln w="6350">
            <a:solidFill>
              <a:srgbClr val="E5E5E5"/>
            </a:solidFill>
            <a:prstDash val="solid"/>
          </a:ln>
        </p:spPr>
        <p:txBody>
          <a:bodyPr/>
          <a:lstStyle/>
          <a:p>
            <a:endParaRPr lang="es-PE"/>
          </a:p>
        </p:txBody>
      </p:sp>
      <p:sp>
        <p:nvSpPr>
          <p:cNvPr id="113" name="Text 84">
            <a:extLst>
              <a:ext uri="{FF2B5EF4-FFF2-40B4-BE49-F238E27FC236}">
                <a16:creationId xmlns:a16="http://schemas.microsoft.com/office/drawing/2014/main" id="{7773837B-65FD-E0BF-9089-BE369523DBD5}"/>
              </a:ext>
            </a:extLst>
          </p:cNvPr>
          <p:cNvSpPr/>
          <p:nvPr/>
        </p:nvSpPr>
        <p:spPr>
          <a:xfrm>
            <a:off x="10169371" y="5138928"/>
            <a:ext cx="18288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11</a:t>
            </a:r>
            <a:endParaRPr lang="en-US" sz="1000" dirty="0"/>
          </a:p>
        </p:txBody>
      </p:sp>
      <p:sp>
        <p:nvSpPr>
          <p:cNvPr id="114" name="Shape 95">
            <a:extLst>
              <a:ext uri="{FF2B5EF4-FFF2-40B4-BE49-F238E27FC236}">
                <a16:creationId xmlns:a16="http://schemas.microsoft.com/office/drawing/2014/main" id="{83F4F57A-F545-7DAF-6E05-20AD0091B8A5}"/>
              </a:ext>
            </a:extLst>
          </p:cNvPr>
          <p:cNvSpPr/>
          <p:nvPr/>
        </p:nvSpPr>
        <p:spPr>
          <a:xfrm>
            <a:off x="10169371" y="5449824"/>
            <a:ext cx="1828800" cy="310896"/>
          </a:xfrm>
          <a:prstGeom prst="rect">
            <a:avLst/>
          </a:prstGeom>
          <a:solidFill>
            <a:srgbClr val="FFFFFF"/>
          </a:solidFill>
          <a:ln w="6350">
            <a:solidFill>
              <a:srgbClr val="E5E5E5"/>
            </a:solidFill>
            <a:prstDash val="solid"/>
          </a:ln>
        </p:spPr>
        <p:txBody>
          <a:bodyPr/>
          <a:lstStyle/>
          <a:p>
            <a:endParaRPr lang="es-PE"/>
          </a:p>
        </p:txBody>
      </p:sp>
      <p:sp>
        <p:nvSpPr>
          <p:cNvPr id="115" name="Text 96">
            <a:extLst>
              <a:ext uri="{FF2B5EF4-FFF2-40B4-BE49-F238E27FC236}">
                <a16:creationId xmlns:a16="http://schemas.microsoft.com/office/drawing/2014/main" id="{617C8155-6714-37BE-B4FC-B02E0BE04552}"/>
              </a:ext>
            </a:extLst>
          </p:cNvPr>
          <p:cNvSpPr/>
          <p:nvPr/>
        </p:nvSpPr>
        <p:spPr>
          <a:xfrm>
            <a:off x="10169371" y="5449824"/>
            <a:ext cx="1828800" cy="310896"/>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Riesgo Financiero — Distribución de pérdidas simuladas (Monte Carlo)</a:t>
            </a:r>
            <a:endParaRPr lang="en-US" sz="2600" dirty="0"/>
          </a:p>
        </p:txBody>
      </p:sp>
      <p:sp>
        <p:nvSpPr>
          <p:cNvPr id="5" name="Text 3"/>
          <p:cNvSpPr/>
          <p:nvPr/>
        </p:nvSpPr>
        <p:spPr>
          <a:xfrm>
            <a:off x="457200" y="1234440"/>
            <a:ext cx="11247120" cy="41148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10,000 simulaciones de Bernoulli(PD) × EAD sobre las 1,000 empresas del book · VaR y CVaR vistos gráficamente sobre la distribución real.</a:t>
            </a:r>
            <a:endParaRPr lang="en-US" sz="1100" dirty="0"/>
          </a:p>
        </p:txBody>
      </p:sp>
      <p:sp>
        <p:nvSpPr>
          <p:cNvPr id="7" name="Shape 4"/>
          <p:cNvSpPr/>
          <p:nvPr/>
        </p:nvSpPr>
        <p:spPr>
          <a:xfrm>
            <a:off x="8412480" y="1783080"/>
            <a:ext cx="3291840" cy="1280160"/>
          </a:xfrm>
          <a:prstGeom prst="rect">
            <a:avLst/>
          </a:prstGeom>
          <a:solidFill>
            <a:srgbClr val="F2F2F2"/>
          </a:solidFill>
          <a:ln w="25400">
            <a:solidFill>
              <a:srgbClr val="1A5490"/>
            </a:solidFill>
            <a:prstDash val="solid"/>
          </a:ln>
        </p:spPr>
        <p:txBody>
          <a:bodyPr/>
          <a:lstStyle/>
          <a:p>
            <a:endParaRPr lang="es-PE"/>
          </a:p>
        </p:txBody>
      </p:sp>
      <p:sp>
        <p:nvSpPr>
          <p:cNvPr id="8" name="Shape 5"/>
          <p:cNvSpPr/>
          <p:nvPr/>
        </p:nvSpPr>
        <p:spPr>
          <a:xfrm>
            <a:off x="8412480" y="1783080"/>
            <a:ext cx="3291840" cy="292608"/>
          </a:xfrm>
          <a:prstGeom prst="rect">
            <a:avLst/>
          </a:prstGeom>
          <a:solidFill>
            <a:srgbClr val="1A5490"/>
          </a:solidFill>
          <a:ln w="12700">
            <a:solidFill>
              <a:srgbClr val="333333"/>
            </a:solidFill>
            <a:prstDash val="solid"/>
          </a:ln>
        </p:spPr>
        <p:txBody>
          <a:bodyPr/>
          <a:lstStyle/>
          <a:p>
            <a:endParaRPr lang="es-PE"/>
          </a:p>
        </p:txBody>
      </p:sp>
      <p:sp>
        <p:nvSpPr>
          <p:cNvPr id="9" name="Text 6"/>
          <p:cNvSpPr/>
          <p:nvPr/>
        </p:nvSpPr>
        <p:spPr>
          <a:xfrm>
            <a:off x="8412480" y="1792224"/>
            <a:ext cx="32918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EL (esperado)</a:t>
            </a:r>
            <a:endParaRPr lang="en-US" sz="1100" dirty="0"/>
          </a:p>
        </p:txBody>
      </p:sp>
      <p:sp>
        <p:nvSpPr>
          <p:cNvPr id="10" name="Text 7"/>
          <p:cNvSpPr/>
          <p:nvPr/>
        </p:nvSpPr>
        <p:spPr>
          <a:xfrm>
            <a:off x="8412480" y="2130552"/>
            <a:ext cx="3291840" cy="457200"/>
          </a:xfrm>
          <a:prstGeom prst="rect">
            <a:avLst/>
          </a:prstGeom>
          <a:noFill/>
          <a:ln/>
        </p:spPr>
        <p:txBody>
          <a:bodyPr wrap="square" lIns="0" tIns="0" rIns="0" bIns="0" rtlCol="0" anchor="ctr"/>
          <a:lstStyle/>
          <a:p>
            <a:pPr marL="0" indent="0" algn="ctr">
              <a:buNone/>
            </a:pPr>
            <a:r>
              <a:rPr lang="en-US" sz="2000" b="1" dirty="0">
                <a:solidFill>
                  <a:srgbClr val="1A5490"/>
                </a:solidFill>
                <a:latin typeface="Georgia" pitchFamily="34" charset="0"/>
                <a:ea typeface="Georgia" pitchFamily="34" charset="-122"/>
                <a:cs typeface="Georgia" pitchFamily="34" charset="-120"/>
              </a:rPr>
              <a:t>S/.10.73M</a:t>
            </a:r>
            <a:endParaRPr lang="en-US" sz="2000" dirty="0"/>
          </a:p>
        </p:txBody>
      </p:sp>
      <p:sp>
        <p:nvSpPr>
          <p:cNvPr id="11" name="Text 8"/>
          <p:cNvSpPr/>
          <p:nvPr/>
        </p:nvSpPr>
        <p:spPr>
          <a:xfrm>
            <a:off x="8503920" y="2624328"/>
            <a:ext cx="3108960" cy="411480"/>
          </a:xfrm>
          <a:prstGeom prst="rect">
            <a:avLst/>
          </a:prstGeom>
          <a:noFill/>
          <a:ln/>
        </p:spPr>
        <p:txBody>
          <a:bodyPr wrap="square" lIns="0" tIns="0" rIns="0" bIns="0" rtlCol="0" anchor="ctr"/>
          <a:lstStyle/>
          <a:p>
            <a:pPr algn="ctr"/>
            <a:r>
              <a:rPr lang="es-PE" sz="900" dirty="0"/>
              <a:t>Estadísticamente </a:t>
            </a:r>
            <a:r>
              <a:rPr lang="en-US" sz="900" i="1" dirty="0" err="1">
                <a:solidFill>
                  <a:srgbClr val="333333"/>
                </a:solidFill>
                <a:latin typeface="Calibri" pitchFamily="34" charset="0"/>
                <a:cs typeface="Calibri" pitchFamily="34" charset="-120"/>
              </a:rPr>
              <a:t>p</a:t>
            </a:r>
            <a:r>
              <a:rPr lang="en-US" sz="900" i="1" dirty="0" err="1">
                <a:solidFill>
                  <a:srgbClr val="333333"/>
                </a:solidFill>
                <a:latin typeface="Calibri" pitchFamily="34" charset="0"/>
                <a:ea typeface="Calibri" pitchFamily="34" charset="-122"/>
                <a:cs typeface="Calibri" pitchFamily="34" charset="-120"/>
              </a:rPr>
              <a:t>érdida</a:t>
            </a:r>
            <a:r>
              <a:rPr lang="en-US" sz="900" i="1" dirty="0">
                <a:solidFill>
                  <a:srgbClr val="333333"/>
                </a:solidFill>
                <a:latin typeface="Calibri" pitchFamily="34" charset="0"/>
                <a:ea typeface="Calibri" pitchFamily="34" charset="-122"/>
                <a:cs typeface="Calibri" pitchFamily="34" charset="-120"/>
              </a:rPr>
              <a:t> promedio en un año normal</a:t>
            </a:r>
            <a:endParaRPr lang="en-US" sz="900" dirty="0"/>
          </a:p>
        </p:txBody>
      </p:sp>
      <p:sp>
        <p:nvSpPr>
          <p:cNvPr id="12" name="Shape 9"/>
          <p:cNvSpPr/>
          <p:nvPr/>
        </p:nvSpPr>
        <p:spPr>
          <a:xfrm>
            <a:off x="8412480" y="3200400"/>
            <a:ext cx="3291840" cy="1280160"/>
          </a:xfrm>
          <a:prstGeom prst="rect">
            <a:avLst/>
          </a:prstGeom>
          <a:solidFill>
            <a:srgbClr val="F2F2F2"/>
          </a:solidFill>
          <a:ln w="25400">
            <a:solidFill>
              <a:srgbClr val="D04A02"/>
            </a:solidFill>
            <a:prstDash val="solid"/>
          </a:ln>
        </p:spPr>
        <p:txBody>
          <a:bodyPr/>
          <a:lstStyle/>
          <a:p>
            <a:endParaRPr lang="es-PE"/>
          </a:p>
        </p:txBody>
      </p:sp>
      <p:sp>
        <p:nvSpPr>
          <p:cNvPr id="13" name="Shape 10"/>
          <p:cNvSpPr/>
          <p:nvPr/>
        </p:nvSpPr>
        <p:spPr>
          <a:xfrm>
            <a:off x="8412480" y="3200400"/>
            <a:ext cx="3291840" cy="292608"/>
          </a:xfrm>
          <a:prstGeom prst="rect">
            <a:avLst/>
          </a:prstGeom>
          <a:solidFill>
            <a:srgbClr val="D04A02"/>
          </a:solidFill>
          <a:ln w="12700">
            <a:solidFill>
              <a:srgbClr val="333333"/>
            </a:solidFill>
            <a:prstDash val="solid"/>
          </a:ln>
        </p:spPr>
        <p:txBody>
          <a:bodyPr/>
          <a:lstStyle/>
          <a:p>
            <a:endParaRPr lang="es-PE"/>
          </a:p>
        </p:txBody>
      </p:sp>
      <p:sp>
        <p:nvSpPr>
          <p:cNvPr id="14" name="Text 11"/>
          <p:cNvSpPr/>
          <p:nvPr/>
        </p:nvSpPr>
        <p:spPr>
          <a:xfrm>
            <a:off x="8412480" y="3209544"/>
            <a:ext cx="32918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VaR(95%)</a:t>
            </a:r>
            <a:endParaRPr lang="en-US" sz="1100" dirty="0"/>
          </a:p>
        </p:txBody>
      </p:sp>
      <p:sp>
        <p:nvSpPr>
          <p:cNvPr id="15" name="Text 12"/>
          <p:cNvSpPr/>
          <p:nvPr/>
        </p:nvSpPr>
        <p:spPr>
          <a:xfrm>
            <a:off x="8412480" y="3547872"/>
            <a:ext cx="3291840" cy="457200"/>
          </a:xfrm>
          <a:prstGeom prst="rect">
            <a:avLst/>
          </a:prstGeom>
          <a:noFill/>
          <a:ln/>
        </p:spPr>
        <p:txBody>
          <a:bodyPr wrap="square" lIns="0" tIns="0" rIns="0" bIns="0" rtlCol="0" anchor="ctr"/>
          <a:lstStyle/>
          <a:p>
            <a:pPr marL="0" indent="0" algn="ctr">
              <a:buNone/>
            </a:pPr>
            <a:r>
              <a:rPr lang="en-US" sz="2000" b="1" dirty="0">
                <a:solidFill>
                  <a:srgbClr val="D04A02"/>
                </a:solidFill>
                <a:latin typeface="Georgia" pitchFamily="34" charset="0"/>
                <a:ea typeface="Georgia" pitchFamily="34" charset="-122"/>
                <a:cs typeface="Georgia" pitchFamily="34" charset="-120"/>
              </a:rPr>
              <a:t>S/.14.60M</a:t>
            </a:r>
            <a:endParaRPr lang="en-US" sz="2000" dirty="0"/>
          </a:p>
        </p:txBody>
      </p:sp>
      <p:sp>
        <p:nvSpPr>
          <p:cNvPr id="16" name="Text 13"/>
          <p:cNvSpPr/>
          <p:nvPr/>
        </p:nvSpPr>
        <p:spPr>
          <a:xfrm>
            <a:off x="8503920" y="4041648"/>
            <a:ext cx="3108960" cy="411480"/>
          </a:xfrm>
          <a:prstGeom prst="rect">
            <a:avLst/>
          </a:prstGeom>
          <a:noFill/>
          <a:ln/>
        </p:spPr>
        <p:txBody>
          <a:bodyPr wrap="square" lIns="0" tIns="0" rIns="0" bIns="0" rtlCol="0" anchor="ctr"/>
          <a:lstStyle/>
          <a:p>
            <a:pPr algn="ctr"/>
            <a:r>
              <a:rPr lang="en-US" sz="900" i="1" dirty="0">
                <a:solidFill>
                  <a:srgbClr val="333333"/>
                </a:solidFill>
                <a:latin typeface="Calibri" pitchFamily="34" charset="0"/>
                <a:ea typeface="Calibri" pitchFamily="34" charset="-122"/>
                <a:cs typeface="Calibri" pitchFamily="34" charset="-120"/>
              </a:rPr>
              <a:t>1 de cada 20 años será peor </a:t>
            </a:r>
            <a:r>
              <a:rPr lang="en-US" sz="900" i="1" dirty="0" err="1">
                <a:solidFill>
                  <a:srgbClr val="333333"/>
                </a:solidFill>
                <a:latin typeface="Calibri" pitchFamily="34" charset="0"/>
                <a:ea typeface="Calibri" pitchFamily="34" charset="-122"/>
                <a:cs typeface="Calibri" pitchFamily="34" charset="-120"/>
              </a:rPr>
              <a:t>que</a:t>
            </a:r>
            <a:r>
              <a:rPr lang="en-US" sz="900" i="1" dirty="0">
                <a:solidFill>
                  <a:srgbClr val="333333"/>
                </a:solidFill>
                <a:latin typeface="Calibri" pitchFamily="34" charset="0"/>
                <a:ea typeface="Calibri" pitchFamily="34" charset="-122"/>
                <a:cs typeface="Calibri" pitchFamily="34" charset="-120"/>
              </a:rPr>
              <a:t> </a:t>
            </a:r>
            <a:r>
              <a:rPr lang="en-US" sz="900" i="1" dirty="0" err="1">
                <a:solidFill>
                  <a:srgbClr val="333333"/>
                </a:solidFill>
                <a:latin typeface="Calibri" pitchFamily="34" charset="0"/>
                <a:ea typeface="Calibri" pitchFamily="34" charset="-122"/>
                <a:cs typeface="Calibri" pitchFamily="34" charset="-120"/>
              </a:rPr>
              <a:t>esto</a:t>
            </a:r>
            <a:r>
              <a:rPr lang="en-US" sz="900" i="1" dirty="0">
                <a:solidFill>
                  <a:srgbClr val="333333"/>
                </a:solidFill>
                <a:latin typeface="Calibri" pitchFamily="34" charset="0"/>
                <a:ea typeface="Calibri" pitchFamily="34" charset="-122"/>
                <a:cs typeface="Calibri" pitchFamily="34" charset="-120"/>
              </a:rPr>
              <a:t>: </a:t>
            </a:r>
            <a:r>
              <a:rPr lang="es-ES" sz="900" dirty="0"/>
              <a:t>5% seguros de que nuestras pérdidas por fuga de clientes </a:t>
            </a:r>
            <a:r>
              <a:rPr lang="es-ES" sz="900" b="1" dirty="0"/>
              <a:t>no superarán los S/. 14.60 Millones</a:t>
            </a:r>
            <a:r>
              <a:rPr lang="es-ES" sz="900" dirty="0"/>
              <a:t> este año.</a:t>
            </a:r>
            <a:endParaRPr lang="en-US" sz="900" dirty="0"/>
          </a:p>
        </p:txBody>
      </p:sp>
      <p:sp>
        <p:nvSpPr>
          <p:cNvPr id="17" name="Shape 14"/>
          <p:cNvSpPr/>
          <p:nvPr/>
        </p:nvSpPr>
        <p:spPr>
          <a:xfrm>
            <a:off x="8412480" y="4617720"/>
            <a:ext cx="3291840" cy="1280160"/>
          </a:xfrm>
          <a:prstGeom prst="rect">
            <a:avLst/>
          </a:prstGeom>
          <a:solidFill>
            <a:srgbClr val="F2F2F2"/>
          </a:solidFill>
          <a:ln w="25400">
            <a:solidFill>
              <a:srgbClr val="C0392B"/>
            </a:solidFill>
            <a:prstDash val="solid"/>
          </a:ln>
        </p:spPr>
        <p:txBody>
          <a:bodyPr/>
          <a:lstStyle/>
          <a:p>
            <a:endParaRPr lang="es-PE"/>
          </a:p>
        </p:txBody>
      </p:sp>
      <p:sp>
        <p:nvSpPr>
          <p:cNvPr id="18" name="Shape 15"/>
          <p:cNvSpPr/>
          <p:nvPr/>
        </p:nvSpPr>
        <p:spPr>
          <a:xfrm>
            <a:off x="8412480" y="4617720"/>
            <a:ext cx="3291840" cy="292608"/>
          </a:xfrm>
          <a:prstGeom prst="rect">
            <a:avLst/>
          </a:prstGeom>
          <a:solidFill>
            <a:srgbClr val="C0392B"/>
          </a:solidFill>
          <a:ln w="12700">
            <a:solidFill>
              <a:srgbClr val="333333"/>
            </a:solidFill>
            <a:prstDash val="solid"/>
          </a:ln>
        </p:spPr>
        <p:txBody>
          <a:bodyPr/>
          <a:lstStyle/>
          <a:p>
            <a:endParaRPr lang="es-PE"/>
          </a:p>
        </p:txBody>
      </p:sp>
      <p:sp>
        <p:nvSpPr>
          <p:cNvPr id="19" name="Text 16"/>
          <p:cNvSpPr/>
          <p:nvPr/>
        </p:nvSpPr>
        <p:spPr>
          <a:xfrm>
            <a:off x="8412480" y="4626864"/>
            <a:ext cx="32918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CVaR(95%)</a:t>
            </a:r>
            <a:endParaRPr lang="en-US" sz="1100" dirty="0"/>
          </a:p>
        </p:txBody>
      </p:sp>
      <p:sp>
        <p:nvSpPr>
          <p:cNvPr id="20" name="Text 17"/>
          <p:cNvSpPr/>
          <p:nvPr/>
        </p:nvSpPr>
        <p:spPr>
          <a:xfrm>
            <a:off x="8412480" y="4965192"/>
            <a:ext cx="3291840" cy="457200"/>
          </a:xfrm>
          <a:prstGeom prst="rect">
            <a:avLst/>
          </a:prstGeom>
          <a:noFill/>
          <a:ln/>
        </p:spPr>
        <p:txBody>
          <a:bodyPr wrap="square" lIns="0" tIns="0" rIns="0" bIns="0" rtlCol="0" anchor="ctr"/>
          <a:lstStyle/>
          <a:p>
            <a:pPr marL="0" indent="0" algn="ctr">
              <a:buNone/>
            </a:pPr>
            <a:r>
              <a:rPr lang="en-US" sz="2000" b="1" dirty="0">
                <a:solidFill>
                  <a:srgbClr val="C0392B"/>
                </a:solidFill>
                <a:latin typeface="Georgia" pitchFamily="34" charset="0"/>
                <a:ea typeface="Georgia" pitchFamily="34" charset="-122"/>
                <a:cs typeface="Georgia" pitchFamily="34" charset="-120"/>
              </a:rPr>
              <a:t>S/.15.67M</a:t>
            </a:r>
            <a:endParaRPr lang="en-US" sz="2000" dirty="0"/>
          </a:p>
        </p:txBody>
      </p:sp>
      <p:sp>
        <p:nvSpPr>
          <p:cNvPr id="21" name="Text 18"/>
          <p:cNvSpPr/>
          <p:nvPr/>
        </p:nvSpPr>
        <p:spPr>
          <a:xfrm>
            <a:off x="8503920" y="5458968"/>
            <a:ext cx="3108960" cy="411480"/>
          </a:xfrm>
          <a:prstGeom prst="rect">
            <a:avLst/>
          </a:prstGeom>
          <a:noFill/>
          <a:ln/>
        </p:spPr>
        <p:txBody>
          <a:bodyPr wrap="square" lIns="0" tIns="0" rIns="0" bIns="0" rtlCol="0" anchor="ctr"/>
          <a:lstStyle/>
          <a:p>
            <a:pPr algn="ctr"/>
            <a:r>
              <a:rPr lang="en-US" sz="900" i="1" dirty="0">
                <a:solidFill>
                  <a:srgbClr val="333333"/>
                </a:solidFill>
                <a:latin typeface="Calibri" pitchFamily="34" charset="0"/>
                <a:cs typeface="Calibri" pitchFamily="34" charset="-120"/>
              </a:rPr>
              <a:t>Severidad promedio en la cola del 5%: </a:t>
            </a:r>
            <a:r>
              <a:rPr lang="en-US" sz="900" dirty="0">
                <a:solidFill>
                  <a:srgbClr val="333333"/>
                </a:solidFill>
                <a:latin typeface="Calibri" pitchFamily="34" charset="0"/>
                <a:cs typeface="Calibri" pitchFamily="34" charset="-120"/>
              </a:rPr>
              <a:t>En </a:t>
            </a:r>
            <a:r>
              <a:rPr lang="en-US" sz="900" dirty="0" err="1">
                <a:solidFill>
                  <a:srgbClr val="333333"/>
                </a:solidFill>
                <a:latin typeface="Calibri" pitchFamily="34" charset="0"/>
                <a:cs typeface="Calibri" pitchFamily="34" charset="-120"/>
              </a:rPr>
              <a:t>caso</a:t>
            </a:r>
            <a:r>
              <a:rPr lang="en-US" sz="900" dirty="0">
                <a:solidFill>
                  <a:srgbClr val="333333"/>
                </a:solidFill>
                <a:latin typeface="Calibri" pitchFamily="34" charset="0"/>
                <a:cs typeface="Calibri" pitchFamily="34" charset="-120"/>
              </a:rPr>
              <a:t> c</a:t>
            </a:r>
            <a:r>
              <a:rPr lang="es-ES" sz="900" dirty="0" err="1">
                <a:solidFill>
                  <a:srgbClr val="333333"/>
                </a:solidFill>
                <a:latin typeface="Calibri" pitchFamily="34" charset="0"/>
                <a:cs typeface="Calibri" pitchFamily="34" charset="-120"/>
              </a:rPr>
              <a:t>aer</a:t>
            </a:r>
            <a:r>
              <a:rPr lang="es-ES" sz="900" dirty="0">
                <a:solidFill>
                  <a:srgbClr val="333333"/>
                </a:solidFill>
                <a:latin typeface="Calibri" pitchFamily="34" charset="0"/>
                <a:cs typeface="Calibri" pitchFamily="34" charset="-120"/>
              </a:rPr>
              <a:t> en ese 5% de los peores escenarios posibles, el 'golpe' promedio a la oficina será de </a:t>
            </a:r>
            <a:r>
              <a:rPr lang="es-ES" sz="900" b="1" dirty="0">
                <a:solidFill>
                  <a:srgbClr val="333333"/>
                </a:solidFill>
                <a:latin typeface="Calibri" pitchFamily="34" charset="0"/>
                <a:cs typeface="Calibri" pitchFamily="34" charset="-120"/>
              </a:rPr>
              <a:t>S/. 15.67 Millones.</a:t>
            </a:r>
            <a:endParaRPr lang="en-US" sz="900" b="1" dirty="0">
              <a:solidFill>
                <a:srgbClr val="333333"/>
              </a:solidFill>
              <a:latin typeface="Calibri" pitchFamily="34" charset="0"/>
              <a:cs typeface="Calibri" pitchFamily="34" charset="-120"/>
            </a:endParaRPr>
          </a:p>
        </p:txBody>
      </p:sp>
      <p:sp>
        <p:nvSpPr>
          <p:cNvPr id="22" name="Shape 19"/>
          <p:cNvSpPr/>
          <p:nvPr/>
        </p:nvSpPr>
        <p:spPr>
          <a:xfrm>
            <a:off x="365760" y="6236208"/>
            <a:ext cx="11475720" cy="384048"/>
          </a:xfrm>
          <a:prstGeom prst="rect">
            <a:avLst/>
          </a:prstGeom>
          <a:solidFill>
            <a:srgbClr val="FFF3ED"/>
          </a:solidFill>
          <a:ln w="12700">
            <a:solidFill>
              <a:srgbClr val="D04A02"/>
            </a:solidFill>
            <a:prstDash val="solid"/>
          </a:ln>
        </p:spPr>
        <p:txBody>
          <a:bodyPr/>
          <a:lstStyle/>
          <a:p>
            <a:endParaRPr lang="es-PE"/>
          </a:p>
        </p:txBody>
      </p:sp>
      <p:sp>
        <p:nvSpPr>
          <p:cNvPr id="23" name="Text 20"/>
          <p:cNvSpPr/>
          <p:nvPr/>
        </p:nvSpPr>
        <p:spPr>
          <a:xfrm>
            <a:off x="502920" y="6254496"/>
            <a:ext cx="11201400" cy="347472"/>
          </a:xfrm>
          <a:prstGeom prst="rect">
            <a:avLst/>
          </a:prstGeom>
          <a:noFill/>
          <a:ln/>
        </p:spPr>
        <p:txBody>
          <a:bodyPr wrap="square" lIns="0" tIns="0" rIns="0" bIns="0" rtlCol="0" anchor="ctr"/>
          <a:lstStyle/>
          <a:p>
            <a:pPr marL="0" indent="0">
              <a:buNone/>
            </a:pPr>
            <a:r>
              <a:rPr lang="en-US" sz="950" b="1" dirty="0">
                <a:solidFill>
                  <a:srgbClr val="D04A02"/>
                </a:solidFill>
                <a:latin typeface="Calibri" pitchFamily="34" charset="0"/>
                <a:ea typeface="Calibri" pitchFamily="34" charset="-122"/>
                <a:cs typeface="Calibri" pitchFamily="34" charset="-120"/>
              </a:rPr>
              <a:t>Lectura ejecutiva: </a:t>
            </a:r>
            <a:r>
              <a:rPr lang="en-US" sz="950" dirty="0">
                <a:solidFill>
                  <a:srgbClr val="333333"/>
                </a:solidFill>
                <a:latin typeface="Calibri" pitchFamily="34" charset="0"/>
                <a:ea typeface="Calibri" pitchFamily="34" charset="-122"/>
                <a:cs typeface="Calibri" pitchFamily="34" charset="-120"/>
              </a:rPr>
              <a:t>~S/.10.73M de pérdida esperada anual. Hay 5% de prob. de perder &gt;S/.14.6M (VaR). En ese escenario la pérdida promedio salta a S/.15.7M (CVaR) — cifra que debe dimensionar la reserva de contingencia.</a:t>
            </a:r>
            <a:endParaRPr lang="en-US" sz="950" dirty="0"/>
          </a:p>
        </p:txBody>
      </p:sp>
      <p:sp>
        <p:nvSpPr>
          <p:cNvPr id="24" name="Text 21"/>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25" name="Text 22"/>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24b/32</a:t>
            </a:r>
            <a:endParaRPr lang="en-US" sz="800" dirty="0"/>
          </a:p>
        </p:txBody>
      </p:sp>
      <p:pic>
        <p:nvPicPr>
          <p:cNvPr id="9218" name="Picture 2">
            <a:extLst>
              <a:ext uri="{FF2B5EF4-FFF2-40B4-BE49-F238E27FC236}">
                <a16:creationId xmlns:a16="http://schemas.microsoft.com/office/drawing/2014/main" id="{CCAC51C8-3968-242A-0F67-0DEF74BB13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697" y="1811932"/>
            <a:ext cx="7910670" cy="4105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633422"/>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Risk Analytics Ejecutivo — VaR determinista · CVaR por score · Desviación de Modelo</a:t>
            </a:r>
            <a:endParaRPr lang="en-US" sz="2600" dirty="0"/>
          </a:p>
        </p:txBody>
      </p:sp>
      <p:sp>
        <p:nvSpPr>
          <p:cNvPr id="5" name="Text 3"/>
          <p:cNvSpPr/>
          <p:nvPr/>
        </p:nvSpPr>
        <p:spPr>
          <a:xfrm>
            <a:off x="457200" y="1234440"/>
            <a:ext cx="11247120" cy="457200"/>
          </a:xfrm>
          <a:prstGeom prst="rect">
            <a:avLst/>
          </a:prstGeom>
          <a:noFill/>
          <a:ln/>
        </p:spPr>
        <p:txBody>
          <a:bodyPr wrap="square" lIns="0" tIns="0" rIns="0" bIns="0" rtlCol="0" anchor="ctr"/>
          <a:lstStyle/>
          <a:p>
            <a:pPr marL="0" indent="0">
              <a:buNone/>
            </a:pPr>
            <a:r>
              <a:rPr lang="en-US" sz="1050" i="1" dirty="0">
                <a:solidFill>
                  <a:srgbClr val="666666"/>
                </a:solidFill>
                <a:latin typeface="Calibri" pitchFamily="34" charset="0"/>
                <a:ea typeface="Calibri" pitchFamily="34" charset="-122"/>
                <a:cs typeface="Calibri" pitchFamily="34" charset="-120"/>
              </a:rPr>
              <a:t>Vista ejecutiva (determinista, lineal) complementaria a la Basel II: VaR por empresa = Revenue × Score/100; CVaR = promedio del VaR en el 5 % más tóxico por score. Desviación de Modelo flaguea empresas donde el score dice 'prioritaria' pero la venta real está cayendo.</a:t>
            </a:r>
            <a:endParaRPr lang="en-US" sz="1050" dirty="0"/>
          </a:p>
        </p:txBody>
      </p:sp>
      <p:sp>
        <p:nvSpPr>
          <p:cNvPr id="6" name="Shape 4"/>
          <p:cNvSpPr/>
          <p:nvPr/>
        </p:nvSpPr>
        <p:spPr>
          <a:xfrm>
            <a:off x="457200" y="1783080"/>
            <a:ext cx="2743200" cy="1051560"/>
          </a:xfrm>
          <a:prstGeom prst="rect">
            <a:avLst/>
          </a:prstGeom>
          <a:solidFill>
            <a:srgbClr val="F2F2F2"/>
          </a:solidFill>
          <a:ln w="12700">
            <a:solidFill>
              <a:srgbClr val="333333"/>
            </a:solidFill>
            <a:prstDash val="solid"/>
          </a:ln>
        </p:spPr>
        <p:txBody>
          <a:bodyPr/>
          <a:lstStyle/>
          <a:p>
            <a:endParaRPr lang="es-PE"/>
          </a:p>
        </p:txBody>
      </p:sp>
      <p:sp>
        <p:nvSpPr>
          <p:cNvPr id="7" name="Shape 5"/>
          <p:cNvSpPr/>
          <p:nvPr/>
        </p:nvSpPr>
        <p:spPr>
          <a:xfrm>
            <a:off x="457200" y="1783080"/>
            <a:ext cx="2743200" cy="73152"/>
          </a:xfrm>
          <a:prstGeom prst="rect">
            <a:avLst/>
          </a:prstGeom>
          <a:solidFill>
            <a:srgbClr val="D04A02"/>
          </a:solidFill>
          <a:ln w="12700">
            <a:solidFill>
              <a:srgbClr val="333333"/>
            </a:solidFill>
            <a:prstDash val="solid"/>
          </a:ln>
        </p:spPr>
        <p:txBody>
          <a:bodyPr/>
          <a:lstStyle/>
          <a:p>
            <a:endParaRPr lang="es-PE"/>
          </a:p>
        </p:txBody>
      </p:sp>
      <p:sp>
        <p:nvSpPr>
          <p:cNvPr id="8" name="Text 6"/>
          <p:cNvSpPr/>
          <p:nvPr/>
        </p:nvSpPr>
        <p:spPr>
          <a:xfrm>
            <a:off x="548640" y="1874520"/>
            <a:ext cx="2560320" cy="228600"/>
          </a:xfrm>
          <a:prstGeom prst="rect">
            <a:avLst/>
          </a:prstGeom>
          <a:noFill/>
          <a:ln/>
        </p:spPr>
        <p:txBody>
          <a:bodyPr wrap="square" lIns="0" tIns="0" rIns="0" bIns="0" rtlCol="0" anchor="ctr"/>
          <a:lstStyle/>
          <a:p>
            <a:pPr marL="0" indent="0">
              <a:buNone/>
            </a:pPr>
            <a:r>
              <a:rPr lang="en-US" sz="1000" b="1" dirty="0">
                <a:solidFill>
                  <a:srgbClr val="D04A02"/>
                </a:solidFill>
                <a:latin typeface="Georgia" pitchFamily="34" charset="0"/>
                <a:ea typeface="Georgia" pitchFamily="34" charset="-122"/>
                <a:cs typeface="Georgia" pitchFamily="34" charset="-120"/>
              </a:rPr>
              <a:t>VaR TOTAL BOOK</a:t>
            </a:r>
            <a:endParaRPr lang="en-US" sz="1000" dirty="0"/>
          </a:p>
        </p:txBody>
      </p:sp>
      <p:sp>
        <p:nvSpPr>
          <p:cNvPr id="9" name="Text 7"/>
          <p:cNvSpPr/>
          <p:nvPr/>
        </p:nvSpPr>
        <p:spPr>
          <a:xfrm>
            <a:off x="548640" y="2103120"/>
            <a:ext cx="2560320" cy="457200"/>
          </a:xfrm>
          <a:prstGeom prst="rect">
            <a:avLst/>
          </a:prstGeom>
          <a:noFill/>
          <a:ln/>
        </p:spPr>
        <p:txBody>
          <a:bodyPr wrap="square" lIns="0" tIns="0" rIns="0" bIns="0" rtlCol="0" anchor="ctr"/>
          <a:lstStyle/>
          <a:p>
            <a:pPr marL="0" indent="0">
              <a:buNone/>
            </a:pPr>
            <a:r>
              <a:rPr lang="en-US" sz="2200" b="1" dirty="0">
                <a:solidFill>
                  <a:srgbClr val="2D2D2D"/>
                </a:solidFill>
                <a:latin typeface="Georgia" pitchFamily="34" charset="0"/>
                <a:ea typeface="Georgia" pitchFamily="34" charset="-122"/>
                <a:cs typeface="Georgia" pitchFamily="34" charset="-120"/>
              </a:rPr>
              <a:t>S/.10.7M</a:t>
            </a:r>
            <a:endParaRPr lang="en-US" sz="2200" dirty="0"/>
          </a:p>
        </p:txBody>
      </p:sp>
      <p:sp>
        <p:nvSpPr>
          <p:cNvPr id="10" name="Text 8"/>
          <p:cNvSpPr/>
          <p:nvPr/>
        </p:nvSpPr>
        <p:spPr>
          <a:xfrm>
            <a:off x="548640" y="2578608"/>
            <a:ext cx="2560320" cy="274320"/>
          </a:xfrm>
          <a:prstGeom prst="rect">
            <a:avLst/>
          </a:prstGeom>
          <a:noFill/>
          <a:ln/>
        </p:spPr>
        <p:txBody>
          <a:bodyPr wrap="square" lIns="0" tIns="0" rIns="0" bIns="0" rtlCol="0" anchor="ctr"/>
          <a:lstStyle/>
          <a:p>
            <a:pPr marL="0" indent="0">
              <a:buNone/>
            </a:pPr>
            <a:r>
              <a:rPr lang="en-US" sz="850" i="1" dirty="0">
                <a:solidFill>
                  <a:srgbClr val="666666"/>
                </a:solidFill>
                <a:latin typeface="Calibri" pitchFamily="34" charset="0"/>
                <a:ea typeface="Calibri" pitchFamily="34" charset="-122"/>
                <a:cs typeface="Calibri" pitchFamily="34" charset="-120"/>
              </a:rPr>
              <a:t>Revenue × (Score/100) · determinista por empresa</a:t>
            </a:r>
            <a:endParaRPr lang="en-US" sz="850" dirty="0"/>
          </a:p>
        </p:txBody>
      </p:sp>
      <p:sp>
        <p:nvSpPr>
          <p:cNvPr id="11" name="Shape 9"/>
          <p:cNvSpPr/>
          <p:nvPr/>
        </p:nvSpPr>
        <p:spPr>
          <a:xfrm>
            <a:off x="3337560" y="1783080"/>
            <a:ext cx="2743200" cy="1051560"/>
          </a:xfrm>
          <a:prstGeom prst="rect">
            <a:avLst/>
          </a:prstGeom>
          <a:solidFill>
            <a:srgbClr val="F2F2F2"/>
          </a:solidFill>
          <a:ln w="12700">
            <a:solidFill>
              <a:srgbClr val="333333"/>
            </a:solidFill>
            <a:prstDash val="solid"/>
          </a:ln>
        </p:spPr>
        <p:txBody>
          <a:bodyPr/>
          <a:lstStyle/>
          <a:p>
            <a:endParaRPr lang="es-PE"/>
          </a:p>
        </p:txBody>
      </p:sp>
      <p:sp>
        <p:nvSpPr>
          <p:cNvPr id="12" name="Shape 10"/>
          <p:cNvSpPr/>
          <p:nvPr/>
        </p:nvSpPr>
        <p:spPr>
          <a:xfrm>
            <a:off x="3337560" y="1783080"/>
            <a:ext cx="2743200" cy="73152"/>
          </a:xfrm>
          <a:prstGeom prst="rect">
            <a:avLst/>
          </a:prstGeom>
          <a:solidFill>
            <a:srgbClr val="C0392B"/>
          </a:solidFill>
          <a:ln w="12700">
            <a:solidFill>
              <a:srgbClr val="333333"/>
            </a:solidFill>
            <a:prstDash val="solid"/>
          </a:ln>
        </p:spPr>
        <p:txBody>
          <a:bodyPr/>
          <a:lstStyle/>
          <a:p>
            <a:endParaRPr lang="es-PE"/>
          </a:p>
        </p:txBody>
      </p:sp>
      <p:sp>
        <p:nvSpPr>
          <p:cNvPr id="13" name="Text 11"/>
          <p:cNvSpPr/>
          <p:nvPr/>
        </p:nvSpPr>
        <p:spPr>
          <a:xfrm>
            <a:off x="3429000" y="1874520"/>
            <a:ext cx="2560320" cy="228600"/>
          </a:xfrm>
          <a:prstGeom prst="rect">
            <a:avLst/>
          </a:prstGeom>
          <a:noFill/>
          <a:ln/>
        </p:spPr>
        <p:txBody>
          <a:bodyPr wrap="square" lIns="0" tIns="0" rIns="0" bIns="0" rtlCol="0" anchor="ctr"/>
          <a:lstStyle/>
          <a:p>
            <a:pPr marL="0" indent="0">
              <a:buNone/>
            </a:pPr>
            <a:r>
              <a:rPr lang="en-US" sz="1000" b="1" dirty="0">
                <a:solidFill>
                  <a:srgbClr val="C0392B"/>
                </a:solidFill>
                <a:latin typeface="Georgia" pitchFamily="34" charset="0"/>
                <a:ea typeface="Georgia" pitchFamily="34" charset="-122"/>
                <a:cs typeface="Georgia" pitchFamily="34" charset="-120"/>
              </a:rPr>
              <a:t>CVaR TOP 5% ALERTA</a:t>
            </a:r>
            <a:endParaRPr lang="en-US" sz="1000" dirty="0"/>
          </a:p>
        </p:txBody>
      </p:sp>
      <p:sp>
        <p:nvSpPr>
          <p:cNvPr id="14" name="Text 12"/>
          <p:cNvSpPr/>
          <p:nvPr/>
        </p:nvSpPr>
        <p:spPr>
          <a:xfrm>
            <a:off x="3429000" y="2103120"/>
            <a:ext cx="2560320" cy="457200"/>
          </a:xfrm>
          <a:prstGeom prst="rect">
            <a:avLst/>
          </a:prstGeom>
          <a:noFill/>
          <a:ln/>
        </p:spPr>
        <p:txBody>
          <a:bodyPr wrap="square" lIns="0" tIns="0" rIns="0" bIns="0" rtlCol="0" anchor="ctr"/>
          <a:lstStyle/>
          <a:p>
            <a:pPr marL="0" indent="0">
              <a:buNone/>
            </a:pPr>
            <a:r>
              <a:rPr lang="en-US" sz="2200" b="1" dirty="0">
                <a:solidFill>
                  <a:srgbClr val="2D2D2D"/>
                </a:solidFill>
                <a:latin typeface="Georgia" pitchFamily="34" charset="0"/>
                <a:ea typeface="Georgia" pitchFamily="34" charset="-122"/>
                <a:cs typeface="Georgia" pitchFamily="34" charset="-120"/>
              </a:rPr>
              <a:t>S/.0.00M</a:t>
            </a:r>
            <a:endParaRPr lang="en-US" sz="2200" dirty="0"/>
          </a:p>
        </p:txBody>
      </p:sp>
      <p:sp>
        <p:nvSpPr>
          <p:cNvPr id="15" name="Text 13"/>
          <p:cNvSpPr/>
          <p:nvPr/>
        </p:nvSpPr>
        <p:spPr>
          <a:xfrm>
            <a:off x="3429000" y="2578608"/>
            <a:ext cx="2560320" cy="274320"/>
          </a:xfrm>
          <a:prstGeom prst="rect">
            <a:avLst/>
          </a:prstGeom>
          <a:noFill/>
          <a:ln/>
        </p:spPr>
        <p:txBody>
          <a:bodyPr wrap="square" lIns="0" tIns="0" rIns="0" bIns="0" rtlCol="0" anchor="ctr"/>
          <a:lstStyle/>
          <a:p>
            <a:pPr marL="0" indent="0">
              <a:buNone/>
            </a:pPr>
            <a:r>
              <a:rPr lang="en-US" sz="850" i="1" dirty="0">
                <a:solidFill>
                  <a:srgbClr val="666666"/>
                </a:solidFill>
                <a:latin typeface="Calibri" pitchFamily="34" charset="0"/>
                <a:ea typeface="Calibri" pitchFamily="34" charset="-122"/>
                <a:cs typeface="Calibri" pitchFamily="34" charset="-120"/>
              </a:rPr>
              <a:t>Promedio VaR en el 5% peor de ALERTA ALTA</a:t>
            </a:r>
            <a:endParaRPr lang="en-US" sz="850" dirty="0"/>
          </a:p>
        </p:txBody>
      </p:sp>
      <p:sp>
        <p:nvSpPr>
          <p:cNvPr id="16" name="Shape 14"/>
          <p:cNvSpPr/>
          <p:nvPr/>
        </p:nvSpPr>
        <p:spPr>
          <a:xfrm>
            <a:off x="6217920" y="1783080"/>
            <a:ext cx="2743200" cy="1051560"/>
          </a:xfrm>
          <a:prstGeom prst="rect">
            <a:avLst/>
          </a:prstGeom>
          <a:solidFill>
            <a:srgbClr val="F2F2F2"/>
          </a:solidFill>
          <a:ln w="12700">
            <a:solidFill>
              <a:srgbClr val="333333"/>
            </a:solidFill>
            <a:prstDash val="solid"/>
          </a:ln>
        </p:spPr>
        <p:txBody>
          <a:bodyPr/>
          <a:lstStyle/>
          <a:p>
            <a:endParaRPr lang="es-PE"/>
          </a:p>
        </p:txBody>
      </p:sp>
      <p:sp>
        <p:nvSpPr>
          <p:cNvPr id="17" name="Shape 15"/>
          <p:cNvSpPr/>
          <p:nvPr/>
        </p:nvSpPr>
        <p:spPr>
          <a:xfrm>
            <a:off x="6217920" y="1783080"/>
            <a:ext cx="2743200" cy="73152"/>
          </a:xfrm>
          <a:prstGeom prst="rect">
            <a:avLst/>
          </a:prstGeom>
          <a:solidFill>
            <a:srgbClr val="27AE60"/>
          </a:solidFill>
          <a:ln w="12700">
            <a:solidFill>
              <a:srgbClr val="333333"/>
            </a:solidFill>
            <a:prstDash val="solid"/>
          </a:ln>
        </p:spPr>
        <p:txBody>
          <a:bodyPr/>
          <a:lstStyle/>
          <a:p>
            <a:endParaRPr lang="es-PE"/>
          </a:p>
        </p:txBody>
      </p:sp>
      <p:sp>
        <p:nvSpPr>
          <p:cNvPr id="18" name="Text 16"/>
          <p:cNvSpPr/>
          <p:nvPr/>
        </p:nvSpPr>
        <p:spPr>
          <a:xfrm>
            <a:off x="6309360" y="1874520"/>
            <a:ext cx="2560320" cy="228600"/>
          </a:xfrm>
          <a:prstGeom prst="rect">
            <a:avLst/>
          </a:prstGeom>
          <a:noFill/>
          <a:ln/>
        </p:spPr>
        <p:txBody>
          <a:bodyPr wrap="square" lIns="0" tIns="0" rIns="0" bIns="0" rtlCol="0" anchor="ctr"/>
          <a:lstStyle/>
          <a:p>
            <a:pPr marL="0" indent="0">
              <a:buNone/>
            </a:pPr>
            <a:r>
              <a:rPr lang="en-US" sz="1000" b="1" dirty="0">
                <a:solidFill>
                  <a:srgbClr val="27AE60"/>
                </a:solidFill>
                <a:latin typeface="Georgia" pitchFamily="34" charset="0"/>
                <a:ea typeface="Georgia" pitchFamily="34" charset="-122"/>
                <a:cs typeface="Georgia" pitchFamily="34" charset="-120"/>
              </a:rPr>
              <a:t>NRAO NETO</a:t>
            </a:r>
            <a:endParaRPr lang="en-US" sz="1000" dirty="0"/>
          </a:p>
        </p:txBody>
      </p:sp>
      <p:sp>
        <p:nvSpPr>
          <p:cNvPr id="19" name="Text 17"/>
          <p:cNvSpPr/>
          <p:nvPr/>
        </p:nvSpPr>
        <p:spPr>
          <a:xfrm>
            <a:off x="6309360" y="2103120"/>
            <a:ext cx="2560320" cy="457200"/>
          </a:xfrm>
          <a:prstGeom prst="rect">
            <a:avLst/>
          </a:prstGeom>
          <a:noFill/>
          <a:ln/>
        </p:spPr>
        <p:txBody>
          <a:bodyPr wrap="square" lIns="0" tIns="0" rIns="0" bIns="0" rtlCol="0" anchor="ctr"/>
          <a:lstStyle/>
          <a:p>
            <a:pPr marL="0" indent="0">
              <a:buNone/>
            </a:pPr>
            <a:r>
              <a:rPr lang="en-US" sz="2200" b="1" dirty="0">
                <a:solidFill>
                  <a:srgbClr val="2D2D2D"/>
                </a:solidFill>
                <a:latin typeface="Georgia" pitchFamily="34" charset="0"/>
                <a:ea typeface="Georgia" pitchFamily="34" charset="-122"/>
                <a:cs typeface="Georgia" pitchFamily="34" charset="-120"/>
              </a:rPr>
              <a:t>+S/.214.7M</a:t>
            </a:r>
            <a:endParaRPr lang="en-US" sz="2200" dirty="0"/>
          </a:p>
        </p:txBody>
      </p:sp>
      <p:sp>
        <p:nvSpPr>
          <p:cNvPr id="20" name="Text 18"/>
          <p:cNvSpPr/>
          <p:nvPr/>
        </p:nvSpPr>
        <p:spPr>
          <a:xfrm>
            <a:off x="6309360" y="2578608"/>
            <a:ext cx="2560320" cy="274320"/>
          </a:xfrm>
          <a:prstGeom prst="rect">
            <a:avLst/>
          </a:prstGeom>
          <a:noFill/>
          <a:ln/>
        </p:spPr>
        <p:txBody>
          <a:bodyPr wrap="square" lIns="0" tIns="0" rIns="0" bIns="0" rtlCol="0" anchor="ctr"/>
          <a:lstStyle/>
          <a:p>
            <a:pPr marL="0" indent="0">
              <a:buNone/>
            </a:pPr>
            <a:r>
              <a:rPr lang="en-US" sz="850" i="1" dirty="0">
                <a:solidFill>
                  <a:srgbClr val="666666"/>
                </a:solidFill>
                <a:latin typeface="Calibri" pitchFamily="34" charset="0"/>
                <a:ea typeface="Calibri" pitchFamily="34" charset="-122"/>
                <a:cs typeface="Calibri" pitchFamily="34" charset="-120"/>
              </a:rPr>
              <a:t>1000/1000 empresas con Upsell &gt; VaR</a:t>
            </a:r>
            <a:endParaRPr lang="en-US" sz="850" dirty="0"/>
          </a:p>
        </p:txBody>
      </p:sp>
      <p:sp>
        <p:nvSpPr>
          <p:cNvPr id="21" name="Shape 19"/>
          <p:cNvSpPr/>
          <p:nvPr/>
        </p:nvSpPr>
        <p:spPr>
          <a:xfrm>
            <a:off x="9098280" y="1783080"/>
            <a:ext cx="2743200" cy="1051560"/>
          </a:xfrm>
          <a:prstGeom prst="rect">
            <a:avLst/>
          </a:prstGeom>
          <a:solidFill>
            <a:srgbClr val="F2F2F2"/>
          </a:solidFill>
          <a:ln w="12700">
            <a:solidFill>
              <a:srgbClr val="333333"/>
            </a:solidFill>
            <a:prstDash val="solid"/>
          </a:ln>
        </p:spPr>
        <p:txBody>
          <a:bodyPr/>
          <a:lstStyle/>
          <a:p>
            <a:endParaRPr lang="es-PE"/>
          </a:p>
        </p:txBody>
      </p:sp>
      <p:sp>
        <p:nvSpPr>
          <p:cNvPr id="22" name="Shape 20"/>
          <p:cNvSpPr/>
          <p:nvPr/>
        </p:nvSpPr>
        <p:spPr>
          <a:xfrm>
            <a:off x="9098280" y="1783080"/>
            <a:ext cx="2743200" cy="73152"/>
          </a:xfrm>
          <a:prstGeom prst="rect">
            <a:avLst/>
          </a:prstGeom>
          <a:solidFill>
            <a:srgbClr val="D4A843"/>
          </a:solidFill>
          <a:ln w="12700">
            <a:solidFill>
              <a:srgbClr val="333333"/>
            </a:solidFill>
            <a:prstDash val="solid"/>
          </a:ln>
        </p:spPr>
        <p:txBody>
          <a:bodyPr/>
          <a:lstStyle/>
          <a:p>
            <a:endParaRPr lang="es-PE"/>
          </a:p>
        </p:txBody>
      </p:sp>
      <p:sp>
        <p:nvSpPr>
          <p:cNvPr id="23" name="Text 21"/>
          <p:cNvSpPr/>
          <p:nvPr/>
        </p:nvSpPr>
        <p:spPr>
          <a:xfrm>
            <a:off x="9189720" y="1874520"/>
            <a:ext cx="2560320" cy="228600"/>
          </a:xfrm>
          <a:prstGeom prst="rect">
            <a:avLst/>
          </a:prstGeom>
          <a:noFill/>
          <a:ln/>
        </p:spPr>
        <p:txBody>
          <a:bodyPr wrap="square" lIns="0" tIns="0" rIns="0" bIns="0" rtlCol="0" anchor="ctr"/>
          <a:lstStyle/>
          <a:p>
            <a:pPr marL="0" indent="0">
              <a:buNone/>
            </a:pPr>
            <a:r>
              <a:rPr lang="en-US" sz="1000" b="1" dirty="0">
                <a:solidFill>
                  <a:srgbClr val="D4A843"/>
                </a:solidFill>
                <a:latin typeface="Georgia" pitchFamily="34" charset="0"/>
                <a:ea typeface="Georgia" pitchFamily="34" charset="-122"/>
                <a:cs typeface="Georgia" pitchFamily="34" charset="-120"/>
              </a:rPr>
              <a:t>DESVIACIÓN DE MODELO</a:t>
            </a:r>
            <a:endParaRPr lang="en-US" sz="1000" dirty="0"/>
          </a:p>
        </p:txBody>
      </p:sp>
      <p:sp>
        <p:nvSpPr>
          <p:cNvPr id="24" name="Text 22"/>
          <p:cNvSpPr/>
          <p:nvPr/>
        </p:nvSpPr>
        <p:spPr>
          <a:xfrm>
            <a:off x="9189720" y="2103120"/>
            <a:ext cx="2560320" cy="457200"/>
          </a:xfrm>
          <a:prstGeom prst="rect">
            <a:avLst/>
          </a:prstGeom>
          <a:noFill/>
          <a:ln/>
        </p:spPr>
        <p:txBody>
          <a:bodyPr wrap="square" lIns="0" tIns="0" rIns="0" bIns="0" rtlCol="0" anchor="ctr"/>
          <a:lstStyle/>
          <a:p>
            <a:pPr marL="0" indent="0">
              <a:buNone/>
            </a:pPr>
            <a:r>
              <a:rPr lang="en-US" sz="2200" b="1" dirty="0">
                <a:solidFill>
                  <a:srgbClr val="2D2D2D"/>
                </a:solidFill>
                <a:latin typeface="Georgia" pitchFamily="34" charset="0"/>
                <a:ea typeface="Georgia" pitchFamily="34" charset="-122"/>
                <a:cs typeface="Georgia" pitchFamily="34" charset="-120"/>
              </a:rPr>
              <a:t>104 empresas</a:t>
            </a:r>
            <a:endParaRPr lang="en-US" sz="2200" dirty="0"/>
          </a:p>
        </p:txBody>
      </p:sp>
      <p:sp>
        <p:nvSpPr>
          <p:cNvPr id="25" name="Text 23"/>
          <p:cNvSpPr/>
          <p:nvPr/>
        </p:nvSpPr>
        <p:spPr>
          <a:xfrm>
            <a:off x="9189720" y="2578608"/>
            <a:ext cx="2560320" cy="274320"/>
          </a:xfrm>
          <a:prstGeom prst="rect">
            <a:avLst/>
          </a:prstGeom>
          <a:noFill/>
          <a:ln/>
        </p:spPr>
        <p:txBody>
          <a:bodyPr wrap="square" lIns="0" tIns="0" rIns="0" bIns="0" rtlCol="0" anchor="ctr"/>
          <a:lstStyle/>
          <a:p>
            <a:pPr marL="0" indent="0">
              <a:buNone/>
            </a:pPr>
            <a:r>
              <a:rPr lang="en-US" sz="850" i="1" dirty="0">
                <a:solidFill>
                  <a:srgbClr val="666666"/>
                </a:solidFill>
                <a:latin typeface="Calibri" pitchFamily="34" charset="0"/>
                <a:ea typeface="Calibri" pitchFamily="34" charset="-122"/>
                <a:cs typeface="Calibri" pitchFamily="34" charset="-120"/>
              </a:rPr>
              <a:t>Target alto + venta cayendo · S/.44.9M rev expuesto</a:t>
            </a:r>
            <a:endParaRPr lang="en-US" sz="850" dirty="0"/>
          </a:p>
        </p:txBody>
      </p:sp>
      <p:graphicFrame>
        <p:nvGraphicFramePr>
          <p:cNvPr id="27" name="Table 0"/>
          <p:cNvGraphicFramePr>
            <a:graphicFrameLocks noGrp="1"/>
          </p:cNvGraphicFramePr>
          <p:nvPr>
            <p:extLst>
              <p:ext uri="{D42A27DB-BD31-4B8C-83A1-F6EECF244321}">
                <p14:modId xmlns:p14="http://schemas.microsoft.com/office/powerpoint/2010/main" val="2224399642"/>
              </p:ext>
            </p:extLst>
          </p:nvPr>
        </p:nvGraphicFramePr>
        <p:xfrm>
          <a:off x="7164280" y="2971800"/>
          <a:ext cx="4768640" cy="1828800"/>
        </p:xfrm>
        <a:graphic>
          <a:graphicData uri="http://schemas.openxmlformats.org/drawingml/2006/table">
            <a:tbl>
              <a:tblPr/>
              <a:tblGrid>
                <a:gridCol w="1509203">
                  <a:extLst>
                    <a:ext uri="{9D8B030D-6E8A-4147-A177-3AD203B41FA5}">
                      <a16:colId xmlns:a16="http://schemas.microsoft.com/office/drawing/2014/main" val="20000"/>
                    </a:ext>
                  </a:extLst>
                </a:gridCol>
                <a:gridCol w="878890">
                  <a:extLst>
                    <a:ext uri="{9D8B030D-6E8A-4147-A177-3AD203B41FA5}">
                      <a16:colId xmlns:a16="http://schemas.microsoft.com/office/drawing/2014/main" val="20001"/>
                    </a:ext>
                  </a:extLst>
                </a:gridCol>
                <a:gridCol w="1004032">
                  <a:extLst>
                    <a:ext uri="{9D8B030D-6E8A-4147-A177-3AD203B41FA5}">
                      <a16:colId xmlns:a16="http://schemas.microsoft.com/office/drawing/2014/main" val="20002"/>
                    </a:ext>
                  </a:extLst>
                </a:gridCol>
                <a:gridCol w="737419">
                  <a:extLst>
                    <a:ext uri="{9D8B030D-6E8A-4147-A177-3AD203B41FA5}">
                      <a16:colId xmlns:a16="http://schemas.microsoft.com/office/drawing/2014/main" val="20003"/>
                    </a:ext>
                  </a:extLst>
                </a:gridCol>
                <a:gridCol w="639096">
                  <a:extLst>
                    <a:ext uri="{9D8B030D-6E8A-4147-A177-3AD203B41FA5}">
                      <a16:colId xmlns:a16="http://schemas.microsoft.com/office/drawing/2014/main" val="20004"/>
                    </a:ext>
                  </a:extLst>
                </a:gridCol>
              </a:tblGrid>
              <a:tr h="29260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Cluster</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lgn="ctr">
                        <a:buNone/>
                      </a:pPr>
                      <a:r>
                        <a:rPr lang="en-US" sz="900" b="1" dirty="0" err="1">
                          <a:solidFill>
                            <a:srgbClr val="FFFFFF"/>
                          </a:solidFill>
                          <a:latin typeface="Calibri" pitchFamily="34" charset="0"/>
                          <a:ea typeface="Calibri" pitchFamily="34" charset="-122"/>
                          <a:cs typeface="Calibri" pitchFamily="34" charset="-120"/>
                        </a:rPr>
                        <a:t>VaR</a:t>
                      </a:r>
                      <a:r>
                        <a:rPr lang="en-US" sz="900" b="1" dirty="0">
                          <a:solidFill>
                            <a:srgbClr val="FFFFFF"/>
                          </a:solidFill>
                          <a:latin typeface="Calibri" pitchFamily="34" charset="0"/>
                          <a:ea typeface="Calibri" pitchFamily="34" charset="-122"/>
                          <a:cs typeface="Calibri" pitchFamily="34" charset="-120"/>
                        </a:rPr>
                        <a:t> M </a:t>
                      </a:r>
                      <a:r>
                        <a:rPr lang="en-US" sz="800" b="1" dirty="0">
                          <a:solidFill>
                            <a:srgbClr val="FFFFFF"/>
                          </a:solidFill>
                          <a:latin typeface="Calibri" pitchFamily="34" charset="0"/>
                          <a:cs typeface="Calibri" pitchFamily="34" charset="-120"/>
                        </a:rPr>
                        <a:t>(S/. M)</a:t>
                      </a:r>
                      <a:endParaRPr lang="en-US" sz="9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Upsell M </a:t>
                      </a:r>
                      <a:r>
                        <a:rPr lang="en-US" sz="800" b="1" dirty="0">
                          <a:solidFill>
                            <a:srgbClr val="FFFFFF"/>
                          </a:solidFill>
                          <a:latin typeface="Calibri" pitchFamily="34" charset="0"/>
                          <a:cs typeface="Calibri" pitchFamily="34" charset="-120"/>
                        </a:rPr>
                        <a:t>(S/. M)</a:t>
                      </a:r>
                      <a:endParaRPr lang="en-US" sz="9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NRAO M</a:t>
                      </a:r>
                      <a:r>
                        <a:rPr lang="en-US" sz="800" b="1" dirty="0">
                          <a:solidFill>
                            <a:srgbClr val="FFFFFF"/>
                          </a:solidFill>
                          <a:latin typeface="Calibri" pitchFamily="34" charset="0"/>
                          <a:cs typeface="Calibri" pitchFamily="34" charset="-120"/>
                        </a:rPr>
                        <a:t>(S/. M)</a:t>
                      </a:r>
                      <a:endParaRPr lang="en-US" sz="9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Desv</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extLst>
                  <a:ext uri="{0D108BD9-81ED-4DB2-BD59-A6C34878D82A}">
                    <a16:rowId xmlns:a16="http://schemas.microsoft.com/office/drawing/2014/main" val="10000"/>
                  </a:ext>
                </a:extLst>
              </a:tr>
              <a:tr h="292608">
                <a:tc>
                  <a:txBody>
                    <a:bodyPr/>
                    <a:lstStyle/>
                    <a:p>
                      <a:pPr marL="0" indent="0">
                        <a:buNone/>
                      </a:pPr>
                      <a:r>
                        <a:rPr lang="en-US" sz="950" b="1" dirty="0">
                          <a:solidFill>
                            <a:srgbClr val="333333"/>
                          </a:solidFill>
                          <a:latin typeface="Calibri" pitchFamily="34" charset="0"/>
                          <a:ea typeface="Calibri" pitchFamily="34" charset="-122"/>
                          <a:cs typeface="Calibri" pitchFamily="34" charset="-120"/>
                        </a:rPr>
                        <a:t>PROTECT &amp; GROW</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C0392B"/>
                          </a:solidFill>
                          <a:latin typeface="Calibri" pitchFamily="34" charset="0"/>
                          <a:ea typeface="Calibri" pitchFamily="34" charset="-122"/>
                          <a:cs typeface="Calibri" pitchFamily="34" charset="-120"/>
                        </a:rPr>
                        <a:t>1.43</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1A5490"/>
                          </a:solidFill>
                          <a:latin typeface="Calibri" pitchFamily="34" charset="0"/>
                          <a:ea typeface="Calibri" pitchFamily="34" charset="-122"/>
                          <a:cs typeface="Calibri" pitchFamily="34" charset="-120"/>
                        </a:rPr>
                        <a:t>27.99</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50" b="1" dirty="0">
                          <a:solidFill>
                            <a:srgbClr val="27AE60"/>
                          </a:solidFill>
                          <a:latin typeface="Calibri" pitchFamily="34" charset="0"/>
                          <a:ea typeface="Calibri" pitchFamily="34" charset="-122"/>
                          <a:cs typeface="Calibri" pitchFamily="34" charset="-120"/>
                        </a:rPr>
                        <a:t>+</a:t>
                      </a:r>
                      <a:r>
                        <a:rPr lang="es-PE" sz="900" b="1" dirty="0">
                          <a:solidFill>
                            <a:srgbClr val="27AE60"/>
                          </a:solidFill>
                          <a:latin typeface="Calibri" pitchFamily="34" charset="0"/>
                          <a:cs typeface="Calibri" pitchFamily="34" charset="-120"/>
                        </a:rPr>
                        <a:t>26.56</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950" b="1" dirty="0">
                          <a:solidFill>
                            <a:srgbClr val="333333"/>
                          </a:solidFill>
                          <a:latin typeface="Calibri" pitchFamily="34" charset="0"/>
                          <a:ea typeface="Calibri" pitchFamily="34" charset="-122"/>
                          <a:cs typeface="Calibri" pitchFamily="34" charset="-120"/>
                        </a:rPr>
                        <a:t>ACCELERATE</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C0392B"/>
                          </a:solidFill>
                          <a:latin typeface="Calibri" pitchFamily="34" charset="0"/>
                          <a:ea typeface="Calibri" pitchFamily="34" charset="-122"/>
                          <a:cs typeface="Calibri" pitchFamily="34" charset="-120"/>
                        </a:rPr>
                        <a:t>1.02</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1A5490"/>
                          </a:solidFill>
                          <a:latin typeface="Calibri" pitchFamily="34" charset="0"/>
                          <a:ea typeface="Calibri" pitchFamily="34" charset="-122"/>
                          <a:cs typeface="Calibri" pitchFamily="34" charset="-120"/>
                        </a:rPr>
                        <a:t>34.50</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b="1" dirty="0">
                          <a:solidFill>
                            <a:srgbClr val="27AE60"/>
                          </a:solidFill>
                          <a:latin typeface="Calibri" pitchFamily="34" charset="0"/>
                          <a:ea typeface="Calibri" pitchFamily="34" charset="-122"/>
                          <a:cs typeface="Calibri" pitchFamily="34" charset="-120"/>
                        </a:rPr>
                        <a:t>+33.48</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950" dirty="0">
                          <a:solidFill>
                            <a:srgbClr val="333333"/>
                          </a:solidFill>
                          <a:latin typeface="Calibri" pitchFamily="34" charset="0"/>
                          <a:ea typeface="Calibri" pitchFamily="34" charset="-122"/>
                          <a:cs typeface="Calibri" pitchFamily="34" charset="-120"/>
                        </a:rPr>
                        <a:t>47</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950" b="1" dirty="0">
                          <a:solidFill>
                            <a:srgbClr val="333333"/>
                          </a:solidFill>
                          <a:latin typeface="Calibri" pitchFamily="34" charset="0"/>
                          <a:ea typeface="Calibri" pitchFamily="34" charset="-122"/>
                          <a:cs typeface="Calibri" pitchFamily="34" charset="-120"/>
                        </a:rPr>
                        <a:t>EXPAND</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C0392B"/>
                          </a:solidFill>
                          <a:latin typeface="Calibri" pitchFamily="34" charset="0"/>
                          <a:ea typeface="Calibri" pitchFamily="34" charset="-122"/>
                          <a:cs typeface="Calibri" pitchFamily="34" charset="-120"/>
                        </a:rPr>
                        <a:t>1.42</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1A5490"/>
                          </a:solidFill>
                          <a:latin typeface="Calibri" pitchFamily="34" charset="0"/>
                          <a:ea typeface="Calibri" pitchFamily="34" charset="-122"/>
                          <a:cs typeface="Calibri" pitchFamily="34" charset="-120"/>
                        </a:rPr>
                        <a:t>27.00</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b="1" dirty="0">
                          <a:solidFill>
                            <a:srgbClr val="27AE60"/>
                          </a:solidFill>
                          <a:latin typeface="Calibri" pitchFamily="34" charset="0"/>
                          <a:ea typeface="Calibri" pitchFamily="34" charset="-122"/>
                          <a:cs typeface="Calibri" pitchFamily="34" charset="-120"/>
                        </a:rPr>
                        <a:t>+25.58</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950" dirty="0">
                          <a:solidFill>
                            <a:srgbClr val="333333"/>
                          </a:solidFill>
                          <a:latin typeface="Calibri" pitchFamily="34" charset="0"/>
                          <a:ea typeface="Calibri" pitchFamily="34" charset="-122"/>
                          <a:cs typeface="Calibri" pitchFamily="34" charset="-120"/>
                        </a:rPr>
                        <a:t>34</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950" b="1" dirty="0">
                          <a:solidFill>
                            <a:srgbClr val="333333"/>
                          </a:solidFill>
                          <a:latin typeface="Calibri" pitchFamily="34" charset="0"/>
                          <a:ea typeface="Calibri" pitchFamily="34" charset="-122"/>
                          <a:cs typeface="Calibri" pitchFamily="34" charset="-120"/>
                        </a:rPr>
                        <a:t>ACTIVATE</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C0392B"/>
                          </a:solidFill>
                          <a:latin typeface="Calibri" pitchFamily="34" charset="0"/>
                          <a:ea typeface="Calibri" charset="0"/>
                          <a:cs typeface="Calibri" pitchFamily="34" charset="-120"/>
                        </a:rPr>
                        <a:t>0.21</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1A5490"/>
                          </a:solidFill>
                          <a:latin typeface="Calibri" pitchFamily="34" charset="0"/>
                          <a:ea typeface="Calibri" pitchFamily="34" charset="-122"/>
                          <a:cs typeface="Calibri" pitchFamily="34" charset="-120"/>
                        </a:rPr>
                        <a:t>20.01</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b="1" dirty="0">
                          <a:solidFill>
                            <a:srgbClr val="27AE60"/>
                          </a:solidFill>
                          <a:latin typeface="Calibri" pitchFamily="34" charset="0"/>
                          <a:ea typeface="Calibri" pitchFamily="34" charset="-122"/>
                          <a:cs typeface="Calibri" pitchFamily="34" charset="-120"/>
                        </a:rPr>
                        <a:t>+19.80</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950" dirty="0">
                          <a:solidFill>
                            <a:srgbClr val="333333"/>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950" b="1" dirty="0">
                          <a:solidFill>
                            <a:srgbClr val="333333"/>
                          </a:solidFill>
                          <a:latin typeface="Calibri" pitchFamily="34" charset="0"/>
                          <a:ea typeface="Calibri" pitchFamily="34" charset="-122"/>
                          <a:cs typeface="Calibri" pitchFamily="34" charset="-120"/>
                        </a:rPr>
                        <a:t>QUALIFY</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C0392B"/>
                          </a:solidFill>
                          <a:latin typeface="Calibri" pitchFamily="34" charset="0"/>
                          <a:ea typeface="Calibri" pitchFamily="34" charset="-122"/>
                          <a:cs typeface="Calibri" pitchFamily="34" charset="-120"/>
                        </a:rPr>
                        <a:t>0.36</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dirty="0">
                          <a:solidFill>
                            <a:srgbClr val="1A5490"/>
                          </a:solidFill>
                          <a:latin typeface="Calibri" pitchFamily="34" charset="0"/>
                          <a:ea typeface="Calibri" pitchFamily="34" charset="-122"/>
                          <a:cs typeface="Calibri" pitchFamily="34" charset="-120"/>
                        </a:rPr>
                        <a:t>109.64</a:t>
                      </a: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950" b="1" dirty="0">
                          <a:solidFill>
                            <a:srgbClr val="27AE60"/>
                          </a:solidFill>
                          <a:latin typeface="Calibri" pitchFamily="34" charset="0"/>
                          <a:ea typeface="Calibri" pitchFamily="34" charset="-122"/>
                          <a:cs typeface="Calibri" pitchFamily="34" charset="-120"/>
                        </a:rPr>
                        <a:t>+109.29</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950" dirty="0">
                          <a:solidFill>
                            <a:srgbClr val="333333"/>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8" name="Shape 24"/>
          <p:cNvSpPr/>
          <p:nvPr/>
        </p:nvSpPr>
        <p:spPr>
          <a:xfrm>
            <a:off x="7208520" y="4869180"/>
            <a:ext cx="4724400" cy="882396"/>
          </a:xfrm>
          <a:prstGeom prst="rect">
            <a:avLst/>
          </a:prstGeom>
          <a:solidFill>
            <a:srgbClr val="EBF5FB"/>
          </a:solidFill>
          <a:ln w="12700">
            <a:solidFill>
              <a:srgbClr val="1A5490"/>
            </a:solidFill>
            <a:prstDash val="solid"/>
          </a:ln>
        </p:spPr>
        <p:txBody>
          <a:bodyPr/>
          <a:lstStyle/>
          <a:p>
            <a:endParaRPr lang="es-PE"/>
          </a:p>
        </p:txBody>
      </p:sp>
      <p:sp>
        <p:nvSpPr>
          <p:cNvPr id="29" name="Text 25"/>
          <p:cNvSpPr/>
          <p:nvPr/>
        </p:nvSpPr>
        <p:spPr>
          <a:xfrm>
            <a:off x="7292414" y="5014041"/>
            <a:ext cx="4297680" cy="532838"/>
          </a:xfrm>
          <a:prstGeom prst="rect">
            <a:avLst/>
          </a:prstGeom>
          <a:noFill/>
          <a:ln/>
        </p:spPr>
        <p:txBody>
          <a:bodyPr wrap="square" lIns="0" tIns="0" rIns="0" bIns="0" rtlCol="0" anchor="ctr"/>
          <a:lstStyle/>
          <a:p>
            <a:pPr>
              <a:lnSpc>
                <a:spcPct val="115000"/>
              </a:lnSpc>
            </a:pPr>
            <a:r>
              <a:rPr lang="en-US" sz="1050" b="1" dirty="0" err="1">
                <a:solidFill>
                  <a:srgbClr val="1A5490"/>
                </a:solidFill>
                <a:latin typeface="Calibri" pitchFamily="34" charset="0"/>
                <a:ea typeface="Calibri" pitchFamily="34" charset="-122"/>
                <a:cs typeface="Calibri" pitchFamily="34" charset="-120"/>
              </a:rPr>
              <a:t>Comparativa</a:t>
            </a:r>
            <a:r>
              <a:rPr lang="en-US" sz="1050" b="1" dirty="0">
                <a:solidFill>
                  <a:srgbClr val="1A5490"/>
                </a:solidFill>
                <a:latin typeface="Calibri" pitchFamily="34" charset="0"/>
                <a:ea typeface="Calibri" pitchFamily="34" charset="-122"/>
                <a:cs typeface="Calibri" pitchFamily="34" charset="-120"/>
              </a:rPr>
              <a:t> con Monte Carlo:
</a:t>
            </a:r>
            <a:r>
              <a:rPr lang="es-ES" sz="880" dirty="0" err="1">
                <a:solidFill>
                  <a:srgbClr val="333333"/>
                </a:solidFill>
                <a:latin typeface="Calibri" pitchFamily="34" charset="0"/>
                <a:ea typeface="Calibri" pitchFamily="34" charset="-122"/>
                <a:cs typeface="Calibri" pitchFamily="34" charset="-120"/>
              </a:rPr>
              <a:t>CVaR</a:t>
            </a:r>
            <a:r>
              <a:rPr lang="es-ES" sz="880" dirty="0">
                <a:solidFill>
                  <a:srgbClr val="333333"/>
                </a:solidFill>
                <a:latin typeface="Calibri" pitchFamily="34" charset="0"/>
                <a:ea typeface="Calibri" pitchFamily="34" charset="-122"/>
                <a:cs typeface="Calibri" pitchFamily="34" charset="-120"/>
              </a:rPr>
              <a:t> (VaR(95%)) / EL. En tus resultados actuales: 15.67 / 10.73 = 1.46. </a:t>
            </a:r>
            <a:r>
              <a:rPr lang="es-ES" sz="1050" dirty="0"/>
              <a:t>Un ratio cercano a 1.5 es saludable. Indica que, incluso en el peor de los escenarios, la pérdida no se triplica ni se sale de control.</a:t>
            </a:r>
            <a:endParaRPr lang="en-US" sz="1050" dirty="0"/>
          </a:p>
        </p:txBody>
      </p:sp>
      <p:sp>
        <p:nvSpPr>
          <p:cNvPr id="30" name="Text 26"/>
          <p:cNvSpPr/>
          <p:nvPr/>
        </p:nvSpPr>
        <p:spPr>
          <a:xfrm>
            <a:off x="365760" y="6144768"/>
            <a:ext cx="7132320" cy="292608"/>
          </a:xfrm>
          <a:prstGeom prst="rect">
            <a:avLst/>
          </a:prstGeom>
          <a:noFill/>
          <a:ln/>
        </p:spPr>
        <p:txBody>
          <a:bodyPr wrap="square" lIns="0" tIns="0" rIns="0" bIns="0" rtlCol="0" anchor="ctr"/>
          <a:lstStyle/>
          <a:p>
            <a:pPr marL="0" indent="0">
              <a:buNone/>
            </a:pPr>
            <a:r>
              <a:rPr lang="en-US" sz="850" b="1" dirty="0">
                <a:solidFill>
                  <a:srgbClr val="333333"/>
                </a:solidFill>
                <a:latin typeface="Calibri" pitchFamily="34" charset="0"/>
                <a:ea typeface="Calibri" pitchFamily="34" charset="-122"/>
                <a:cs typeface="Calibri" pitchFamily="34" charset="-120"/>
              </a:rPr>
              <a:t>VaR_i = </a:t>
            </a:r>
            <a:r>
              <a:rPr lang="en-US" sz="850" b="1" dirty="0">
                <a:solidFill>
                  <a:srgbClr val="D04A02"/>
                </a:solidFill>
                <a:latin typeface="Calibri" pitchFamily="34" charset="0"/>
                <a:ea typeface="Calibri" pitchFamily="34" charset="-122"/>
                <a:cs typeface="Calibri" pitchFamily="34" charset="-120"/>
              </a:rPr>
              <a:t>Rev_i × (Score_i/100)</a:t>
            </a:r>
            <a:r>
              <a:rPr lang="en-US" sz="850" dirty="0">
                <a:solidFill>
                  <a:srgbClr val="666666"/>
                </a:solidFill>
                <a:latin typeface="Calibri" pitchFamily="34" charset="0"/>
                <a:ea typeface="Calibri" pitchFamily="34" charset="-122"/>
                <a:cs typeface="Calibri" pitchFamily="34" charset="-120"/>
              </a:rPr>
              <a:t>   ·   </a:t>
            </a:r>
            <a:r>
              <a:rPr lang="en-US" sz="850" b="1" dirty="0">
                <a:solidFill>
                  <a:srgbClr val="333333"/>
                </a:solidFill>
                <a:latin typeface="Calibri" pitchFamily="34" charset="0"/>
                <a:ea typeface="Calibri" pitchFamily="34" charset="-122"/>
                <a:cs typeface="Calibri" pitchFamily="34" charset="-120"/>
              </a:rPr>
              <a:t>CVaR = </a:t>
            </a:r>
            <a:r>
              <a:rPr lang="en-US" sz="850" b="1" dirty="0">
                <a:solidFill>
                  <a:srgbClr val="C0392B"/>
                </a:solidFill>
                <a:latin typeface="Calibri" pitchFamily="34" charset="0"/>
                <a:ea typeface="Calibri" pitchFamily="34" charset="-122"/>
                <a:cs typeface="Calibri" pitchFamily="34" charset="-120"/>
              </a:rPr>
              <a:t>mean(VaR top 5% score)</a:t>
            </a:r>
            <a:r>
              <a:rPr lang="en-US" sz="850" dirty="0">
                <a:solidFill>
                  <a:srgbClr val="666666"/>
                </a:solidFill>
                <a:latin typeface="Calibri" pitchFamily="34" charset="0"/>
                <a:ea typeface="Calibri" pitchFamily="34" charset="-122"/>
                <a:cs typeface="Calibri" pitchFamily="34" charset="-120"/>
              </a:rPr>
              <a:t>   ·   </a:t>
            </a:r>
            <a:r>
              <a:rPr lang="en-US" sz="850" b="1" dirty="0">
                <a:solidFill>
                  <a:srgbClr val="333333"/>
                </a:solidFill>
                <a:latin typeface="Calibri" pitchFamily="34" charset="0"/>
                <a:ea typeface="Calibri" pitchFamily="34" charset="-122"/>
                <a:cs typeface="Calibri" pitchFamily="34" charset="-120"/>
              </a:rPr>
              <a:t>NRAO = </a:t>
            </a:r>
            <a:r>
              <a:rPr lang="en-US" sz="850" b="1" dirty="0">
                <a:solidFill>
                  <a:srgbClr val="27AE60"/>
                </a:solidFill>
                <a:latin typeface="Calibri" pitchFamily="34" charset="0"/>
                <a:ea typeface="Calibri" pitchFamily="34" charset="-122"/>
                <a:cs typeface="Calibri" pitchFamily="34" charset="-120"/>
              </a:rPr>
              <a:t>Upsell M − VaR</a:t>
            </a:r>
            <a:r>
              <a:rPr lang="en-US" sz="850" dirty="0">
                <a:solidFill>
                  <a:srgbClr val="666666"/>
                </a:solidFill>
                <a:latin typeface="Calibri" pitchFamily="34" charset="0"/>
                <a:ea typeface="Calibri" pitchFamily="34" charset="-122"/>
                <a:cs typeface="Calibri" pitchFamily="34" charset="-120"/>
              </a:rPr>
              <a:t>   ·   </a:t>
            </a:r>
            <a:r>
              <a:rPr lang="en-US" sz="850" b="1" dirty="0">
                <a:solidFill>
                  <a:srgbClr val="333333"/>
                </a:solidFill>
                <a:latin typeface="Calibri" pitchFamily="34" charset="0"/>
                <a:ea typeface="Calibri" pitchFamily="34" charset="-122"/>
                <a:cs typeface="Calibri" pitchFamily="34" charset="-120"/>
              </a:rPr>
              <a:t>Desviación = </a:t>
            </a:r>
            <a:r>
              <a:rPr lang="en-US" sz="850" b="1" dirty="0">
                <a:solidFill>
                  <a:srgbClr val="D4A843"/>
                </a:solidFill>
                <a:latin typeface="Calibri" pitchFamily="34" charset="0"/>
                <a:ea typeface="Calibri" pitchFamily="34" charset="-122"/>
                <a:cs typeface="Calibri" pitchFamily="34" charset="-120"/>
              </a:rPr>
              <a:t>Target≥P75 AND FY25&lt;FY24</a:t>
            </a:r>
            <a:endParaRPr lang="en-US" sz="850" dirty="0"/>
          </a:p>
        </p:txBody>
      </p:sp>
      <p:sp>
        <p:nvSpPr>
          <p:cNvPr id="31" name="Text 27"/>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32" name="Text 28"/>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24c/32</a:t>
            </a:r>
            <a:endParaRPr lang="en-US" sz="800" dirty="0"/>
          </a:p>
        </p:txBody>
      </p:sp>
      <p:pic>
        <p:nvPicPr>
          <p:cNvPr id="13316" name="Picture 4">
            <a:extLst>
              <a:ext uri="{FF2B5EF4-FFF2-40B4-BE49-F238E27FC236}">
                <a16:creationId xmlns:a16="http://schemas.microsoft.com/office/drawing/2014/main" id="{30DF0F7E-EB9D-17FD-745F-3AD14A3C7C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3020123"/>
            <a:ext cx="6436817" cy="29208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Top Grupos Económicos — Concentración por Holding</a:t>
            </a:r>
            <a:endParaRPr lang="en-US" sz="2600" dirty="0"/>
          </a:p>
        </p:txBody>
      </p:sp>
      <p:pic>
        <p:nvPicPr>
          <p:cNvPr id="5" name="Image 0" descr="/sessions/dazzling-intelligent-dirac/pipeline/plots/plot_grupo_economico.png"/>
          <p:cNvPicPr>
            <a:picLocks noChangeAspect="1"/>
          </p:cNvPicPr>
          <p:nvPr/>
        </p:nvPicPr>
        <p:blipFill>
          <a:blip r:embed="rId3"/>
          <a:stretch>
            <a:fillRect/>
          </a:stretch>
        </p:blipFill>
        <p:spPr>
          <a:xfrm>
            <a:off x="548640" y="1508760"/>
            <a:ext cx="6858000" cy="4572000"/>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589520" y="1600200"/>
          <a:ext cx="4297680" cy="3413760"/>
        </p:xfrm>
        <a:graphic>
          <a:graphicData uri="http://schemas.openxmlformats.org/drawingml/2006/table">
            <a:tbl>
              <a:tblPr/>
              <a:tblGrid>
                <a:gridCol w="365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0175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Grupo</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Revenue</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Upsell</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2D2D"/>
                    </a:solidFill>
                  </a:tcPr>
                </a:tc>
                <a:extLst>
                  <a:ext uri="{0D108BD9-81ED-4DB2-BD59-A6C34878D82A}">
                    <a16:rowId xmlns:a16="http://schemas.microsoft.com/office/drawing/2014/main" val="10000"/>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Breca</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7.1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10.0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Integra Capital</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5.7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3.6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Glencore</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4.1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4.9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China Three Gorges Corporation</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3.6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3.2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Buenaventura</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3.5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5.0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Votorantim  </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3.4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5.5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Credicorp</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3.1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4.3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Gloria</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3.0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4.1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8"/>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Scotiabank</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2.9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4.3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9"/>
                  </a:ext>
                </a:extLst>
              </a:tr>
              <a:tr h="301752">
                <a:tc>
                  <a:txBody>
                    <a:bodyPr/>
                    <a:lstStyle/>
                    <a:p>
                      <a:pPr marL="0" indent="0" algn="ctr">
                        <a:buNone/>
                      </a:pPr>
                      <a:r>
                        <a:rPr lang="en-US" sz="1000" dirty="0">
                          <a:solidFill>
                            <a:srgbClr val="333333"/>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Gold Fields</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333333"/>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333333"/>
                          </a:solidFill>
                          <a:latin typeface="Calibri" pitchFamily="34" charset="0"/>
                          <a:ea typeface="Calibri" pitchFamily="34" charset="-122"/>
                          <a:cs typeface="Calibri" pitchFamily="34" charset="-120"/>
                        </a:rPr>
                        <a:t>S/. 2.9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dirty="0">
                          <a:solidFill>
                            <a:srgbClr val="27AE60"/>
                          </a:solidFill>
                          <a:latin typeface="Calibri" pitchFamily="34" charset="0"/>
                          <a:ea typeface="Calibri" pitchFamily="34" charset="-122"/>
                          <a:cs typeface="Calibri" pitchFamily="34" charset="-120"/>
                        </a:rPr>
                        <a:t>S/. 2.5 M</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7" name="Text 3"/>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8" name="Text 4"/>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20/32</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Sub-LoS — Evolución Revenue FY23 → FY26</a:t>
            </a:r>
            <a:endParaRPr lang="en-US" sz="2600" dirty="0"/>
          </a:p>
        </p:txBody>
      </p:sp>
      <p:sp>
        <p:nvSpPr>
          <p:cNvPr id="7" name="Text 4"/>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21/32</a:t>
            </a:r>
            <a:endParaRPr lang="en-US" sz="800" dirty="0"/>
          </a:p>
        </p:txBody>
      </p:sp>
      <p:pic>
        <p:nvPicPr>
          <p:cNvPr id="11266" name="Picture 2">
            <a:extLst>
              <a:ext uri="{FF2B5EF4-FFF2-40B4-BE49-F238E27FC236}">
                <a16:creationId xmlns:a16="http://schemas.microsoft.com/office/drawing/2014/main" id="{EA72E754-8752-02FA-9D41-E48F599584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101" y="1463040"/>
            <a:ext cx="8726750" cy="46872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Cost Center — Evolución de revenue FY21-FY26</a:t>
            </a:r>
            <a:endParaRPr lang="en-US" sz="2600" dirty="0"/>
          </a:p>
        </p:txBody>
      </p:sp>
      <p:sp>
        <p:nvSpPr>
          <p:cNvPr id="5" name="Text 3"/>
          <p:cNvSpPr/>
          <p:nvPr/>
        </p:nvSpPr>
        <p:spPr>
          <a:xfrm>
            <a:off x="457200" y="1234440"/>
            <a:ext cx="11247120" cy="502920"/>
          </a:xfrm>
          <a:prstGeom prst="rect">
            <a:avLst/>
          </a:prstGeom>
          <a:noFill/>
          <a:ln/>
        </p:spPr>
        <p:txBody>
          <a:bodyPr wrap="square" lIns="0" tIns="0" rIns="0" bIns="0" rtlCol="0" anchor="ctr"/>
          <a:lstStyle/>
          <a:p>
            <a:pPr marL="0" indent="0">
              <a:buNone/>
            </a:pPr>
            <a:r>
              <a:rPr lang="en-US" sz="1050" i="1" dirty="0">
                <a:solidFill>
                  <a:srgbClr val="666666"/>
                </a:solidFill>
                <a:latin typeface="Calibri" pitchFamily="34" charset="0"/>
                <a:ea typeface="Calibri" pitchFamily="34" charset="-122"/>
                <a:cs typeface="Calibri" pitchFamily="34" charset="-120"/>
              </a:rPr>
              <a:t>Línea de tendencia de </a:t>
            </a:r>
            <a:r>
              <a:rPr lang="en-US" sz="1050" i="1" dirty="0" err="1">
                <a:solidFill>
                  <a:srgbClr val="666666"/>
                </a:solidFill>
                <a:latin typeface="Calibri" pitchFamily="34" charset="0"/>
                <a:ea typeface="Calibri" pitchFamily="34" charset="-122"/>
                <a:cs typeface="Calibri" pitchFamily="34" charset="-120"/>
              </a:rPr>
              <a:t>los</a:t>
            </a:r>
            <a:r>
              <a:rPr lang="en-US" sz="1050" i="1" dirty="0">
                <a:solidFill>
                  <a:srgbClr val="666666"/>
                </a:solidFill>
                <a:latin typeface="Calibri" pitchFamily="34" charset="0"/>
                <a:ea typeface="Calibri" pitchFamily="34" charset="-122"/>
                <a:cs typeface="Calibri" pitchFamily="34" charset="-120"/>
              </a:rPr>
              <a:t> 10 Cost Centers que concentran el revenue · permite ver crecimiento sostenido (Tax Litigation, Tax Audit), plateaus (Assurance) o tracción reciente. FY26 sombreado por ser parcial. Complementa el corte Sub-LoS: CC = quién ejecuta el engagement.</a:t>
            </a:r>
            <a:endParaRPr lang="en-US" sz="1050" dirty="0"/>
          </a:p>
        </p:txBody>
      </p:sp>
      <p:sp>
        <p:nvSpPr>
          <p:cNvPr id="30" name="Text 27"/>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31" name="Text 28"/>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22/32</a:t>
            </a:r>
            <a:endParaRPr lang="en-US" sz="800" dirty="0"/>
          </a:p>
        </p:txBody>
      </p:sp>
      <p:pic>
        <p:nvPicPr>
          <p:cNvPr id="12290" name="Picture 2">
            <a:extLst>
              <a:ext uri="{FF2B5EF4-FFF2-40B4-BE49-F238E27FC236}">
                <a16:creationId xmlns:a16="http://schemas.microsoft.com/office/drawing/2014/main" id="{9B70CEA8-1143-D0B1-B7A4-9D4649D87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146" y="1896562"/>
            <a:ext cx="8176333" cy="44011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04A02"/>
          </a:solidFill>
          <a:ln/>
        </p:spPr>
        <p:txBody>
          <a:bodyPr/>
          <a:lstStyle/>
          <a:p>
            <a:endParaRPr lang="es-PE"/>
          </a:p>
        </p:txBody>
      </p:sp>
      <p:sp>
        <p:nvSpPr>
          <p:cNvPr id="3" name="Text 1"/>
          <p:cNvSpPr/>
          <p:nvPr/>
        </p:nvSpPr>
        <p:spPr>
          <a:xfrm>
            <a:off x="457200" y="228600"/>
            <a:ext cx="1371600" cy="365760"/>
          </a:xfrm>
          <a:prstGeom prst="rect">
            <a:avLst/>
          </a:prstGeom>
          <a:noFill/>
          <a:ln/>
        </p:spPr>
        <p:txBody>
          <a:bodyPr wrap="square" lIns="0" tIns="0" rIns="0" bIns="0" rtlCol="0" anchor="ctr"/>
          <a:lstStyle/>
          <a:p>
            <a:pPr marL="0" indent="0">
              <a:buNone/>
            </a:pPr>
            <a:r>
              <a:rPr lang="en-US" sz="1400" b="1" dirty="0">
                <a:solidFill>
                  <a:srgbClr val="D04A02"/>
                </a:solidFill>
                <a:latin typeface="Georgia" pitchFamily="34" charset="0"/>
                <a:ea typeface="Georgia" pitchFamily="34" charset="-122"/>
                <a:cs typeface="Georgia" pitchFamily="34" charset="-120"/>
              </a:rPr>
              <a:t>pwc</a:t>
            </a:r>
            <a:endParaRPr lang="en-US" sz="1400" dirty="0"/>
          </a:p>
        </p:txBody>
      </p:sp>
      <p:sp>
        <p:nvSpPr>
          <p:cNvPr id="4" name="Text 2"/>
          <p:cNvSpPr/>
          <p:nvPr/>
        </p:nvSpPr>
        <p:spPr>
          <a:xfrm>
            <a:off x="457200" y="731520"/>
            <a:ext cx="10972800" cy="594360"/>
          </a:xfrm>
          <a:prstGeom prst="rect">
            <a:avLst/>
          </a:prstGeom>
          <a:noFill/>
          <a:ln/>
        </p:spPr>
        <p:txBody>
          <a:bodyPr wrap="square" lIns="0" tIns="0" rIns="0" bIns="0" rtlCol="0" anchor="ctr"/>
          <a:lstStyle/>
          <a:p>
            <a:pPr marL="0" indent="0">
              <a:buNone/>
            </a:pPr>
            <a:r>
              <a:rPr lang="en-US" sz="2600" b="1" dirty="0">
                <a:solidFill>
                  <a:srgbClr val="2D2D2D"/>
                </a:solidFill>
                <a:latin typeface="Georgia" pitchFamily="34" charset="0"/>
                <a:ea typeface="Georgia" pitchFamily="34" charset="-122"/>
                <a:cs typeface="Georgia" pitchFamily="34" charset="-120"/>
              </a:rPr>
              <a:t>Dinámica Sectorial — CAGR FY23 → FY26</a:t>
            </a:r>
            <a:endParaRPr lang="en-US" sz="2600" dirty="0"/>
          </a:p>
        </p:txBody>
      </p:sp>
      <p:pic>
        <p:nvPicPr>
          <p:cNvPr id="5" name="Image 0" descr="/sessions/dazzling-intelligent-dirac/pipeline/plots/plot_sector_winners_losers.png"/>
          <p:cNvPicPr>
            <a:picLocks noChangeAspect="1"/>
          </p:cNvPicPr>
          <p:nvPr/>
        </p:nvPicPr>
        <p:blipFill>
          <a:blip r:embed="rId3"/>
          <a:stretch>
            <a:fillRect/>
          </a:stretch>
        </p:blipFill>
        <p:spPr>
          <a:xfrm>
            <a:off x="457200" y="1508760"/>
            <a:ext cx="7589520" cy="4572000"/>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0" y="1554480"/>
          <a:ext cx="3566160" cy="1920240"/>
        </p:xfrm>
        <a:graphic>
          <a:graphicData uri="http://schemas.openxmlformats.org/drawingml/2006/table">
            <a:tbl>
              <a:tblPr/>
              <a:tblGrid>
                <a:gridCol w="25603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tblGrid>
              <a:tr h="32004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Top Winners</a:t>
                      </a:r>
                      <a:endParaRPr lang="en-US" sz="10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7AE60"/>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CAGR</a:t>
                      </a:r>
                      <a:endParaRPr lang="en-US" sz="10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ENERGIA Y AGUA</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27AE60"/>
                          </a:solidFill>
                          <a:latin typeface="Calibri" pitchFamily="34" charset="0"/>
                          <a:ea typeface="Calibri" pitchFamily="34" charset="-122"/>
                          <a:cs typeface="Calibri" pitchFamily="34" charset="-120"/>
                        </a:rPr>
                        <a:t>15.7%</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AUTOMOTRIZ</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27AE60"/>
                          </a:solidFill>
                          <a:latin typeface="Calibri" pitchFamily="34" charset="0"/>
                          <a:ea typeface="Calibri" pitchFamily="34" charset="-122"/>
                          <a:cs typeface="Calibri" pitchFamily="34" charset="-120"/>
                        </a:rPr>
                        <a:t>14.4%</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PESCA</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27AE60"/>
                          </a:solidFill>
                          <a:latin typeface="Calibri" pitchFamily="34" charset="0"/>
                          <a:ea typeface="Calibri" pitchFamily="34" charset="-122"/>
                          <a:cs typeface="Calibri" pitchFamily="34" charset="-120"/>
                        </a:rPr>
                        <a:t>14.3%</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EDUCACION</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27AE60"/>
                          </a:solidFill>
                          <a:latin typeface="Calibri" pitchFamily="34" charset="0"/>
                          <a:ea typeface="Calibri" pitchFamily="34" charset="-122"/>
                          <a:cs typeface="Calibri" pitchFamily="34" charset="-120"/>
                        </a:rPr>
                        <a:t>13.7%</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MINERIA</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27AE60"/>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8229600" y="4023360"/>
          <a:ext cx="3566160" cy="1920240"/>
        </p:xfrm>
        <a:graphic>
          <a:graphicData uri="http://schemas.openxmlformats.org/drawingml/2006/table">
            <a:tbl>
              <a:tblPr/>
              <a:tblGrid>
                <a:gridCol w="25603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tblGrid>
              <a:tr h="32004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Top Losers</a:t>
                      </a:r>
                      <a:endParaRPr lang="en-US" sz="10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C0392B"/>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CAGR</a:t>
                      </a:r>
                      <a:endParaRPr lang="en-US" sz="105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INTERMEDIACION FINANCIERA</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C0392B"/>
                          </a:solidFill>
                          <a:latin typeface="Calibri" pitchFamily="34" charset="0"/>
                          <a:ea typeface="Calibri" pitchFamily="34" charset="-122"/>
                          <a:cs typeface="Calibri" pitchFamily="34" charset="-120"/>
                        </a:rPr>
                        <a:t>-27.5%</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INDUSTRIA ALIMENTARIA</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C0392B"/>
                          </a:solidFill>
                          <a:latin typeface="Calibri" pitchFamily="34" charset="0"/>
                          <a:ea typeface="Calibri" pitchFamily="34" charset="-122"/>
                          <a:cs typeface="Calibri" pitchFamily="34" charset="-120"/>
                        </a:rPr>
                        <a:t>-13.2%</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CONSULTORIA Y SERVICIOS</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C0392B"/>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QUIMICAS</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C0392B"/>
                          </a:solidFill>
                          <a:latin typeface="Calibri" pitchFamily="34" charset="0"/>
                          <a:ea typeface="Calibri" pitchFamily="34" charset="-122"/>
                          <a:cs typeface="Calibri" pitchFamily="34" charset="-120"/>
                        </a:rPr>
                        <a:t>-10.8%</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AGROINDUSTRIA Y GANADERIA</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1000" b="1" dirty="0">
                          <a:solidFill>
                            <a:srgbClr val="C0392B"/>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3"/>
          <p:cNvSpPr/>
          <p:nvPr/>
        </p:nvSpPr>
        <p:spPr>
          <a:xfrm>
            <a:off x="457200" y="6537960"/>
            <a:ext cx="7315200" cy="274320"/>
          </a:xfrm>
          <a:prstGeom prst="rect">
            <a:avLst/>
          </a:prstGeom>
          <a:noFill/>
          <a:ln/>
        </p:spPr>
        <p:txBody>
          <a:bodyPr wrap="square" lIns="0" tIns="0" rIns="0" bIns="0" rtlCol="0" anchor="ctr"/>
          <a:lstStyle/>
          <a:p>
            <a:pPr marL="0" indent="0">
              <a:buNone/>
            </a:pPr>
            <a:r>
              <a:rPr lang="en-US" sz="800" dirty="0">
                <a:solidFill>
                  <a:srgbClr val="666666"/>
                </a:solidFill>
                <a:latin typeface="Calibri" pitchFamily="34" charset="0"/>
                <a:ea typeface="Calibri" pitchFamily="34" charset="-122"/>
                <a:cs typeface="Calibri" pitchFamily="34" charset="-120"/>
              </a:rPr>
              <a:t>PwC Perú · Confidencial · Segmentación B2B v8 · Corte 17.04.2026</a:t>
            </a:r>
            <a:endParaRPr lang="en-US" sz="800" dirty="0"/>
          </a:p>
        </p:txBody>
      </p:sp>
      <p:sp>
        <p:nvSpPr>
          <p:cNvPr id="9" name="Text 4"/>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17/32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D04A02"/>
          </a:solidFill>
          <a:ln/>
        </p:spPr>
        <p:txBody>
          <a:bodyPr/>
          <a:lstStyle/>
          <a:p>
            <a:endParaRPr lang="es-PE"/>
          </a:p>
        </p:txBody>
      </p:sp>
      <p:sp>
        <p:nvSpPr>
          <p:cNvPr id="3" name="Text 1"/>
          <p:cNvSpPr/>
          <p:nvPr/>
        </p:nvSpPr>
        <p:spPr>
          <a:xfrm>
            <a:off x="457200" y="365760"/>
            <a:ext cx="1828800" cy="548640"/>
          </a:xfrm>
          <a:prstGeom prst="rect">
            <a:avLst/>
          </a:prstGeom>
          <a:noFill/>
          <a:ln/>
        </p:spPr>
        <p:txBody>
          <a:bodyPr wrap="square" lIns="0" tIns="0" rIns="0" bIns="0" rtlCol="0" anchor="ctr"/>
          <a:lstStyle/>
          <a:p>
            <a:pPr marL="0" indent="0">
              <a:buNone/>
            </a:pPr>
            <a:r>
              <a:rPr lang="en-US" sz="2800" b="1" dirty="0">
                <a:solidFill>
                  <a:srgbClr val="D04A02"/>
                </a:solidFill>
                <a:latin typeface="Georgia" pitchFamily="34" charset="0"/>
                <a:ea typeface="Georgia" pitchFamily="34" charset="-122"/>
                <a:cs typeface="Georgia" pitchFamily="34" charset="-120"/>
              </a:rPr>
              <a:t>pwc</a:t>
            </a:r>
            <a:endParaRPr lang="en-US" sz="2800" dirty="0"/>
          </a:p>
        </p:txBody>
      </p:sp>
      <p:sp>
        <p:nvSpPr>
          <p:cNvPr id="4" name="Text 2"/>
          <p:cNvSpPr/>
          <p:nvPr/>
        </p:nvSpPr>
        <p:spPr>
          <a:xfrm>
            <a:off x="457200" y="2286000"/>
            <a:ext cx="10972800" cy="1097280"/>
          </a:xfrm>
          <a:prstGeom prst="rect">
            <a:avLst/>
          </a:prstGeom>
          <a:noFill/>
          <a:ln/>
        </p:spPr>
        <p:txBody>
          <a:bodyPr wrap="square" lIns="0" tIns="0" rIns="0" bIns="0" rtlCol="0" anchor="ctr"/>
          <a:lstStyle/>
          <a:p>
            <a:pPr marL="0" indent="0">
              <a:buNone/>
            </a:pPr>
            <a:r>
              <a:rPr lang="en-US" sz="6000" b="1" dirty="0">
                <a:solidFill>
                  <a:srgbClr val="FFFFFF"/>
                </a:solidFill>
                <a:latin typeface="Georgia" pitchFamily="34" charset="0"/>
                <a:ea typeface="Georgia" pitchFamily="34" charset="-122"/>
                <a:cs typeface="Georgia" pitchFamily="34" charset="-120"/>
              </a:rPr>
              <a:t>Gracias</a:t>
            </a:r>
            <a:endParaRPr lang="en-US" sz="6000" dirty="0"/>
          </a:p>
        </p:txBody>
      </p:sp>
      <p:sp>
        <p:nvSpPr>
          <p:cNvPr id="5" name="Text 3"/>
          <p:cNvSpPr/>
          <p:nvPr/>
        </p:nvSpPr>
        <p:spPr>
          <a:xfrm>
            <a:off x="457200" y="3566160"/>
            <a:ext cx="10972800" cy="457200"/>
          </a:xfrm>
          <a:prstGeom prst="rect">
            <a:avLst/>
          </a:prstGeom>
          <a:noFill/>
          <a:ln/>
        </p:spPr>
        <p:txBody>
          <a:bodyPr wrap="square" lIns="0" tIns="0" rIns="0" bIns="0" rtlCol="0" anchor="ctr"/>
          <a:lstStyle/>
          <a:p>
            <a:pPr marL="0" indent="0">
              <a:buNone/>
            </a:pPr>
            <a:r>
              <a:rPr lang="en-US" sz="2000" dirty="0">
                <a:solidFill>
                  <a:srgbClr val="D4A843"/>
                </a:solidFill>
                <a:latin typeface="Calibri" pitchFamily="34" charset="0"/>
                <a:ea typeface="Calibri" pitchFamily="34" charset="-122"/>
                <a:cs typeface="Calibri" pitchFamily="34" charset="-120"/>
              </a:rPr>
              <a:t>Data Mart de Empresas — Segmentación B2B v8</a:t>
            </a:r>
            <a:endParaRPr lang="en-US" sz="2000" dirty="0"/>
          </a:p>
        </p:txBody>
      </p:sp>
      <p:sp>
        <p:nvSpPr>
          <p:cNvPr id="6" name="Text 4"/>
          <p:cNvSpPr/>
          <p:nvPr/>
        </p:nvSpPr>
        <p:spPr>
          <a:xfrm>
            <a:off x="457200" y="5852160"/>
            <a:ext cx="10972800" cy="365760"/>
          </a:xfrm>
          <a:prstGeom prst="rect">
            <a:avLst/>
          </a:prstGeom>
          <a:noFill/>
          <a:ln/>
        </p:spPr>
        <p:txBody>
          <a:bodyPr wrap="square" lIns="0" tIns="0" rIns="0" bIns="0" rtlCol="0" anchor="ctr"/>
          <a:lstStyle/>
          <a:p>
            <a:pPr marL="0" indent="0">
              <a:buNone/>
            </a:pPr>
            <a:r>
              <a:rPr lang="en-US" sz="1400" dirty="0">
                <a:solidFill>
                  <a:srgbClr val="666666"/>
                </a:solidFill>
                <a:latin typeface="Calibri" pitchFamily="34" charset="0"/>
                <a:ea typeface="Calibri" pitchFamily="34" charset="-122"/>
                <a:cs typeface="Calibri" pitchFamily="34" charset="-120"/>
              </a:rPr>
              <a:t>Clients &amp; Markets · Data &amp; Analytics · PwC Perú · Abril 2026</a:t>
            </a:r>
            <a:endParaRPr lang="en-US" sz="1400" dirty="0"/>
          </a:p>
        </p:txBody>
      </p:sp>
      <p:sp>
        <p:nvSpPr>
          <p:cNvPr id="7" name="Shape 5"/>
          <p:cNvSpPr/>
          <p:nvPr/>
        </p:nvSpPr>
        <p:spPr>
          <a:xfrm>
            <a:off x="0" y="6720840"/>
            <a:ext cx="12188952" cy="137160"/>
          </a:xfrm>
          <a:prstGeom prst="rect">
            <a:avLst/>
          </a:prstGeom>
          <a:solidFill>
            <a:srgbClr val="D04A02"/>
          </a:solidFill>
          <a:ln/>
        </p:spPr>
        <p:txBody>
          <a:bodyPr/>
          <a:lstStyle/>
          <a:p>
            <a:endParaRPr lang="es-P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929</TotalTime>
  <Words>5702</Words>
  <Application>Microsoft Office PowerPoint</Application>
  <PresentationFormat>Panorámica</PresentationFormat>
  <Paragraphs>830</Paragraphs>
  <Slides>33</Slides>
  <Notes>33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33</vt:i4>
      </vt:variant>
    </vt:vector>
  </HeadingPairs>
  <TitlesOfParts>
    <vt:vector size="38" baseType="lpstr">
      <vt:lpstr>Arial</vt:lpstr>
      <vt:lpstr>Calibri</vt:lpstr>
      <vt:lpstr>Courier New</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Mart Empresas — Segmentación B2B v8</dc:title>
  <dc:subject>PptxGenJS Presentation</dc:subject>
  <dc:creator>PwC Perú — Clients &amp; Markets, Data &amp; Analytics</dc:creator>
  <cp:lastModifiedBy>Alvaro Villanueva</cp:lastModifiedBy>
  <cp:revision>3</cp:revision>
  <dcterms:created xsi:type="dcterms:W3CDTF">2026-04-19T17:23:12Z</dcterms:created>
  <dcterms:modified xsi:type="dcterms:W3CDTF">2026-04-20T08:53:54Z</dcterms:modified>
</cp:coreProperties>
</file>