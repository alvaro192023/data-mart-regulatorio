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200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Entidades de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Regulación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automatizada de datos regulatorios: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 · SMV · SBS · SUNAT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1828800" cy="3657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PE-IFS-SALES  |  Abril 2026  |  Proyecto Aso: Assurance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2468880" cy="10058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864" cy="100584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0" y="12070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reguladas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10058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4864" cy="100584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0" y="23957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 (BVL, SMV, SBS)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2468880" cy="10058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400800" y="3584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extraídas por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integral del proyecto de extracción regulatoria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Problemática, alcance y fuentes de datos regulatorios.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54864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85800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221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BVL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2219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Selenium para 263 emisores, 18 páginas, PDFs e índices financieros.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57200" y="2752344"/>
            <a:ext cx="54864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85800" y="27523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752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SMV y SBS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752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dictámenes, cartas y memorias desde el portal SMV y SBS.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82696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457200" y="3282696"/>
            <a:ext cx="54864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685800" y="32826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2826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RUC con SUNAT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2826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con Padrón Reducido RUC (11M+ registros, 5 niveles de búsqueda).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13048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457200" y="3813048"/>
            <a:ext cx="54864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85800" y="3813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3813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+ AI Builder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813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automatizados con IA para extracción de auditor, fee, opinión y más.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54864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85800" y="4343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016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Métricas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560 empresas, precisión del modelo y próximos pasos.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182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y Objetivo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regulatoria automatizada para el equipo IFS-SALES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 de recopilación de información de empresas reguladas por BVL, SMV y SBS.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560 empresas a monitorear para due diligence.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Auditor externo, fee de auditoría,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dispersos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Horas-hombre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significativas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</a:t>
            </a: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41148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Implementada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automatizado con Python + Selenium para BVL (Angular SPA).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descarga para SMV y SBS.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masivo con Padrón RUC de SUNAT (11M+ registros).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+ AI Builder para lectura inteligente de Memorias Anuales y Dictámenes.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343400"/>
            <a:ext cx="457200" cy="457200"/>
          </a:xfrm>
          <a:prstGeom prst="ellipse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4348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6596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6596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emisores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840480" y="4343400"/>
            <a:ext cx="457200" cy="457200"/>
          </a:xfrm>
          <a:prstGeom prst="ellipse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4348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348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43484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empresas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309360" y="4343400"/>
            <a:ext cx="457200" cy="457200"/>
          </a:xfrm>
          <a:prstGeom prst="ellipse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3484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0372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9037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entidades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Proyecto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de extracción, procesamiento y consolidación de datos regulatorios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 · SMV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 · SUNAT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92024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14884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2606040" y="1828800"/>
            <a:ext cx="640080" cy="640080"/>
          </a:xfrm>
          <a:prstGeom prst="ellipse">
            <a:avLst/>
          </a:prstGeom>
          <a:solidFill>
            <a:srgbClr val="B5400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920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488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24028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70332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393192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5"/>
          <p:cNvSpPr/>
          <p:nvPr/>
        </p:nvSpPr>
        <p:spPr>
          <a:xfrm>
            <a:off x="4389120" y="1828800"/>
            <a:ext cx="640080" cy="640080"/>
          </a:xfrm>
          <a:prstGeom prst="ellipse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9202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319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RUC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02336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SUNAT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 registros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571500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0"/>
          <p:cNvSpPr/>
          <p:nvPr/>
        </p:nvSpPr>
        <p:spPr>
          <a:xfrm>
            <a:off x="6172200" y="1828800"/>
            <a:ext cx="640080" cy="640080"/>
          </a:xfrm>
          <a:prstGeom prst="ellipse">
            <a:avLst/>
          </a:prstGeom>
          <a:solidFill>
            <a:srgbClr val="B5400A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24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150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80644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Prompt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26948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749808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5"/>
          <p:cNvSpPr/>
          <p:nvPr/>
        </p:nvSpPr>
        <p:spPr>
          <a:xfrm>
            <a:off x="7955280" y="1828800"/>
            <a:ext cx="640080" cy="640080"/>
          </a:xfrm>
          <a:prstGeom prst="ellipse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2024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4980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589520" y="2926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7200" y="3931920"/>
            <a:ext cx="2606040" cy="7772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29"/>
          <p:cNvSpPr/>
          <p:nvPr/>
        </p:nvSpPr>
        <p:spPr>
          <a:xfrm>
            <a:off x="59436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94360" y="4233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Selenium WebDriver · openpyxl · requests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3337560" y="3931920"/>
            <a:ext cx="2606040" cy="7772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9" name="Text 32"/>
          <p:cNvSpPr/>
          <p:nvPr/>
        </p:nvSpPr>
        <p:spPr>
          <a:xfrm>
            <a:off x="347472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474720" y="4233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· AI Builder · SharePoint · OneDrive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217920" y="3931920"/>
            <a:ext cx="2606040" cy="7772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2" name="Text 35"/>
          <p:cNvSpPr/>
          <p:nvPr/>
        </p:nvSpPr>
        <p:spPr>
          <a:xfrm>
            <a:off x="635508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355080" y="4233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tblEmisores · Power Automate Flows · Consolidado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182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Scraping BVL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automatizada de datos de 263 emisores desde la Bolsa de Valores de Lima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4864" cy="301752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Técnico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 es una Angular 7.2.0 SPA — imposible scraping estático.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ChromeDriver para renderizar contenido dinámico.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Paginación: 263 emisores en 18 páginas con selectores Angular.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Corporativa extraída vía JS injection en el DOM.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Financieros (2021-2024): Liquidez, Solvencia, Deuda/Patrimonio, Rentabilidad, Valor en libros.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de Memorias Anuales 2025 descargados automáticamente.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inteligente por fecha de publicación (Memoria 2025 → PDF fechado 2026).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600200"/>
            <a:ext cx="3840480" cy="132588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v5.1 → v5.2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 hrs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hrs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31089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54864" cy="15087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07492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Extraídos por Emisor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columnas base (razón social, RUC, directorio, etc.)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columnas de índices financieros (4 años × 8 ratios)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de Memorias Anuales y Reportes de Sostenibilidad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Excel con tabla tblEmisores para Power Automate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182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SMV, SBS y Cruce SUNAT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SMV — 202 empresas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Dictámenes de auditoría (PDF)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control interno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Memorias anuales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Auditor, Fee, Opinión, Directorio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PDFs por empresa (Dictamen + Carta)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4572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 — 95 entidades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financieras supervisadas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cajas municipales, financieras, AFP, seguros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complementarios al consolidado BVL/SMV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al Excel consolidado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17220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 — Cruce RUC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Reducido RUC: 11M+ registros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~200MB descargado de SUNAT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niveles de matching progresivo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errores de RUC corregidos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RUCs verificados como correctos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182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Automate + AI Builder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inteligente de datos desde PDFs regulatorios con IA generativa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tabla BVL/SMV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03120" y="155448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14884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Take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empresas vacías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86200" y="155448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393192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764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PDF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content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1554480"/>
            <a:ext cx="1554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571500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Truncar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450K chars máx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452360" y="1554480"/>
            <a:ext cx="1554480" cy="822960"/>
          </a:xfrm>
          <a:prstGeom prst="rect">
            <a:avLst/>
          </a:prstGeom>
          <a:solidFill>
            <a:srgbClr val="D04A0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749808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4380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438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variables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5943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BVL — 5 Variables (2 ramas)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3063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A (Memoria Anual):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Auditor Externo  →  Firma de auditoría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Fee de Auditoría  →  Monto en S/ o USD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Temas de Interés  →  Hechos clave 2025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Estructura y Solvencia  →  Ratios y patrimonio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B (Reporte Sostenibilidad):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Sostenibilidad  →  Sanciones/debilidades ESG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6060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6" name="Shape 34"/>
          <p:cNvSpPr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48920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SMV — 4 Variables (2 PDFs)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063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1: Dictamen de Auditoría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04A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2: Carta de Control Interno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Auditor Externo  →  Firma de auditoría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Fee de Auditoría  →  Monto en S/ o USD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Tipo de Opinión  →  Sin salvedades / Con salvedades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Directorio  →  Miembros y cargos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prompts para extracción precisa de datos financieros desde OCR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" cy="548640"/>
          </a:xfrm>
          <a:prstGeom prst="rect">
            <a:avLst/>
          </a:prstGeom>
          <a:solidFill>
            <a:srgbClr val="E030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3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= Utilidad Neta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0" y="1554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600200"/>
            <a:ext cx="54864" cy="457200"/>
          </a:xfrm>
          <a:prstGeom prst="rect">
            <a:avLst/>
          </a:prstGeom>
          <a:solidFill>
            <a:srgbClr val="2D8C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069080" y="1554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20+ filas prohibidas (utilidad, total, directorio, personal)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54864" cy="548640"/>
          </a:xfrm>
          <a:prstGeom prst="rect">
            <a:avLst/>
          </a:prstGeom>
          <a:solidFill>
            <a:srgbClr val="E030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85800" y="2176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3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en miles (S/ 000) → monto x1000 incorrecto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1762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2221992"/>
            <a:ext cx="54864" cy="457200"/>
          </a:xfrm>
          <a:prstGeom prst="rect">
            <a:avLst/>
          </a:prstGeom>
          <a:solidFill>
            <a:srgbClr val="2D8C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069080" y="21762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LITERAL por defecto. Solo multiplicar con evidencia explícita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54864" cy="548640"/>
          </a:xfrm>
          <a:prstGeom prst="rect">
            <a:avLst/>
          </a:prstGeom>
          <a:solidFill>
            <a:srgbClr val="E030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85800" y="27980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3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convertido a PEN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279806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0480" y="2843784"/>
            <a:ext cx="54864" cy="457200"/>
          </a:xfrm>
          <a:prstGeom prst="rect">
            <a:avLst/>
          </a:prstGeom>
          <a:solidFill>
            <a:srgbClr val="2D8C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069080" y="27980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convertir monedas. Reportar moneda original de la tabla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57200" y="3419856"/>
            <a:ext cx="54864" cy="548640"/>
          </a:xfrm>
          <a:prstGeom prst="rect">
            <a:avLst/>
          </a:prstGeom>
          <a:solidFill>
            <a:srgbClr val="E030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85800" y="3419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3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en columna Temas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0" y="341985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0480" y="3465576"/>
            <a:ext cx="54864" cy="457200"/>
          </a:xfrm>
          <a:prstGeom prst="rect">
            <a:avLst/>
          </a:prstGeom>
          <a:solidFill>
            <a:srgbClr val="2D8C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069080" y="34198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4 líneas estricto. 2 ramas separadas para BVL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54864" cy="548640"/>
          </a:xfrm>
          <a:prstGeom prst="rect">
            <a:avLst/>
          </a:prstGeom>
          <a:solidFill>
            <a:srgbClr val="E0301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685800" y="40416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3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&gt; S/ 20M (total de tabla)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66160" y="404164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0480" y="4087368"/>
            <a:ext cx="54864" cy="457200"/>
          </a:xfrm>
          <a:prstGeom prst="rect">
            <a:avLst/>
          </a:prstGeom>
          <a:solidFill>
            <a:srgbClr val="2D8C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4069080" y="40416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checks de verificación obligatoria antes de responder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iteraciones de prompt  ·  6 pasos de validación de Fee  ·  Tabla de referencia con 8 escenarios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182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y Métricas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 + SMV + SBS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6596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69748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Emisores BVL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páginas scrapeadas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196596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9204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SMV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Dictámenes + Cartas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137160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6949440" y="1371600"/>
            <a:ext cx="196596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0866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86600" y="2011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12.4h → 1.2h scraper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1965960" cy="54864"/>
          </a:xfrm>
          <a:prstGeom prst="rect">
            <a:avLst/>
          </a:prstGeom>
          <a:solidFill>
            <a:srgbClr val="E88D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50292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D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02920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RUCs corregidos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SUNAT padrón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01752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2560320" y="3017520"/>
            <a:ext cx="1965960" cy="54864"/>
          </a:xfrm>
          <a:prstGeom prst="rect">
            <a:avLst/>
          </a:prstGeom>
          <a:solidFill>
            <a:srgbClr val="E88D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269748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D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56+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2697480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9748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base + 32 índices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1965960" cy="54864"/>
          </a:xfrm>
          <a:prstGeom prst="rect">
            <a:avLst/>
          </a:prstGeom>
          <a:solidFill>
            <a:srgbClr val="E88D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489204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D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892040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BVL(4) + SMV(4) + Sost(1)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3017520"/>
            <a:ext cx="1965960" cy="14630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6949440" y="3017520"/>
            <a:ext cx="1965960" cy="54864"/>
          </a:xfrm>
          <a:prstGeom prst="rect">
            <a:avLst/>
          </a:prstGeom>
          <a:solidFill>
            <a:srgbClr val="E88D0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70866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D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086600" y="3657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por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86600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de 30 con filtro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Consolidado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Unificación de las 3 fuentes en un solo Excel con identificación de entidad reguladora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 empresas brutas  →  Deduplicación  →  431 empresas únicas  →  Cruce RUC SUNAT  →  Consolidado final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7589520" cy="18592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Extraídas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4A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4A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Auditor, Fee, Temas, Sostenibilidad, Estructura + 32 Índices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 + Power Automate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8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Auditor, Fee, Opinión, Directorio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Scraper + Power Automate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8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entidades supervisadas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directa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8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11M+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RUC, Razón Social SUNAT, Método de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Padrón Reducido +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8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Proyecto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bvl_emisores.xlsx — 263 emisores, 56 columnas + PDFs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Consolidado_Regulacion.xlsx — 431 empresas únicas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scraper_bvl_v5_2.py — Scraper optimizado (1.2 hrs)</a:t>
            </a:r>
            <a:endParaRPr lang="en-US" sz="950" dirty="0"/>
          </a:p>
        </p:txBody>
      </p:sp>
      <p:sp>
        <p:nvSpPr>
          <p:cNvPr id="8" name="Text 8"/>
          <p:cNvSpPr/>
          <p:nvPr/>
        </p:nvSpPr>
        <p:spPr>
          <a:xfrm>
            <a:off x="475488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 err="1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completar_ruc_sunat</a:t>
            </a: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/+ agregar_nombre_sunat.py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BVL (4 vars) + SMV (4 vars) + Sost (1 var)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46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flujos Power Automate (BVL + SMV) con AI Builder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 err="1">
                <a:solidFill>
                  <a:srgbClr val="464646"/>
                </a:solidFill>
                <a:latin typeface="Calibri" pitchFamily="34" charset="0"/>
                <a:cs typeface="Calibri" pitchFamily="34" charset="-120"/>
              </a:rPr>
              <a:t>Sbs</a:t>
            </a:r>
            <a:r>
              <a:rPr lang="en-US" sz="950" dirty="0">
                <a:solidFill>
                  <a:srgbClr val="464646"/>
                </a:solidFill>
                <a:latin typeface="Calibri" pitchFamily="34" charset="0"/>
                <a:cs typeface="Calibri" pitchFamily="34" charset="-120"/>
              </a:rPr>
              <a:t>/</a:t>
            </a:r>
            <a:r>
              <a:rPr lang="en-US" sz="950" dirty="0" err="1">
                <a:solidFill>
                  <a:srgbClr val="464646"/>
                </a:solidFill>
                <a:latin typeface="Calibri" pitchFamily="34" charset="0"/>
                <a:cs typeface="Calibri" pitchFamily="34" charset="-120"/>
              </a:rPr>
              <a:t>Smv_emosioresxlsx</a:t>
            </a:r>
            <a:r>
              <a:rPr lang="en-US" sz="950" dirty="0">
                <a:solidFill>
                  <a:srgbClr val="464646"/>
                </a:solidFill>
                <a:latin typeface="Calibri" pitchFamily="34" charset="0"/>
                <a:cs typeface="Calibri" pitchFamily="34" charset="-120"/>
              </a:rPr>
              <a:t> - +200 </a:t>
            </a:r>
            <a:r>
              <a:rPr lang="en-US" sz="950" dirty="0" err="1">
                <a:solidFill>
                  <a:srgbClr val="464646"/>
                </a:solidFill>
                <a:latin typeface="Calibri" pitchFamily="34" charset="0"/>
                <a:cs typeface="Calibri" pitchFamily="34" charset="-120"/>
              </a:rPr>
              <a:t>emisores</a:t>
            </a:r>
            <a:r>
              <a:rPr lang="en-US" sz="950" dirty="0">
                <a:solidFill>
                  <a:srgbClr val="464646"/>
                </a:solidFill>
                <a:latin typeface="Calibri" pitchFamily="34" charset="0"/>
                <a:cs typeface="Calibri" pitchFamily="34" charset="-120"/>
              </a:rPr>
              <a:t> +20 columnas + PDFs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 |  Entidades de Regulación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04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931920" y="2834640"/>
            <a:ext cx="1280160" cy="36576"/>
          </a:xfrm>
          <a:prstGeom prst="rect">
            <a:avLst/>
          </a:prstGeom>
          <a:solidFill>
            <a:srgbClr val="D04A0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82880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PE-IFS-SALES  |  Entidades de Regulación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D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PwC. Todos los derechos reservados.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1290</Words>
  <Application>Microsoft Office PowerPoint</Application>
  <PresentationFormat>Presentación en pantalla (16:9)</PresentationFormat>
  <Paragraphs>277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Entidades de Regulación - Data Extraction Project</dc:title>
  <dc:subject>PptxGenJS Presentation</dc:subject>
  <dc:creator>PwC Peru - IFS SALES</dc:creator>
  <cp:lastModifiedBy>Alvaro Villanueva</cp:lastModifiedBy>
  <cp:revision>2</cp:revision>
  <dcterms:created xsi:type="dcterms:W3CDTF">2026-04-05T18:59:07Z</dcterms:created>
  <dcterms:modified xsi:type="dcterms:W3CDTF">2026-04-05T20:35:27Z</dcterms:modified>
</cp:coreProperties>
</file>